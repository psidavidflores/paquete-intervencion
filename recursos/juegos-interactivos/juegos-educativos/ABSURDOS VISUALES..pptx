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Merriweather"/>
      <p:regular r:id="rId19"/>
      <p:bold r:id="rId20"/>
      <p:italic r:id="rId21"/>
      <p:boldItalic r:id="rId22"/>
    </p:embeddedFont>
    <p:embeddedFont>
      <p:font typeface="Sigmar On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4" roundtripDataSignature="AMtx7miJoqVIGHyTP5jeunUSjtRJVlW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italic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SigmarOn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799999" cy="68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2037522" y="1939385"/>
            <a:ext cx="5497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rgbClr val="0000FF"/>
                </a:solidFill>
                <a:latin typeface="Sigmar One"/>
                <a:ea typeface="Sigmar One"/>
                <a:cs typeface="Sigmar One"/>
                <a:sym typeface="Sigmar One"/>
              </a:rPr>
              <a:t>MANUAL PARA APOYAR Y PROMOVER LA RESILIENCIA DE LOS NIÑOS Y NIÑAS AFECTADOS POR UN INCENDIO TERREMOTO Y/O UN TSUNAMI</a:t>
            </a:r>
            <a:endParaRPr b="1" i="0" sz="1900" u="none" cap="none" strike="noStrike">
              <a:solidFill>
                <a:srgbClr val="0000FF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1408" y="4061645"/>
            <a:ext cx="2219225" cy="22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BORDES INFANTILES" id="91" name="Google Shape;91;p2"/>
          <p:cNvPicPr preferRelativeResize="0"/>
          <p:nvPr/>
        </p:nvPicPr>
        <p:blipFill rotWithShape="1">
          <a:blip r:embed="rId3">
            <a:alphaModFix/>
          </a:blip>
          <a:srcRect b="0" l="12073" r="12712" t="0"/>
          <a:stretch/>
        </p:blipFill>
        <p:spPr>
          <a:xfrm>
            <a:off x="0" y="21850"/>
            <a:ext cx="9144000" cy="683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1328525" y="843775"/>
            <a:ext cx="65349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Impacto psicológico de las catástrofes naturales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Impacto psicológico de la impotencia y de desamparo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Las manifestaciones del estrés durante la catástrofe y las semanas que siguen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El impacto de las pérdidas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Los trastornos del estrés post-traumático en los niños y niñas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Resiliencia infantil y respuesta comunitaria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El programa para apoyar y promover la Resiliencia infantil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LA RESILIENCIA INFANTIL: UNA CONSECUENCIA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INTERVENCIÓN</a:t>
            </a: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 CON LOS NIÑOS YL NIÑAS PARA APOYAR Y PROMOVER SU RESILIENCIA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LOS DIFERENTRES NIVELES Y FASES DEL PROGRAMA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PROGRAMA DE INTERVENCION CON LOS NIÑOS Y LAS NIÑAS PARA APOYAR Y PROMOVER LA RESILIENCIA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Merriweather"/>
                <a:ea typeface="Merriweather"/>
                <a:cs typeface="Merriweather"/>
                <a:sym typeface="Merriweather"/>
              </a:rPr>
              <a:t>LA FIESTA MÁGICA Y REALISTA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0"/>
            <a:ext cx="89949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1310550" y="9156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Impacto psicológico de las catástrofes naturales 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1310550" y="2100475"/>
            <a:ext cx="6948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Estas experiencias significan para los niños y niñas una amenaza vital, y por lo tanto, la respuesta natural ha sido la de una reacción de estrés severa, y como esta amenaza perduró en el tiempo la respuesta fue prolongada. El estrés es una respuesta neuro-fisiológica a estímulos (estresores) que afectando la homeostasis del organismo, le obligan a restablecer su equilibrio. Cuando los estímulos son de gran intensidad y se repiten, éstos y las respuestas corporales en el niño o la niña son vividas como una amenaza vital produciendo una reacción o afecto emocional negativo principalmente miedo, ansiedad, angustia, pánico, acompañada de un sensación de impotencia y pérdida de control.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Las catástrofes naturales provocan una amenaza vital para los niños y las niñas porque les confrontaron con el riesgo de morir, de perder a sus seres queridos, en los casos más dramáticos así ocurrió. Muchos perdieron además sus casas, sus objetos personales, sus escuelas, y durante un tiempo prolongado vivieron una situación impredecible, donde ni ellos ni sus padres tenían control alguno sobre lo que sucedía.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8991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/>
        </p:nvSpPr>
        <p:spPr>
          <a:xfrm>
            <a:off x="2854500" y="7719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Impacto psicológico de la impotencia y de desamparo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8991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3648" y="692696"/>
            <a:ext cx="6336704" cy="5328592"/>
          </a:xfrm>
          <a:prstGeom prst="rect">
            <a:avLst/>
          </a:prstGeom>
          <a:noFill/>
          <a:ln cap="flat" cmpd="sng" w="762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8991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7644" y="898523"/>
            <a:ext cx="6408712" cy="504056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8991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5656" y="836712"/>
            <a:ext cx="6048672" cy="5256584"/>
          </a:xfrm>
          <a:prstGeom prst="rect">
            <a:avLst/>
          </a:prstGeom>
          <a:noFill/>
          <a:ln cap="flat" cmpd="sng" w="762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8991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672" y="800708"/>
            <a:ext cx="5904656" cy="5256584"/>
          </a:xfrm>
          <a:prstGeom prst="rect">
            <a:avLst/>
          </a:prstGeom>
          <a:noFill/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8991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450" y="908720"/>
            <a:ext cx="5753100" cy="4824535"/>
          </a:xfrm>
          <a:prstGeom prst="rect">
            <a:avLst/>
          </a:prstGeom>
          <a:noFill/>
          <a:ln cap="sq" cmpd="thickThin" w="2286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8991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5656" y="764704"/>
            <a:ext cx="6192688" cy="5256584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50" name="Google Shape;1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8991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5656" y="836712"/>
            <a:ext cx="6120680" cy="5112568"/>
          </a:xfrm>
          <a:prstGeom prst="rect">
            <a:avLst/>
          </a:prstGeom>
          <a:noFill/>
          <a:ln cap="flat" cmpd="sng" w="76200">
            <a:solidFill>
              <a:srgbClr val="E36C09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7" name="Google Shape;15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58" name="Google Shape;1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8991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672" y="1268760"/>
            <a:ext cx="5832648" cy="4464496"/>
          </a:xfrm>
          <a:prstGeom prst="rect">
            <a:avLst/>
          </a:prstGeom>
          <a:noFill/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66" name="Google Shape;1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8991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1680" y="908720"/>
            <a:ext cx="5760640" cy="4752528"/>
          </a:xfrm>
          <a:prstGeom prst="rect">
            <a:avLst/>
          </a:prstGeom>
          <a:noFill/>
          <a:ln cap="flat" cmpd="sng" w="762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2019-02-11T21:35:22Z</dcterms:created>
  <dc:creator>Manuel Alvarado</dc:creator>
</cp:coreProperties>
</file>