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Default Extension="gif" ContentType="image/gif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3" r:id="rId24"/>
    <p:sldId id="279" r:id="rId25"/>
    <p:sldId id="280" r:id="rId26"/>
    <p:sldId id="281" r:id="rId27"/>
    <p:sldId id="282" r:id="rId28"/>
  </p:sldIdLst>
  <p:sldSz cx="9144000" cy="6858000" type="screen4x3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035" autoAdjust="0"/>
    <p:restoredTop sz="94660"/>
  </p:normalViewPr>
  <p:slideViewPr>
    <p:cSldViewPr>
      <p:cViewPr varScale="1">
        <p:scale>
          <a:sx n="68" d="100"/>
          <a:sy n="68" d="100"/>
        </p:scale>
        <p:origin x="-150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7 Título"/>
          <p:cNvSpPr>
            <a:spLocks noGrp="1"/>
          </p:cNvSpPr>
          <p:nvPr>
            <p:ph type="ctrTitle"/>
          </p:nvPr>
        </p:nvSpPr>
        <p:spPr>
          <a:xfrm>
            <a:off x="2286000" y="3124200"/>
            <a:ext cx="6172200" cy="1894362"/>
          </a:xfrm>
        </p:spPr>
        <p:txBody>
          <a:bodyPr/>
          <a:lstStyle>
            <a:lvl1pPr>
              <a:defRPr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9" name="8 Subtítulo"/>
          <p:cNvSpPr>
            <a:spLocks noGrp="1"/>
          </p:cNvSpPr>
          <p:nvPr>
            <p:ph type="subTitle" idx="1"/>
          </p:nvPr>
        </p:nvSpPr>
        <p:spPr>
          <a:xfrm>
            <a:off x="2286000" y="5003322"/>
            <a:ext cx="6172200" cy="1371600"/>
          </a:xfrm>
        </p:spPr>
        <p:txBody>
          <a:bodyPr/>
          <a:lstStyle>
            <a:lvl1pPr marL="0" indent="0" algn="l">
              <a:buNone/>
              <a:defRPr sz="1800" b="1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s-ES" smtClean="0"/>
              <a:t>Haga clic para modificar el estilo de subtítulo del patrón</a:t>
            </a:r>
            <a:endParaRPr kumimoji="0" lang="en-US"/>
          </a:p>
        </p:txBody>
      </p:sp>
      <p:sp>
        <p:nvSpPr>
          <p:cNvPr id="28" name="27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4621" y="1174097"/>
            <a:ext cx="2286000" cy="381000"/>
          </a:xfrm>
        </p:spPr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17" name="16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269" y="4181669"/>
            <a:ext cx="3657600" cy="384048"/>
          </a:xfrm>
        </p:spPr>
        <p:txBody>
          <a:bodyPr/>
          <a:lstStyle/>
          <a:p>
            <a:endParaRPr lang="es-CL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4" name="13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Conector recto"/>
          <p:cNvSpPr>
            <a:spLocks noChangeShapeType="1"/>
          </p:cNvSpPr>
          <p:nvPr/>
        </p:nvSpPr>
        <p:spPr bwMode="auto">
          <a:xfrm>
            <a:off x="9113856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7" name="26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solidFill>
            <a:schemeClr val="accent1"/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309632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4" name="23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Elipse"/>
          <p:cNvSpPr/>
          <p:nvPr/>
        </p:nvSpPr>
        <p:spPr bwMode="auto">
          <a:xfrm>
            <a:off x="1664208" y="5788152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5" name="24 Elipse"/>
          <p:cNvSpPr/>
          <p:nvPr/>
        </p:nvSpPr>
        <p:spPr>
          <a:xfrm>
            <a:off x="1905000" y="4495800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9" name="28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25544" y="4928702"/>
            <a:ext cx="609600" cy="517524"/>
          </a:xfrm>
        </p:spPr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8" name="7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467600" cy="4873752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10" name="9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286000" y="2895600"/>
            <a:ext cx="6172200" cy="2053590"/>
          </a:xfrm>
        </p:spPr>
        <p:txBody>
          <a:bodyPr/>
          <a:lstStyle>
            <a:lvl1pPr algn="l">
              <a:buNone/>
              <a:defRPr sz="3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2286000" y="5010150"/>
            <a:ext cx="6172200" cy="1371600"/>
          </a:xfrm>
        </p:spPr>
        <p:txBody>
          <a:bodyPr anchor="t"/>
          <a:lstStyle>
            <a:lvl1pPr marL="0" indent="0">
              <a:buNone/>
              <a:defRPr sz="1800" b="1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 bwMode="auto">
          <a:xfrm rot="5400000">
            <a:off x="7763256" y="1170432"/>
            <a:ext cx="2286000" cy="381000"/>
          </a:xfrm>
        </p:spPr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 bwMode="auto">
          <a:xfrm rot="5400000">
            <a:off x="7077456" y="4178808"/>
            <a:ext cx="3657600" cy="384048"/>
          </a:xfrm>
        </p:spPr>
        <p:txBody>
          <a:bodyPr/>
          <a:lstStyle/>
          <a:p>
            <a:endParaRPr lang="es-CL" dirty="0"/>
          </a:p>
        </p:txBody>
      </p:sp>
      <p:sp>
        <p:nvSpPr>
          <p:cNvPr id="9" name="8 Rectángulo"/>
          <p:cNvSpPr/>
          <p:nvPr/>
        </p:nvSpPr>
        <p:spPr bwMode="auto">
          <a:xfrm>
            <a:off x="381000" y="0"/>
            <a:ext cx="609600" cy="6858000"/>
          </a:xfrm>
          <a:prstGeom prst="rect">
            <a:avLst/>
          </a:prstGeom>
          <a:solidFill>
            <a:schemeClr val="accent1">
              <a:tint val="60000"/>
              <a:alpha val="54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276336" y="0"/>
            <a:ext cx="104664" cy="6858000"/>
          </a:xfrm>
          <a:prstGeom prst="rect">
            <a:avLst/>
          </a:prstGeom>
          <a:solidFill>
            <a:schemeClr val="accent1">
              <a:tint val="40000"/>
              <a:alpha val="36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990600" y="0"/>
            <a:ext cx="181872" cy="6858000"/>
          </a:xfrm>
          <a:prstGeom prst="rect">
            <a:avLst/>
          </a:prstGeom>
          <a:solidFill>
            <a:schemeClr val="accent1">
              <a:tint val="40000"/>
              <a:alpha val="7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1141320" y="0"/>
            <a:ext cx="230280" cy="6858000"/>
          </a:xfrm>
          <a:prstGeom prst="rect">
            <a:avLst/>
          </a:prstGeom>
          <a:solidFill>
            <a:schemeClr val="accent1">
              <a:tint val="20000"/>
              <a:alpha val="7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106344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  <a:alpha val="7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Conector recto"/>
          <p:cNvSpPr>
            <a:spLocks noChangeShapeType="1"/>
          </p:cNvSpPr>
          <p:nvPr/>
        </p:nvSpPr>
        <p:spPr bwMode="auto">
          <a:xfrm>
            <a:off x="914400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20000"/>
                <a:alpha val="8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5" name="14 Conector recto"/>
          <p:cNvSpPr>
            <a:spLocks noChangeShapeType="1"/>
          </p:cNvSpPr>
          <p:nvPr/>
        </p:nvSpPr>
        <p:spPr bwMode="auto">
          <a:xfrm>
            <a:off x="854112" y="0"/>
            <a:ext cx="0" cy="6858000"/>
          </a:xfrm>
          <a:prstGeom prst="line">
            <a:avLst/>
          </a:prstGeom>
          <a:noFill/>
          <a:ln w="5715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1726640" y="0"/>
            <a:ext cx="0" cy="6858000"/>
          </a:xfrm>
          <a:prstGeom prst="line">
            <a:avLst/>
          </a:prstGeom>
          <a:noFill/>
          <a:ln w="28575" cap="flat" cmpd="sng" algn="ctr">
            <a:solidFill>
              <a:schemeClr val="accent1">
                <a:tint val="60000"/>
                <a:alpha val="82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Conector recto"/>
          <p:cNvSpPr>
            <a:spLocks noChangeShapeType="1"/>
          </p:cNvSpPr>
          <p:nvPr/>
        </p:nvSpPr>
        <p:spPr bwMode="auto">
          <a:xfrm>
            <a:off x="10668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8" name="17 Rectángulo"/>
          <p:cNvSpPr/>
          <p:nvPr/>
        </p:nvSpPr>
        <p:spPr bwMode="auto">
          <a:xfrm>
            <a:off x="1219200" y="0"/>
            <a:ext cx="76200" cy="6858000"/>
          </a:xfrm>
          <a:prstGeom prst="rect">
            <a:avLst/>
          </a:prstGeom>
          <a:solidFill>
            <a:schemeClr val="accent1">
              <a:tint val="60000"/>
              <a:alpha val="51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9" name="18 Elipse"/>
          <p:cNvSpPr/>
          <p:nvPr/>
        </p:nvSpPr>
        <p:spPr bwMode="auto">
          <a:xfrm>
            <a:off x="609600" y="3429000"/>
            <a:ext cx="1295400" cy="129540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0" name="19 Elipse"/>
          <p:cNvSpPr/>
          <p:nvPr/>
        </p:nvSpPr>
        <p:spPr bwMode="auto">
          <a:xfrm>
            <a:off x="1324704" y="4866752"/>
            <a:ext cx="641424" cy="641424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1" name="20 Elipse"/>
          <p:cNvSpPr/>
          <p:nvPr/>
        </p:nvSpPr>
        <p:spPr bwMode="auto">
          <a:xfrm>
            <a:off x="1091080" y="5500632"/>
            <a:ext cx="137160" cy="13716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2" name="21 Elipse"/>
          <p:cNvSpPr/>
          <p:nvPr/>
        </p:nvSpPr>
        <p:spPr bwMode="auto">
          <a:xfrm>
            <a:off x="1664208" y="5791200"/>
            <a:ext cx="274320" cy="274320"/>
          </a:xfrm>
          <a:prstGeom prst="ellipse">
            <a:avLst/>
          </a:prstGeom>
          <a:ln w="127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Elipse"/>
          <p:cNvSpPr/>
          <p:nvPr/>
        </p:nvSpPr>
        <p:spPr bwMode="auto">
          <a:xfrm>
            <a:off x="1879040" y="4479888"/>
            <a:ext cx="365760" cy="365760"/>
          </a:xfrm>
          <a:prstGeom prst="ellipse">
            <a:avLst/>
          </a:prstGeom>
          <a:ln w="285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6" name="25 Conector recto"/>
          <p:cNvSpPr>
            <a:spLocks noChangeShapeType="1"/>
          </p:cNvSpPr>
          <p:nvPr/>
        </p:nvSpPr>
        <p:spPr bwMode="auto">
          <a:xfrm>
            <a:off x="9097944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 bwMode="auto">
          <a:xfrm>
            <a:off x="1340616" y="4928702"/>
            <a:ext cx="609600" cy="517524"/>
          </a:xfrm>
        </p:spPr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9" name="8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270248" y="1600200"/>
            <a:ext cx="3657600" cy="45720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</p:spTree>
  </p:cSld>
  <p:clrMapOvr>
    <a:masterClrMapping/>
  </p:clrMapOvr>
  <p:transition>
    <p:dissolv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7543800" cy="1143000"/>
          </a:xfrm>
        </p:spPr>
        <p:txBody>
          <a:bodyPr anchor="b"/>
          <a:lstStyle>
            <a:lvl1pPr>
              <a:defRPr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11" name="10 Marcador de contenido"/>
          <p:cNvSpPr>
            <a:spLocks noGrp="1"/>
          </p:cNvSpPr>
          <p:nvPr>
            <p:ph sz="quarter" idx="2"/>
          </p:nvPr>
        </p:nvSpPr>
        <p:spPr>
          <a:xfrm>
            <a:off x="457200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3" name="12 Marcador de contenido"/>
          <p:cNvSpPr>
            <a:spLocks noGrp="1"/>
          </p:cNvSpPr>
          <p:nvPr>
            <p:ph sz="quarter" idx="4"/>
          </p:nvPr>
        </p:nvSpPr>
        <p:spPr>
          <a:xfrm>
            <a:off x="4371975" y="2362200"/>
            <a:ext cx="3657600" cy="3886200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12" name="11 Marcador de texto"/>
          <p:cNvSpPr>
            <a:spLocks noGrp="1"/>
          </p:cNvSpPr>
          <p:nvPr>
            <p:ph type="body" sz="quarter" idx="1"/>
          </p:nvPr>
        </p:nvSpPr>
        <p:spPr>
          <a:xfrm>
            <a:off x="4572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4" name="13 Marcador de texto"/>
          <p:cNvSpPr>
            <a:spLocks noGrp="1"/>
          </p:cNvSpPr>
          <p:nvPr>
            <p:ph type="body" sz="quarter" idx="3"/>
          </p:nvPr>
        </p:nvSpPr>
        <p:spPr>
          <a:xfrm>
            <a:off x="4343400" y="1569720"/>
            <a:ext cx="3657600" cy="658368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</p:spPr>
        <p:txBody>
          <a:bodyPr rtlCol="0" anchor="ctr">
            <a:noAutofit/>
          </a:bodyPr>
          <a:lstStyle>
            <a:lvl1pPr marL="0" indent="0">
              <a:buFontTx/>
              <a:buNone/>
              <a:defRPr sz="2000" b="1">
                <a:solidFill>
                  <a:srgbClr val="FFFFFF"/>
                </a:solidFill>
              </a:defRPr>
            </a:lvl1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</p:spTree>
  </p:cSld>
  <p:clrMapOvr>
    <a:masterClrMapping/>
  </p:clrMapOvr>
  <p:transition>
    <p:dissolv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6" name="5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71850" y="3200400"/>
            <a:ext cx="6309360" cy="457200"/>
          </a:xfrm>
        </p:spPr>
        <p:txBody>
          <a:bodyPr anchor="b"/>
          <a:lstStyle>
            <a:lvl1pPr algn="l">
              <a:buNone/>
              <a:defRPr sz="2000" b="1" cap="small" baseline="0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"/>
          <p:cNvSpPr>
            <a:spLocks noGrp="1"/>
          </p:cNvSpPr>
          <p:nvPr>
            <p:ph type="body" idx="2"/>
          </p:nvPr>
        </p:nvSpPr>
        <p:spPr>
          <a:xfrm>
            <a:off x="6812280" y="274320"/>
            <a:ext cx="1527048" cy="4983480"/>
          </a:xfrm>
        </p:spPr>
        <p:txBody>
          <a:bodyPr/>
          <a:lstStyle>
            <a:lvl1pPr marL="0" indent="0">
              <a:spcBef>
                <a:spcPts val="400"/>
              </a:spcBef>
              <a:spcAft>
                <a:spcPts val="1000"/>
              </a:spcAft>
              <a:buNone/>
              <a:defRPr sz="12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8" name="7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3" name="12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4" name="13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8" name="17 Marcador de contenido"/>
          <p:cNvSpPr>
            <a:spLocks noGrp="1"/>
          </p:cNvSpPr>
          <p:nvPr>
            <p:ph sz="quarter" idx="1"/>
          </p:nvPr>
        </p:nvSpPr>
        <p:spPr>
          <a:xfrm>
            <a:off x="304800" y="274320"/>
            <a:ext cx="5638800" cy="6327648"/>
          </a:xfrm>
        </p:spPr>
        <p:txBody>
          <a:bodyPr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21" name="20 Marcador de fecha"/>
          <p:cNvSpPr>
            <a:spLocks noGrp="1"/>
          </p:cNvSpPr>
          <p:nvPr>
            <p:ph type="dt" sz="half" idx="14"/>
          </p:nvPr>
        </p:nvSpPr>
        <p:spPr/>
        <p:txBody>
          <a:bodyPr rtlCol="0"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22" name="21 Marcador de número de diapositiva"/>
          <p:cNvSpPr>
            <a:spLocks noGrp="1"/>
          </p:cNvSpPr>
          <p:nvPr>
            <p:ph type="sldNum" sz="quarter" idx="15"/>
          </p:nvPr>
        </p:nvSpPr>
        <p:spPr/>
        <p:txBody>
          <a:bodyPr rtlCol="0"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23" name="22 Marcador de pie de página"/>
          <p:cNvSpPr>
            <a:spLocks noGrp="1"/>
          </p:cNvSpPr>
          <p:nvPr>
            <p:ph type="ftr" sz="quarter" idx="16"/>
          </p:nvPr>
        </p:nvSpPr>
        <p:spPr/>
        <p:txBody>
          <a:bodyPr rtlCol="0"/>
          <a:lstStyle/>
          <a:p>
            <a:endParaRPr lang="es-CL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dissolv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3" name="12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 rot="5400000">
            <a:off x="3350133" y="3200400"/>
            <a:ext cx="6309360" cy="457200"/>
          </a:xfrm>
        </p:spPr>
        <p:txBody>
          <a:bodyPr anchor="b"/>
          <a:lstStyle>
            <a:lvl1pPr algn="l">
              <a:buNone/>
              <a:defRPr sz="2000" b="1"/>
            </a:lvl1pPr>
          </a:lstStyle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0" y="0"/>
            <a:ext cx="6172200" cy="6858000"/>
          </a:xfrm>
          <a:solidFill>
            <a:schemeClr val="bg2"/>
          </a:solidFill>
          <a:ln w="1270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/>
          <a:lstStyle>
            <a:lvl1pPr marL="0" indent="0">
              <a:buNone/>
              <a:defRPr sz="3200"/>
            </a:lvl1pPr>
          </a:lstStyle>
          <a:p>
            <a:pPr algn="ctr" eaLnBrk="1" latinLnBrk="0" hangingPunct="1">
              <a:buFontTx/>
              <a:buNone/>
            </a:pPr>
            <a:r>
              <a:rPr kumimoji="0" lang="es-ES" dirty="0" smtClean="0"/>
              <a:t>Haga clic en el icono para agregar una imagen</a:t>
            </a:r>
            <a:endParaRPr kumimoji="0" lang="en-US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6765798" y="264795"/>
            <a:ext cx="1524000" cy="4956048"/>
          </a:xfrm>
        </p:spPr>
        <p:txBody>
          <a:bodyPr rot="0" spcFirstLastPara="0" vertOverflow="overflow" horzOverflow="overflow" vert="horz" wrap="square" lIns="91440" tIns="45720" rIns="91440" bIns="45720" numCol="1" spcCol="274320" rtlCol="0" fromWordArt="0" anchor="t" anchorCtr="0" forceAA="0" compatLnSpc="1">
            <a:normAutofit/>
          </a:bodyPr>
          <a:lstStyle>
            <a:lvl1pPr marL="0" indent="0">
              <a:spcBef>
                <a:spcPts val="100"/>
              </a:spcBef>
              <a:spcAft>
                <a:spcPts val="400"/>
              </a:spcAft>
              <a:buFontTx/>
              <a:buNone/>
              <a:defRPr sz="12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</p:txBody>
      </p:sp>
      <p:sp>
        <p:nvSpPr>
          <p:cNvPr id="10" name="9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1" name="10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2" name="11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9" name="18 Conector recto"/>
          <p:cNvSpPr>
            <a:spLocks noChangeShapeType="1"/>
          </p:cNvSpPr>
          <p:nvPr/>
        </p:nvSpPr>
        <p:spPr bwMode="auto">
          <a:xfrm>
            <a:off x="62484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0" name="19 Conector recto"/>
          <p:cNvSpPr>
            <a:spLocks noChangeShapeType="1"/>
          </p:cNvSpPr>
          <p:nvPr/>
        </p:nvSpPr>
        <p:spPr bwMode="auto">
          <a:xfrm>
            <a:off x="6192296" y="0"/>
            <a:ext cx="0" cy="6858000"/>
          </a:xfrm>
          <a:prstGeom prst="line">
            <a:avLst/>
          </a:prstGeom>
          <a:noFill/>
          <a:ln w="1270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7" name="16 Marcador de fecha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18" name="17 Marcador de número de diapositiva"/>
          <p:cNvSpPr>
            <a:spLocks noGrp="1"/>
          </p:cNvSpPr>
          <p:nvPr>
            <p:ph type="sldNum" sz="quarter" idx="11"/>
          </p:nvPr>
        </p:nvSpPr>
        <p:spPr/>
        <p:txBody>
          <a:bodyPr rtlCol="0"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  <p:sp>
        <p:nvSpPr>
          <p:cNvPr id="21" name="20 Marcador de pie de página"/>
          <p:cNvSpPr>
            <a:spLocks noGrp="1"/>
          </p:cNvSpPr>
          <p:nvPr>
            <p:ph type="ftr" sz="quarter" idx="12"/>
          </p:nvPr>
        </p:nvSpPr>
        <p:spPr/>
        <p:txBody>
          <a:bodyPr rtlCol="0"/>
          <a:lstStyle/>
          <a:p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1676400" cy="5851525"/>
          </a:xfrm>
        </p:spPr>
        <p:txBody>
          <a:bodyPr vert="eaVert"/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s-ES" smtClean="0"/>
              <a:t>Haga clic para modificar el estilo de texto del patrón</a:t>
            </a:r>
          </a:p>
          <a:p>
            <a:pPr lvl="1" eaLnBrk="1" latinLnBrk="0" hangingPunct="1"/>
            <a:r>
              <a:rPr lang="es-ES" smtClean="0"/>
              <a:t>Segundo nivel</a:t>
            </a:r>
          </a:p>
          <a:p>
            <a:pPr lvl="2" eaLnBrk="1" latinLnBrk="0" hangingPunct="1"/>
            <a:r>
              <a:rPr lang="es-ES" smtClean="0"/>
              <a:t>Tercer nivel</a:t>
            </a:r>
          </a:p>
          <a:p>
            <a:pPr lvl="3" eaLnBrk="1" latinLnBrk="0" hangingPunct="1"/>
            <a:r>
              <a:rPr lang="es-ES" smtClean="0"/>
              <a:t>Cuarto nivel</a:t>
            </a:r>
          </a:p>
          <a:p>
            <a:pPr lvl="4" eaLnBrk="1" latinLnBrk="0" hangingPunct="1"/>
            <a:r>
              <a:rPr lang="es-ES" smtClean="0"/>
              <a:t>Quinto nivel</a:t>
            </a:r>
            <a:endParaRPr kumimoji="0" lang="en-US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Ovr>
    <a:masterClrMapping/>
  </p:clrMapOvr>
  <p:transition>
    <p:dissolv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15 Conector recto"/>
          <p:cNvSpPr>
            <a:spLocks noChangeShapeType="1"/>
          </p:cNvSpPr>
          <p:nvPr/>
        </p:nvSpPr>
        <p:spPr bwMode="auto">
          <a:xfrm>
            <a:off x="8763000" y="0"/>
            <a:ext cx="0" cy="6858000"/>
          </a:xfrm>
          <a:prstGeom prst="line">
            <a:avLst/>
          </a:prstGeom>
          <a:noFill/>
          <a:ln w="38100" cap="flat" cmpd="sng" algn="ctr">
            <a:solidFill>
              <a:schemeClr val="accent1">
                <a:tint val="60000"/>
                <a:alpha val="93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22" name="2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1143000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es-ES" smtClean="0"/>
              <a:t>Haga clic para modificar el estilo de título del patrón</a:t>
            </a:r>
            <a:endParaRPr kumimoji="0" lang="en-US"/>
          </a:p>
        </p:txBody>
      </p:sp>
      <p:sp>
        <p:nvSpPr>
          <p:cNvPr id="13" name="1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467600" cy="487375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s-ES" smtClean="0"/>
              <a:t>Haga clic para modificar el estilo de texto del patrón</a:t>
            </a:r>
          </a:p>
          <a:p>
            <a:pPr lvl="1" eaLnBrk="1" latinLnBrk="0" hangingPunct="1"/>
            <a:r>
              <a:rPr kumimoji="0" lang="es-ES" smtClean="0"/>
              <a:t>Segundo nivel</a:t>
            </a:r>
          </a:p>
          <a:p>
            <a:pPr lvl="2" eaLnBrk="1" latinLnBrk="0" hangingPunct="1"/>
            <a:r>
              <a:rPr kumimoji="0" lang="es-ES" smtClean="0"/>
              <a:t>Tercer nivel</a:t>
            </a:r>
          </a:p>
          <a:p>
            <a:pPr lvl="3" eaLnBrk="1" latinLnBrk="0" hangingPunct="1"/>
            <a:r>
              <a:rPr kumimoji="0" lang="es-ES" smtClean="0"/>
              <a:t>Cuarto nivel</a:t>
            </a:r>
          </a:p>
          <a:p>
            <a:pPr lvl="4" eaLnBrk="1" latinLnBrk="0" hangingPunct="1"/>
            <a:r>
              <a:rPr kumimoji="0" lang="es-ES" smtClean="0"/>
              <a:t>Quinto nivel</a:t>
            </a:r>
            <a:endParaRPr kumimoji="0" lang="en-US"/>
          </a:p>
        </p:txBody>
      </p:sp>
      <p:sp>
        <p:nvSpPr>
          <p:cNvPr id="14" name="13 Marcador de fecha"/>
          <p:cNvSpPr>
            <a:spLocks noGrp="1"/>
          </p:cNvSpPr>
          <p:nvPr>
            <p:ph type="dt" sz="half" idx="2"/>
          </p:nvPr>
        </p:nvSpPr>
        <p:spPr>
          <a:xfrm rot="5400000">
            <a:off x="7589520" y="1081851"/>
            <a:ext cx="201168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D7AF2176-5B31-40FA-A697-4DA8E3713955}" type="datetimeFigureOut">
              <a:rPr lang="es-CL" smtClean="0"/>
              <a:pPr/>
              <a:t>06-04-2020</a:t>
            </a:fld>
            <a:endParaRPr lang="es-CL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3"/>
          </p:nvPr>
        </p:nvSpPr>
        <p:spPr>
          <a:xfrm rot="5400000">
            <a:off x="6990186" y="3737240"/>
            <a:ext cx="3200400" cy="365760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s-CL" dirty="0"/>
          </a:p>
        </p:txBody>
      </p:sp>
      <p:sp>
        <p:nvSpPr>
          <p:cNvPr id="7" name="6 Conector recto"/>
          <p:cNvSpPr>
            <a:spLocks noChangeShapeType="1"/>
          </p:cNvSpPr>
          <p:nvPr/>
        </p:nvSpPr>
        <p:spPr bwMode="auto">
          <a:xfrm>
            <a:off x="76200" y="0"/>
            <a:ext cx="0" cy="6858000"/>
          </a:xfrm>
          <a:prstGeom prst="line">
            <a:avLst/>
          </a:prstGeom>
          <a:noFill/>
          <a:ln w="57150" cap="flat" cmpd="thickThin" algn="ctr">
            <a:solidFill>
              <a:schemeClr val="accent1">
                <a:tint val="6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8 Conector recto"/>
          <p:cNvSpPr>
            <a:spLocks noChangeShapeType="1"/>
          </p:cNvSpPr>
          <p:nvPr/>
        </p:nvSpPr>
        <p:spPr bwMode="auto">
          <a:xfrm>
            <a:off x="8991600" y="0"/>
            <a:ext cx="0" cy="6858000"/>
          </a:xfrm>
          <a:prstGeom prst="line">
            <a:avLst/>
          </a:prstGeom>
          <a:noFill/>
          <a:ln w="19050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0" name="9 Rectángulo"/>
          <p:cNvSpPr/>
          <p:nvPr/>
        </p:nvSpPr>
        <p:spPr bwMode="auto">
          <a:xfrm>
            <a:off x="8839200" y="0"/>
            <a:ext cx="304800" cy="6858000"/>
          </a:xfrm>
          <a:prstGeom prst="rect">
            <a:avLst/>
          </a:prstGeom>
          <a:solidFill>
            <a:schemeClr val="accent1">
              <a:tint val="60000"/>
              <a:alpha val="87000"/>
            </a:schemeClr>
          </a:soli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11" name="10 Conector recto"/>
          <p:cNvSpPr>
            <a:spLocks noChangeShapeType="1"/>
          </p:cNvSpPr>
          <p:nvPr/>
        </p:nvSpPr>
        <p:spPr bwMode="auto">
          <a:xfrm>
            <a:off x="8915400" y="0"/>
            <a:ext cx="0" cy="6858000"/>
          </a:xfrm>
          <a:prstGeom prst="line">
            <a:avLst/>
          </a:prstGeom>
          <a:noFill/>
          <a:ln w="9525" cap="flat" cmpd="sng" algn="ctr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12" name="11 Elipse"/>
          <p:cNvSpPr/>
          <p:nvPr/>
        </p:nvSpPr>
        <p:spPr>
          <a:xfrm>
            <a:off x="8156448" y="5715000"/>
            <a:ext cx="548640" cy="548640"/>
          </a:xfrm>
          <a:prstGeom prst="ellipse">
            <a:avLst/>
          </a:prstGeom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dirty="0"/>
          </a:p>
        </p:txBody>
      </p:sp>
      <p:sp>
        <p:nvSpPr>
          <p:cNvPr id="23" name="22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8129016" y="5734050"/>
            <a:ext cx="609600" cy="521208"/>
          </a:xfrm>
          <a:prstGeom prst="rect">
            <a:avLst/>
          </a:prstGeom>
        </p:spPr>
        <p:txBody>
          <a:bodyPr vert="horz" anchor="ctr"/>
          <a:lstStyle>
            <a:lvl1pPr algn="ctr" eaLnBrk="1" latinLnBrk="0" hangingPunct="1">
              <a:defRPr kumimoji="0" sz="1400" b="1">
                <a:solidFill>
                  <a:srgbClr val="FFFFFF"/>
                </a:solidFill>
              </a:defRPr>
            </a:lvl1pPr>
          </a:lstStyle>
          <a:p>
            <a:fld id="{1418F6E3-9A1A-4EFA-ACC4-D1B7DA68B18E}" type="slidenum">
              <a:rPr lang="es-CL" smtClean="0"/>
              <a:pPr/>
              <a:t>‹Nº›</a:t>
            </a:fld>
            <a:endParaRPr lang="es-CL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>
    <p:dissolve/>
  </p:transition>
  <p:txStyles>
    <p:titleStyle>
      <a:lvl1pPr algn="l" rtl="0" eaLnBrk="1" latinLnBrk="0" hangingPunct="1">
        <a:spcBef>
          <a:spcPct val="0"/>
        </a:spcBef>
        <a:buNone/>
        <a:defRPr kumimoji="0" sz="3000" b="0" kern="1200" cap="small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0000"/>
        <a:buFont typeface="Wingdings"/>
        <a:buChar char="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182880" algn="l" rtl="0" eaLnBrk="1" latinLnBrk="0" hangingPunct="1">
        <a:spcBef>
          <a:spcPct val="20000"/>
        </a:spcBef>
        <a:buClr>
          <a:schemeClr val="accent2">
            <a:tint val="60000"/>
          </a:schemeClr>
        </a:buClr>
        <a:buSzPct val="68000"/>
        <a:buFont typeface="Wingdings 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rtl="0" eaLnBrk="1" latinLnBrk="0" hangingPunct="1">
        <a:spcBef>
          <a:spcPct val="20000"/>
        </a:spcBef>
        <a:buClr>
          <a:schemeClr val="accent1"/>
        </a:buClr>
        <a:buChar char="•"/>
        <a:defRPr kumimoji="0" sz="1600" kern="1200">
          <a:solidFill>
            <a:schemeClr val="tx2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ct val="20000"/>
        </a:spcBef>
        <a:buClr>
          <a:schemeClr val="accent1">
            <a:tint val="60000"/>
          </a:schemeClr>
        </a:buClr>
        <a:buSzPct val="60000"/>
        <a:buFont typeface="Wingdings"/>
        <a:buChar char="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2"/>
        </a:buClr>
        <a:buChar char="•"/>
        <a:defRPr kumimoji="0" sz="1400" kern="1200" cap="small" baseline="0">
          <a:solidFill>
            <a:schemeClr val="tx2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Char char="•"/>
        <a:defRPr kumimoji="0"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hyperlink" Target="https://www.youtube.com/watch?v=o5nuX2-ja0Y" TargetMode="Externa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W7VDeSFnMdk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hyperlink" Target="https://www.youtube.com/watch?v=KEXojOmh10I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youtube.com/watch?v=YiQk0zcqreE&amp;t=2s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jpeg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19.jpeg"/><Relationship Id="rId4" Type="http://schemas.openxmlformats.org/officeDocument/2006/relationships/image" Target="../media/image18.jpeg"/><Relationship Id="rId9" Type="http://schemas.openxmlformats.org/officeDocument/2006/relationships/image" Target="../media/image23.jpe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hyperlink" Target="https://www.youtube.com/watch?v=6NPl3oXrk8I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jpeg"/><Relationship Id="rId3" Type="http://schemas.openxmlformats.org/officeDocument/2006/relationships/image" Target="../media/image9.jpeg"/><Relationship Id="rId7" Type="http://schemas.openxmlformats.org/officeDocument/2006/relationships/image" Target="../media/image28.jpe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jpeg"/><Relationship Id="rId5" Type="http://schemas.openxmlformats.org/officeDocument/2006/relationships/image" Target="../media/image8.jpeg"/><Relationship Id="rId4" Type="http://schemas.openxmlformats.org/officeDocument/2006/relationships/image" Target="../media/image26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34.jpeg"/><Relationship Id="rId5" Type="http://schemas.openxmlformats.org/officeDocument/2006/relationships/image" Target="../media/image33.jpeg"/><Relationship Id="rId4" Type="http://schemas.openxmlformats.org/officeDocument/2006/relationships/image" Target="../media/image32.jpe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2699792" y="4941168"/>
            <a:ext cx="5561856" cy="990600"/>
          </a:xfrm>
        </p:spPr>
        <p:txBody>
          <a:bodyPr>
            <a:normAutofit fontScale="90000"/>
          </a:bodyPr>
          <a:lstStyle/>
          <a:p>
            <a:r>
              <a:rPr lang="es-MX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1° y 2° semana de Abril 2020</a:t>
            </a:r>
            <a:endParaRPr lang="es-CL" dirty="0">
              <a:solidFill>
                <a:schemeClr val="accent2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2411760" y="2852936"/>
            <a:ext cx="5616624" cy="1143000"/>
          </a:xfrm>
        </p:spPr>
        <p:txBody>
          <a:bodyPr>
            <a:noAutofit/>
          </a:bodyPr>
          <a:lstStyle/>
          <a:p>
            <a:r>
              <a:rPr lang="es-MX" sz="4800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Ed. Musical</a:t>
            </a:r>
          </a:p>
          <a:p>
            <a:r>
              <a:rPr lang="es-MX" sz="4000" dirty="0" smtClean="0">
                <a:solidFill>
                  <a:schemeClr val="accent2">
                    <a:lumMod val="75000"/>
                  </a:schemeClr>
                </a:solidFill>
                <a:latin typeface="Comic Sans MS" pitchFamily="66" charset="0"/>
              </a:rPr>
              <a:t>1° año básico</a:t>
            </a:r>
            <a:endParaRPr lang="es-CL" sz="1600" dirty="0">
              <a:solidFill>
                <a:schemeClr val="accent2">
                  <a:lumMod val="75000"/>
                </a:schemeClr>
              </a:solidFill>
            </a:endParaRPr>
          </a:p>
        </p:txBody>
      </p:sp>
      <p:pic>
        <p:nvPicPr>
          <p:cNvPr id="4" name="Picture 2" descr="https://lh3.googleusercontent.com/ay0ySSDJZqYig9mpOv6-r4_Sgb1c-aAUFlfPA3G4EYOU6NW9y8dIZITjNYuxvjUNMuqDZgw4=w16383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899592" y="332656"/>
            <a:ext cx="899253" cy="11539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pic>
        <p:nvPicPr>
          <p:cNvPr id="13314" name="Picture 2" descr="Budding Pop Music GIF - BuddingPop Music - Descubre &amp; Comparte GIFs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56176" y="260648"/>
            <a:ext cx="2286000" cy="2286001"/>
          </a:xfrm>
          <a:prstGeom prst="rect">
            <a:avLst/>
          </a:prstGeom>
          <a:noFill/>
        </p:spPr>
      </p:pic>
      <p:sp>
        <p:nvSpPr>
          <p:cNvPr id="6" name="2 Subtítulo"/>
          <p:cNvSpPr txBox="1">
            <a:spLocks/>
          </p:cNvSpPr>
          <p:nvPr/>
        </p:nvSpPr>
        <p:spPr>
          <a:xfrm>
            <a:off x="1763688" y="476672"/>
            <a:ext cx="2880320" cy="1080120"/>
          </a:xfrm>
          <a:prstGeom prst="rect">
            <a:avLst/>
          </a:prstGeom>
        </p:spPr>
        <p:txBody>
          <a:bodyPr vert="horz">
            <a:normAutofit/>
          </a:bodyPr>
          <a:lstStyle>
            <a:lvl1pPr marL="0" indent="0" algn="l" rtl="0" eaLnBrk="1" latinLnBrk="0" hangingPunct="1">
              <a:spcBef>
                <a:spcPts val="600"/>
              </a:spcBef>
              <a:buClr>
                <a:schemeClr val="accent1"/>
              </a:buClr>
              <a:buSzPct val="70000"/>
              <a:buFont typeface="Wingdings"/>
              <a:buNone/>
              <a:defRPr kumimoji="0" sz="1800" b="1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SzPct val="80000"/>
              <a:buFont typeface="Wingdings 2"/>
              <a:buNone/>
              <a:defRPr kumimoji="0"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rtl="0" eaLnBrk="1" latinLnBrk="0" hangingPunct="1">
              <a:spcBef>
                <a:spcPct val="20000"/>
              </a:spcBef>
              <a:buClr>
                <a:schemeClr val="accent2">
                  <a:tint val="60000"/>
                </a:schemeClr>
              </a:buClr>
              <a:buSzPct val="68000"/>
              <a:buFont typeface="Wingdings 2"/>
              <a:buNone/>
              <a:defRPr kumimoji="0"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rtl="0" eaLnBrk="1" latinLnBrk="0" hangingPunct="1">
              <a:spcBef>
                <a:spcPct val="20000"/>
              </a:spcBef>
              <a:buClr>
                <a:schemeClr val="accent1"/>
              </a:buClr>
              <a:buNone/>
              <a:defRPr kumimoji="0"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743200" indent="0" algn="ctr" rtl="0" eaLnBrk="1" latinLnBrk="0" hangingPunct="1">
              <a:spcBef>
                <a:spcPct val="20000"/>
              </a:spcBef>
              <a:buClr>
                <a:schemeClr val="accent1">
                  <a:tint val="60000"/>
                </a:schemeClr>
              </a:buClr>
              <a:buSzPct val="60000"/>
              <a:buFont typeface="Wingdings"/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200400" indent="0" algn="ctr" rtl="0" eaLnBrk="1" latinLnBrk="0" hangingPunct="1">
              <a:spcBef>
                <a:spcPct val="20000"/>
              </a:spcBef>
              <a:buClr>
                <a:schemeClr val="accent2"/>
              </a:buClr>
              <a:buNone/>
              <a:defRPr kumimoji="0" sz="1400" kern="1200" cap="small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3657600" indent="0" algn="ctr" rtl="0" eaLnBrk="1" latinLnBrk="0" hangingPunct="1">
              <a:spcBef>
                <a:spcPct val="20000"/>
              </a:spcBef>
              <a:buClr>
                <a:schemeClr val="accent1">
                  <a:shade val="75000"/>
                </a:schemeClr>
              </a:buClr>
              <a:buNone/>
              <a:defRPr kumimoji="0"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smtClean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Prof. Carolina Ayala M</a:t>
            </a:r>
          </a:p>
          <a:p>
            <a:r>
              <a:rPr lang="es-MX" dirty="0" smtClean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Primero básico </a:t>
            </a:r>
          </a:p>
          <a:p>
            <a:r>
              <a:rPr lang="es-MX" dirty="0" smtClean="0">
                <a:solidFill>
                  <a:schemeClr val="accent2">
                    <a:lumMod val="75000"/>
                  </a:schemeClr>
                </a:solidFill>
                <a:latin typeface="Comic Sans MS" panose="030F0702030302020204" pitchFamily="66" charset="0"/>
              </a:rPr>
              <a:t>Ed. Musical</a:t>
            </a:r>
            <a:endParaRPr lang="es-CL" dirty="0">
              <a:solidFill>
                <a:schemeClr val="accent2">
                  <a:lumMod val="75000"/>
                </a:schemeClr>
              </a:solidFill>
              <a:latin typeface="Comic Sans MS" panose="030F0702030302020204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itchFamily="66" charset="0"/>
              </a:rPr>
              <a:t>Ver presentación de este ppt </a:t>
            </a:r>
            <a:endParaRPr lang="es-CL" b="1" dirty="0">
              <a:solidFill>
                <a:schemeClr val="accent2">
                  <a:lumMod val="60000"/>
                  <a:lumOff val="4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/>
          <a:lstStyle/>
          <a:p>
            <a:pPr>
              <a:buNone/>
            </a:pPr>
            <a:r>
              <a:rPr lang="es-MX" dirty="0" smtClean="0">
                <a:latin typeface="Comic Sans MS" pitchFamily="66" charset="0"/>
              </a:rPr>
              <a:t>Aprieta F5  para ver este power point como presentación o simplemente has clic en el logo  </a:t>
            </a:r>
            <a:endParaRPr lang="es-CL" dirty="0">
              <a:latin typeface="Comic Sans MS" pitchFamily="66" charset="0"/>
            </a:endParaRPr>
          </a:p>
        </p:txBody>
      </p:sp>
      <p:pic>
        <p:nvPicPr>
          <p:cNvPr id="51205" name="Picture 5"/>
          <p:cNvPicPr>
            <a:picLocks noChangeAspect="1" noChangeArrowheads="1"/>
          </p:cNvPicPr>
          <p:nvPr/>
        </p:nvPicPr>
        <p:blipFill>
          <a:blip r:embed="rId2" cstate="print"/>
          <a:srcRect t="17647"/>
          <a:stretch>
            <a:fillRect/>
          </a:stretch>
        </p:blipFill>
        <p:spPr bwMode="auto">
          <a:xfrm>
            <a:off x="1331640" y="2708920"/>
            <a:ext cx="6531913" cy="30243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0" name="9 Conector recto de flecha"/>
          <p:cNvCxnSpPr/>
          <p:nvPr/>
        </p:nvCxnSpPr>
        <p:spPr>
          <a:xfrm flipH="1">
            <a:off x="6804248" y="2348880"/>
            <a:ext cx="72008" cy="3024336"/>
          </a:xfrm>
          <a:prstGeom prst="straightConnector1">
            <a:avLst/>
          </a:prstGeom>
          <a:ln w="57150"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115616" y="332656"/>
            <a:ext cx="6285384" cy="710952"/>
          </a:xfrm>
          <a:noFill/>
        </p:spPr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itchFamily="66" charset="0"/>
              </a:rPr>
              <a:t>Rutina de trabajo </a:t>
            </a:r>
            <a:endParaRPr lang="es-CL" b="1" dirty="0">
              <a:solidFill>
                <a:schemeClr val="accent2">
                  <a:lumMod val="60000"/>
                  <a:lumOff val="4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268760"/>
            <a:ext cx="7128792" cy="5040560"/>
          </a:xfrm>
          <a:solidFill>
            <a:schemeClr val="bg1"/>
          </a:solidFill>
        </p:spPr>
        <p:txBody>
          <a:bodyPr>
            <a:normAutofit/>
          </a:bodyPr>
          <a:lstStyle/>
          <a:p>
            <a:r>
              <a:rPr lang="es-MX" sz="2000" dirty="0" smtClean="0">
                <a:latin typeface="Comic Sans MS" pitchFamily="66" charset="0"/>
              </a:rPr>
              <a:t>Este Power point está dividido para 2 semanas de trabajos. Se debe trabajar  diariamente  por lo menos 1 día en la semana. </a:t>
            </a:r>
          </a:p>
          <a:p>
            <a:r>
              <a:rPr lang="es-MX" sz="2000" dirty="0" smtClean="0">
                <a:latin typeface="Comic Sans MS" pitchFamily="66" charset="0"/>
              </a:rPr>
              <a:t>Cada día tiene contemplado una tarea (que está especificado como tarea día 1, tarea día 2 etc.)</a:t>
            </a:r>
          </a:p>
          <a:p>
            <a:r>
              <a:rPr lang="es-MX" sz="2000" dirty="0" smtClean="0">
                <a:latin typeface="Comic Sans MS" pitchFamily="66" charset="0"/>
              </a:rPr>
              <a:t>No se debe copiar toda esta presentación en tu cuaderno, sólo las diapositivas que muestren trabajo en el cuaderno, y que digan “</a:t>
            </a:r>
            <a:r>
              <a:rPr lang="es-MX" sz="2000" b="1" dirty="0" smtClean="0">
                <a:latin typeface="Comic Sans MS" pitchFamily="66" charset="0"/>
              </a:rPr>
              <a:t>tarea”,</a:t>
            </a:r>
            <a:r>
              <a:rPr lang="es-MX" sz="2000" dirty="0" smtClean="0">
                <a:latin typeface="Comic Sans MS" pitchFamily="66" charset="0"/>
              </a:rPr>
              <a:t> se deben copiar.</a:t>
            </a:r>
          </a:p>
          <a:p>
            <a:r>
              <a:rPr lang="es-MX" sz="2000" dirty="0" smtClean="0">
                <a:latin typeface="Comic Sans MS" pitchFamily="66" charset="0"/>
              </a:rPr>
              <a:t>Se trabajará en el cuaderno de Música (Rosado)  </a:t>
            </a:r>
          </a:p>
          <a:p>
            <a:pPr>
              <a:buNone/>
            </a:pPr>
            <a:endParaRPr lang="es-MX" sz="2000" dirty="0" smtClean="0">
              <a:latin typeface="Comic Sans MS" pitchFamily="66" charset="0"/>
            </a:endParaRPr>
          </a:p>
          <a:p>
            <a:r>
              <a:rPr lang="es-MX" sz="2000" b="1" dirty="0" smtClean="0">
                <a:latin typeface="Comic Sans MS" pitchFamily="66" charset="0"/>
              </a:rPr>
              <a:t>El cuaderno será revisado cuando volvamos al colegio.</a:t>
            </a:r>
          </a:p>
          <a:p>
            <a:endParaRPr lang="es-MX" dirty="0" smtClean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itchFamily="66" charset="0"/>
              </a:rPr>
              <a:t>Objetivo de aprendizaje</a:t>
            </a:r>
            <a:endParaRPr lang="es-CL" dirty="0">
              <a:solidFill>
                <a:schemeClr val="accent2">
                  <a:lumMod val="60000"/>
                  <a:lumOff val="40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8075240" cy="4873752"/>
          </a:xfrm>
        </p:spPr>
        <p:txBody>
          <a:bodyPr>
            <a:normAutofit fontScale="92500"/>
          </a:bodyPr>
          <a:lstStyle/>
          <a:p>
            <a:r>
              <a:rPr lang="es-CL" b="1" dirty="0" smtClean="0">
                <a:latin typeface="Comic Sans MS" pitchFamily="66" charset="0"/>
              </a:rPr>
              <a:t>OA1 -</a:t>
            </a:r>
            <a:r>
              <a:rPr lang="es-CL" dirty="0" smtClean="0">
                <a:latin typeface="Comic Sans MS" pitchFamily="66" charset="0"/>
              </a:rPr>
              <a:t>Escuchar cualidades del sonido (altura, timbre, intensidad, duración)</a:t>
            </a:r>
          </a:p>
          <a:p>
            <a:r>
              <a:rPr lang="es-CL" b="1" u="sng" dirty="0" smtClean="0">
                <a:latin typeface="Comic Sans MS" pitchFamily="66" charset="0"/>
              </a:rPr>
              <a:t>Indicadores:</a:t>
            </a:r>
            <a:endParaRPr lang="es-CL" u="sng" dirty="0" smtClean="0">
              <a:latin typeface="Comic Sans MS" pitchFamily="66" charset="0"/>
            </a:endParaRPr>
          </a:p>
          <a:p>
            <a:r>
              <a:rPr lang="es-CL" b="1" dirty="0" smtClean="0">
                <a:latin typeface="Comic Sans MS" pitchFamily="66" charset="0"/>
              </a:rPr>
              <a:t>&gt;-</a:t>
            </a:r>
            <a:r>
              <a:rPr lang="es-CL" dirty="0" smtClean="0">
                <a:latin typeface="Comic Sans MS" pitchFamily="66" charset="0"/>
              </a:rPr>
              <a:t>Reconocen y diferencian sonidos de diversas fuentes (la naturaleza y el entorno).</a:t>
            </a:r>
            <a:br>
              <a:rPr lang="es-CL" dirty="0" smtClean="0">
                <a:latin typeface="Comic Sans MS" pitchFamily="66" charset="0"/>
              </a:rPr>
            </a:br>
            <a:r>
              <a:rPr lang="es-CL" b="1" dirty="0" smtClean="0">
                <a:latin typeface="Comic Sans MS" pitchFamily="66" charset="0"/>
              </a:rPr>
              <a:t>&gt;-</a:t>
            </a:r>
            <a:r>
              <a:rPr lang="es-CL" dirty="0" smtClean="0">
                <a:latin typeface="Comic Sans MS" pitchFamily="66" charset="0"/>
              </a:rPr>
              <a:t>Comentan con sus propias palabras lo escuchado, reconociendo alguna cualidad evidente del sonido.</a:t>
            </a:r>
            <a:br>
              <a:rPr lang="es-CL" dirty="0" smtClean="0">
                <a:latin typeface="Comic Sans MS" pitchFamily="66" charset="0"/>
              </a:rPr>
            </a:br>
            <a:r>
              <a:rPr lang="es-CL" b="1" dirty="0" smtClean="0">
                <a:latin typeface="Comic Sans MS" pitchFamily="66" charset="0"/>
              </a:rPr>
              <a:t>&gt;-</a:t>
            </a:r>
            <a:r>
              <a:rPr lang="es-CL" dirty="0" smtClean="0">
                <a:latin typeface="Comic Sans MS" pitchFamily="66" charset="0"/>
              </a:rPr>
              <a:t>Reconocen y diferencian sonidos de diversas fuentes (la voz y objetos sonoros).</a:t>
            </a:r>
            <a:br>
              <a:rPr lang="es-CL" dirty="0" smtClean="0">
                <a:latin typeface="Comic Sans MS" pitchFamily="66" charset="0"/>
              </a:rPr>
            </a:br>
            <a:r>
              <a:rPr lang="es-CL" b="1" dirty="0" smtClean="0">
                <a:latin typeface="Comic Sans MS" pitchFamily="66" charset="0"/>
              </a:rPr>
              <a:t>&gt;-</a:t>
            </a:r>
            <a:r>
              <a:rPr lang="es-CL" dirty="0" smtClean="0">
                <a:latin typeface="Comic Sans MS" pitchFamily="66" charset="0"/>
              </a:rPr>
              <a:t>Reconocen y diferencian sonidos de diversas fuentes (la voz, instrumentos de percusión y objetos sonoros).</a:t>
            </a:r>
          </a:p>
          <a:p>
            <a:pPr>
              <a:buNone/>
            </a:pPr>
            <a:r>
              <a:rPr lang="es-CL" dirty="0" smtClean="0">
                <a:latin typeface="Comic Sans MS" pitchFamily="66" charset="0"/>
              </a:rPr>
              <a:t/>
            </a:r>
            <a:br>
              <a:rPr lang="es-CL" dirty="0" smtClean="0">
                <a:latin typeface="Comic Sans MS" pitchFamily="66" charset="0"/>
              </a:rPr>
            </a:br>
            <a:endParaRPr lang="es-CL" dirty="0" smtClean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692696"/>
            <a:ext cx="8676456" cy="13247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66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itchFamily="66" charset="0"/>
              </a:rPr>
              <a:t>1° semana de trabajo </a:t>
            </a:r>
          </a:p>
        </p:txBody>
      </p:sp>
      <p:pic>
        <p:nvPicPr>
          <p:cNvPr id="25602" name="Picture 2" descr="Ilustración Con Niños Felices Y Energético En Camino A La Escuela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988840"/>
            <a:ext cx="3744416" cy="3672408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Primero antes que todo….</a:t>
            </a:r>
            <a:endParaRPr lang="es-CL" dirty="0"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1752" y="1527048"/>
            <a:ext cx="8503920" cy="2622032"/>
          </a:xfrm>
        </p:spPr>
        <p:txBody>
          <a:bodyPr>
            <a:normAutofit fontScale="92500" lnSpcReduction="10000"/>
          </a:bodyPr>
          <a:lstStyle/>
          <a:p>
            <a:r>
              <a:rPr lang="es-MX" sz="3600" dirty="0" smtClean="0">
                <a:latin typeface="Comic Sans MS" pitchFamily="66" charset="0"/>
              </a:rPr>
              <a:t>¿Qué es el sonido?</a:t>
            </a:r>
          </a:p>
          <a:p>
            <a:r>
              <a:rPr lang="es-MX" sz="3600" dirty="0" smtClean="0">
                <a:latin typeface="Comic Sans MS" pitchFamily="66" charset="0"/>
              </a:rPr>
              <a:t>Un sonido es la sensación que se genera en el oído  a partir de las vibraciones  de las cosas. Estas vibraciones se trasmiten por el aire o por otro medio elástico. </a:t>
            </a:r>
            <a:endParaRPr lang="es-CL" sz="3600" dirty="0">
              <a:latin typeface="Comic Sans MS" pitchFamily="66" charset="0"/>
            </a:endParaRPr>
          </a:p>
        </p:txBody>
      </p:sp>
      <p:pic>
        <p:nvPicPr>
          <p:cNvPr id="14338" name="Picture 2" descr="Telefono Ocupado - Efecto De Sonido GIF | Gfycat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652120" y="4293096"/>
            <a:ext cx="2447925" cy="1866901"/>
          </a:xfrm>
          <a:prstGeom prst="rect">
            <a:avLst/>
          </a:prstGeom>
          <a:noFill/>
        </p:spPr>
      </p:pic>
      <p:pic>
        <p:nvPicPr>
          <p:cNvPr id="14340" name="Picture 4" descr="Onda de sonido GIF - Descargar &amp; Compartir en PHONEKY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83568" y="4077072"/>
            <a:ext cx="2592288" cy="1944217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476672"/>
            <a:ext cx="7467600" cy="580926"/>
          </a:xfrm>
        </p:spPr>
        <p:txBody>
          <a:bodyPr>
            <a:normAutofit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El sonido tiene cualidades …..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7931224" cy="4873752"/>
          </a:xfrm>
        </p:spPr>
        <p:txBody>
          <a:bodyPr>
            <a:normAutofit/>
          </a:bodyPr>
          <a:lstStyle/>
          <a:p>
            <a:r>
              <a:rPr lang="es-MX" sz="3200" dirty="0" smtClean="0">
                <a:latin typeface="Comic Sans MS" pitchFamily="66" charset="0"/>
              </a:rPr>
              <a:t>Las cualidades son las características con las que describimos los sonidos.</a:t>
            </a:r>
            <a:r>
              <a:rPr lang="es-CL" sz="3200" dirty="0" smtClean="0">
                <a:latin typeface="Comic Sans MS" pitchFamily="66" charset="0"/>
              </a:rPr>
              <a:t> Las cualidades del sonido son:</a:t>
            </a:r>
          </a:p>
          <a:p>
            <a:pPr>
              <a:buNone/>
            </a:pPr>
            <a:endParaRPr lang="es-CL" sz="3200" dirty="0" smtClean="0">
              <a:latin typeface="Comic Sans MS" pitchFamily="66" charset="0"/>
            </a:endParaRPr>
          </a:p>
          <a:p>
            <a:pPr marL="514350" indent="-514350">
              <a:buAutoNum type="arabicPeriod"/>
            </a:pPr>
            <a:r>
              <a:rPr lang="es-MX" sz="3200" dirty="0" smtClean="0">
                <a:latin typeface="Comic Sans MS" pitchFamily="66" charset="0"/>
              </a:rPr>
              <a:t>Altura.</a:t>
            </a:r>
          </a:p>
          <a:p>
            <a:pPr marL="514350" indent="-514350">
              <a:buAutoNum type="arabicPeriod"/>
            </a:pPr>
            <a:r>
              <a:rPr lang="es-MX" sz="3200" dirty="0" smtClean="0">
                <a:latin typeface="Comic Sans MS" pitchFamily="66" charset="0"/>
              </a:rPr>
              <a:t>Intensidad.</a:t>
            </a:r>
          </a:p>
          <a:p>
            <a:pPr marL="514350" indent="-514350">
              <a:buAutoNum type="arabicPeriod"/>
            </a:pPr>
            <a:r>
              <a:rPr lang="es-MX" sz="3200" dirty="0" smtClean="0">
                <a:latin typeface="Comic Sans MS" pitchFamily="66" charset="0"/>
              </a:rPr>
              <a:t>Duración. </a:t>
            </a:r>
          </a:p>
          <a:p>
            <a:pPr marL="514350" indent="-514350">
              <a:buAutoNum type="arabicPeriod"/>
            </a:pPr>
            <a:r>
              <a:rPr lang="es-MX" sz="3200" dirty="0" smtClean="0">
                <a:latin typeface="Comic Sans MS" pitchFamily="66" charset="0"/>
              </a:rPr>
              <a:t>Timbre. </a:t>
            </a:r>
          </a:p>
        </p:txBody>
      </p:sp>
      <p:sp>
        <p:nvSpPr>
          <p:cNvPr id="4" name="3 Flecha abajo"/>
          <p:cNvSpPr/>
          <p:nvPr/>
        </p:nvSpPr>
        <p:spPr>
          <a:xfrm rot="10800000">
            <a:off x="2483768" y="3573016"/>
            <a:ext cx="50405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4 Flecha abajo"/>
          <p:cNvSpPr/>
          <p:nvPr/>
        </p:nvSpPr>
        <p:spPr>
          <a:xfrm rot="21445160">
            <a:off x="3002159" y="3584035"/>
            <a:ext cx="504056" cy="64807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6" name="Picture 2" descr="Pluma, Dibujo, Libro Para Colorear imagen png - imagen ...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3419872" y="4149080"/>
            <a:ext cx="648072" cy="668646"/>
          </a:xfrm>
          <a:prstGeom prst="rect">
            <a:avLst/>
          </a:prstGeom>
          <a:noFill/>
        </p:spPr>
      </p:pic>
      <p:pic>
        <p:nvPicPr>
          <p:cNvPr id="7" name="Picture 4" descr="Siyah çelik kafes, Cezaevi Polis karakolu Hiçbir u3067 Simge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11960" y="4149080"/>
            <a:ext cx="974226" cy="720080"/>
          </a:xfrm>
          <a:prstGeom prst="rect">
            <a:avLst/>
          </a:prstGeom>
          <a:noFill/>
        </p:spPr>
      </p:pic>
      <p:sp>
        <p:nvSpPr>
          <p:cNvPr id="8" name="7 Rectángulo"/>
          <p:cNvSpPr/>
          <p:nvPr/>
        </p:nvSpPr>
        <p:spPr>
          <a:xfrm>
            <a:off x="2915816" y="5157192"/>
            <a:ext cx="2304256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9" name="8 Rectángulo"/>
          <p:cNvSpPr/>
          <p:nvPr/>
        </p:nvSpPr>
        <p:spPr>
          <a:xfrm>
            <a:off x="5724128" y="5229200"/>
            <a:ext cx="9361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8" grpId="0" animBg="1"/>
      <p:bldP spid="9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48680"/>
            <a:ext cx="3250704" cy="8689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día 1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>
            <a:normAutofit/>
          </a:bodyPr>
          <a:lstStyle/>
          <a:p>
            <a:r>
              <a:rPr lang="es-CL" dirty="0" smtClean="0">
                <a:latin typeface="Comic Sans MS" panose="030F0702030302020204" pitchFamily="66" charset="0"/>
              </a:rPr>
              <a:t>Ahora saca tu cuaderno de </a:t>
            </a:r>
            <a:r>
              <a:rPr lang="es-CL" dirty="0" smtClean="0">
                <a:latin typeface="Comic Sans MS" panose="030F0702030302020204" pitchFamily="66" charset="0"/>
              </a:rPr>
              <a:t>Música  </a:t>
            </a:r>
            <a:r>
              <a:rPr lang="es-CL" dirty="0" smtClean="0">
                <a:latin typeface="Comic Sans MS" panose="030F0702030302020204" pitchFamily="66" charset="0"/>
              </a:rPr>
              <a:t>(rosado, con cuadros), copia lo siguiente de manera ordenada en tu cuaderno </a:t>
            </a:r>
          </a:p>
          <a:p>
            <a:r>
              <a:rPr lang="es-MX" dirty="0" smtClean="0">
                <a:latin typeface="Comic Sans MS" panose="030F0702030302020204" pitchFamily="66" charset="0"/>
              </a:rPr>
              <a:t>Recuerda que se revisará  cuando vuelvas al colegio.</a:t>
            </a:r>
            <a:endParaRPr lang="es-CL" dirty="0" smtClean="0">
              <a:latin typeface="Comic Sans MS" panose="030F0702030302020204" pitchFamily="66" charset="0"/>
            </a:endParaRPr>
          </a:p>
          <a:p>
            <a:endParaRPr lang="es-CL" dirty="0"/>
          </a:p>
        </p:txBody>
      </p:sp>
      <p:pic>
        <p:nvPicPr>
          <p:cNvPr id="4" name="Picture 2" descr="H:\IMG_20200403_225149.jpg"/>
          <p:cNvPicPr>
            <a:picLocks noChangeAspect="1" noChangeArrowheads="1"/>
          </p:cNvPicPr>
          <p:nvPr/>
        </p:nvPicPr>
        <p:blipFill>
          <a:blip r:embed="rId2" cstate="print"/>
          <a:srcRect b="16667"/>
          <a:stretch>
            <a:fillRect/>
          </a:stretch>
        </p:blipFill>
        <p:spPr bwMode="auto">
          <a:xfrm>
            <a:off x="4067944" y="620688"/>
            <a:ext cx="4212468" cy="554461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043608" y="476672"/>
            <a:ext cx="5987008" cy="580926"/>
          </a:xfrm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Cualidad del sonido:  Altura</a:t>
            </a:r>
            <a:endParaRPr lang="es-CL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539552" y="1340768"/>
            <a:ext cx="7467600" cy="4873752"/>
          </a:xfrm>
        </p:spPr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Con la altura identificamos si el sonido es  grave o agudo.</a:t>
            </a: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Utilizaremos una flecha  hacia arriba si el sonido  es agudo </a:t>
            </a:r>
          </a:p>
          <a:p>
            <a:pPr>
              <a:buNone/>
            </a:pPr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Utilizaremos una flecha hacia abajo si el sonido es grave </a:t>
            </a:r>
            <a:endParaRPr lang="es-CL" dirty="0">
              <a:latin typeface="Comic Sans MS" pitchFamily="66" charset="0"/>
            </a:endParaRPr>
          </a:p>
        </p:txBody>
      </p:sp>
      <p:sp>
        <p:nvSpPr>
          <p:cNvPr id="4" name="3 Flecha abajo"/>
          <p:cNvSpPr/>
          <p:nvPr/>
        </p:nvSpPr>
        <p:spPr>
          <a:xfrm>
            <a:off x="2483768" y="4365104"/>
            <a:ext cx="792088" cy="86409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4 Flecha abajo"/>
          <p:cNvSpPr/>
          <p:nvPr/>
        </p:nvSpPr>
        <p:spPr>
          <a:xfrm rot="10800000">
            <a:off x="2483768" y="3068960"/>
            <a:ext cx="792088" cy="83859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01752" y="228600"/>
            <a:ext cx="5782416" cy="758952"/>
          </a:xfrm>
        </p:spPr>
        <p:txBody>
          <a:bodyPr>
            <a:normAutofit/>
          </a:bodyPr>
          <a:lstStyle/>
          <a:p>
            <a:r>
              <a:rPr lang="es-MX" sz="4000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Actividad </a:t>
            </a:r>
            <a:endParaRPr lang="es-CL" sz="4000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59832" y="1527048"/>
            <a:ext cx="5745840" cy="4572000"/>
          </a:xfrm>
        </p:spPr>
        <p:txBody>
          <a:bodyPr>
            <a:normAutofit/>
          </a:bodyPr>
          <a:lstStyle/>
          <a:p>
            <a:r>
              <a:rPr lang="es-MX" sz="4000" dirty="0" smtClean="0">
                <a:latin typeface="Comic Sans MS" pitchFamily="66" charset="0"/>
              </a:rPr>
              <a:t>Mira a Polli  en el siguiente enlace y distingue los sonidos graves y agudos.</a:t>
            </a:r>
          </a:p>
          <a:p>
            <a:r>
              <a:rPr lang="es-CL" sz="4000" dirty="0" smtClean="0">
                <a:solidFill>
                  <a:srgbClr val="FF0000"/>
                </a:solidFill>
                <a:latin typeface="Comic Sans MS" pitchFamily="66" charset="0"/>
                <a:hlinkClick r:id="rId2"/>
              </a:rPr>
              <a:t>https://www.youtube.com/watch?v=o5nuX2-ja0Y</a:t>
            </a:r>
            <a:r>
              <a:rPr lang="es-MX" sz="4000" dirty="0" smtClean="0">
                <a:solidFill>
                  <a:srgbClr val="FF0000"/>
                </a:solidFill>
                <a:latin typeface="Comic Sans MS" pitchFamily="66" charset="0"/>
              </a:rPr>
              <a:t> </a:t>
            </a:r>
            <a:endParaRPr lang="es-CL" sz="4000" dirty="0">
              <a:solidFill>
                <a:srgbClr val="FF0000"/>
              </a:solidFill>
              <a:latin typeface="Comic Sans MS" pitchFamily="66" charset="0"/>
            </a:endParaRPr>
          </a:p>
        </p:txBody>
      </p:sp>
      <p:pic>
        <p:nvPicPr>
          <p:cNvPr id="15362" name="Picture 2" descr="EL MUNDO DE POLLI - CAP 020 GRAVES Y AGUDOS - YouTube"/>
          <p:cNvPicPr>
            <a:picLocks noChangeAspect="1" noChangeArrowheads="1"/>
          </p:cNvPicPr>
          <p:nvPr/>
        </p:nvPicPr>
        <p:blipFill>
          <a:blip r:embed="rId3" cstate="print"/>
          <a:srcRect l="22079" r="21721"/>
          <a:stretch>
            <a:fillRect/>
          </a:stretch>
        </p:blipFill>
        <p:spPr bwMode="auto">
          <a:xfrm>
            <a:off x="539552" y="1556792"/>
            <a:ext cx="2520280" cy="4392488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48680"/>
            <a:ext cx="3250704" cy="8689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semana 1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>
            <a:normAutofit/>
          </a:bodyPr>
          <a:lstStyle/>
          <a:p>
            <a:r>
              <a:rPr lang="es-CL" dirty="0" smtClean="0">
                <a:latin typeface="Comic Sans MS" panose="030F0702030302020204" pitchFamily="66" charset="0"/>
              </a:rPr>
              <a:t>Ahora saca tu cuaderno de </a:t>
            </a:r>
            <a:r>
              <a:rPr lang="es-CL" dirty="0" smtClean="0">
                <a:latin typeface="Comic Sans MS" panose="030F0702030302020204" pitchFamily="66" charset="0"/>
              </a:rPr>
              <a:t>Música  </a:t>
            </a:r>
            <a:r>
              <a:rPr lang="es-CL" dirty="0" smtClean="0">
                <a:latin typeface="Comic Sans MS" panose="030F0702030302020204" pitchFamily="66" charset="0"/>
              </a:rPr>
              <a:t>(rosado, con cuadros), copia lo siguiente de manera ordenada en tu cuaderno </a:t>
            </a:r>
          </a:p>
          <a:p>
            <a:r>
              <a:rPr lang="es-MX" dirty="0" smtClean="0">
                <a:latin typeface="Comic Sans MS" panose="030F0702030302020204" pitchFamily="66" charset="0"/>
              </a:rPr>
              <a:t>Recuerda que se revisará  cuando vuelvas al colegio.</a:t>
            </a:r>
            <a:endParaRPr lang="es-CL" dirty="0" smtClean="0">
              <a:latin typeface="Comic Sans MS" panose="030F0702030302020204" pitchFamily="66" charset="0"/>
            </a:endParaRPr>
          </a:p>
          <a:p>
            <a:endParaRPr lang="es-CL" dirty="0"/>
          </a:p>
        </p:txBody>
      </p:sp>
      <p:pic>
        <p:nvPicPr>
          <p:cNvPr id="5" name="Picture 3" descr="H:\IMG_20200403_225210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211960" y="404664"/>
            <a:ext cx="4407954" cy="554461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260648"/>
            <a:ext cx="6768752" cy="652934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Cualidad del sonido: Intensidad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r>
              <a:rPr lang="es-MX" dirty="0" smtClean="0">
                <a:latin typeface="Comic Sans MS" pitchFamily="66" charset="0"/>
              </a:rPr>
              <a:t>La intensidad es la cualidad del sonido que indica si el sonido es fuerte o es débil.</a:t>
            </a: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Si el sonido es fuerte  le dibujaremos una bocina</a:t>
            </a:r>
          </a:p>
          <a:p>
            <a:pPr>
              <a:buNone/>
            </a:pPr>
            <a:endParaRPr lang="es-MX" dirty="0" smtClean="0">
              <a:latin typeface="Comic Sans MS" pitchFamily="66" charset="0"/>
            </a:endParaRP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Si el sonido es </a:t>
            </a:r>
            <a:r>
              <a:rPr lang="es-MX" dirty="0" smtClean="0">
                <a:latin typeface="Comic Sans MS" pitchFamily="66" charset="0"/>
              </a:rPr>
              <a:t>débil </a:t>
            </a:r>
            <a:r>
              <a:rPr lang="es-MX" dirty="0" smtClean="0">
                <a:latin typeface="Comic Sans MS" pitchFamily="66" charset="0"/>
              </a:rPr>
              <a:t>le dibujaremos una pluma</a:t>
            </a:r>
            <a:endParaRPr lang="es-CL" dirty="0">
              <a:latin typeface="Comic Sans MS" pitchFamily="66" charset="0"/>
            </a:endParaRPr>
          </a:p>
        </p:txBody>
      </p:sp>
      <p:pic>
        <p:nvPicPr>
          <p:cNvPr id="18434" name="Picture 2" descr="Pluma, Dibujo, Libro Para Colorear imagen png - imagen ...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5004048" y="3304930"/>
            <a:ext cx="2304256" cy="1040116"/>
          </a:xfrm>
          <a:prstGeom prst="rect">
            <a:avLst/>
          </a:prstGeom>
          <a:noFill/>
        </p:spPr>
      </p:pic>
      <p:pic>
        <p:nvPicPr>
          <p:cNvPr id="18436" name="Picture 4" descr="Siyah çelik kafes, Cezaevi Polis karakolu Hiçbir u3067 Simge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572000" y="4941168"/>
            <a:ext cx="1656184" cy="1224136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8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8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Actividad </a:t>
            </a:r>
            <a:endParaRPr lang="es-CL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sz="quarter" idx="1"/>
          </p:nvPr>
        </p:nvSpPr>
        <p:spPr>
          <a:xfrm>
            <a:off x="2483768" y="1527048"/>
            <a:ext cx="6321904" cy="4206208"/>
          </a:xfrm>
        </p:spPr>
        <p:txBody>
          <a:bodyPr>
            <a:noAutofit/>
          </a:bodyPr>
          <a:lstStyle/>
          <a:p>
            <a:r>
              <a:rPr lang="es-MX" sz="2800" b="1" dirty="0" smtClean="0">
                <a:latin typeface="Comic Sans MS" pitchFamily="66" charset="0"/>
              </a:rPr>
              <a:t>Observa el siguiente video y descubre </a:t>
            </a:r>
          </a:p>
          <a:p>
            <a:r>
              <a:rPr lang="es-MX" sz="2800" b="1" dirty="0" smtClean="0">
                <a:latin typeface="Comic Sans MS" pitchFamily="66" charset="0"/>
              </a:rPr>
              <a:t>¿Cómo era el sonido cuando el duende golpeaba la puerta?</a:t>
            </a:r>
          </a:p>
          <a:p>
            <a:r>
              <a:rPr lang="es-MX" sz="2800" b="1" dirty="0" smtClean="0">
                <a:latin typeface="Comic Sans MS" pitchFamily="66" charset="0"/>
              </a:rPr>
              <a:t>¿Cómo era el sonido cuando el gigante golpeaba la puerta?</a:t>
            </a:r>
          </a:p>
          <a:p>
            <a:r>
              <a:rPr lang="es-CL" sz="2800" b="1" dirty="0" smtClean="0">
                <a:latin typeface="Comic Sans MS" pitchFamily="66" charset="0"/>
                <a:hlinkClick r:id="rId2"/>
              </a:rPr>
              <a:t>https://www.youtube.com/watch?v=W7VDeSFnMdk</a:t>
            </a:r>
            <a:endParaRPr lang="es-CL" sz="2800" b="1" dirty="0">
              <a:latin typeface="Comic Sans MS" pitchFamily="66" charset="0"/>
            </a:endParaRPr>
          </a:p>
        </p:txBody>
      </p:sp>
      <p:pic>
        <p:nvPicPr>
          <p:cNvPr id="19458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rcRect l="25177" t="35063" r="68735" b="38359"/>
          <a:stretch>
            <a:fillRect/>
          </a:stretch>
        </p:blipFill>
        <p:spPr bwMode="auto">
          <a:xfrm>
            <a:off x="323528" y="1844824"/>
            <a:ext cx="2232248" cy="35349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48680"/>
            <a:ext cx="3250704" cy="8689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semana 1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>
            <a:normAutofit/>
          </a:bodyPr>
          <a:lstStyle/>
          <a:p>
            <a:r>
              <a:rPr lang="es-CL" dirty="0" smtClean="0">
                <a:latin typeface="Comic Sans MS" panose="030F0702030302020204" pitchFamily="66" charset="0"/>
              </a:rPr>
              <a:t>Ahora saca tu cuaderno de </a:t>
            </a:r>
            <a:r>
              <a:rPr lang="es-CL" dirty="0" smtClean="0">
                <a:latin typeface="Comic Sans MS" panose="030F0702030302020204" pitchFamily="66" charset="0"/>
              </a:rPr>
              <a:t>Música  </a:t>
            </a:r>
            <a:r>
              <a:rPr lang="es-CL" dirty="0" smtClean="0">
                <a:latin typeface="Comic Sans MS" panose="030F0702030302020204" pitchFamily="66" charset="0"/>
              </a:rPr>
              <a:t>(rosado, con cuadros), copia lo siguiente de manera ordenada en tu cuaderno </a:t>
            </a:r>
          </a:p>
          <a:p>
            <a:r>
              <a:rPr lang="es-MX" dirty="0" smtClean="0">
                <a:latin typeface="Comic Sans MS" panose="030F0702030302020204" pitchFamily="66" charset="0"/>
              </a:rPr>
              <a:t>Recuerda que se revisará  cuando vuelvas al colegio.</a:t>
            </a:r>
            <a:endParaRPr lang="es-CL" dirty="0" smtClean="0">
              <a:latin typeface="Comic Sans MS" panose="030F0702030302020204" pitchFamily="66" charset="0"/>
            </a:endParaRPr>
          </a:p>
          <a:p>
            <a:endParaRPr lang="es-CL" dirty="0"/>
          </a:p>
        </p:txBody>
      </p:sp>
      <p:pic>
        <p:nvPicPr>
          <p:cNvPr id="6" name="Picture 2" descr="H:\IMG_20200403_225214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51920" y="332656"/>
            <a:ext cx="4320480" cy="604867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692696"/>
            <a:ext cx="8676456" cy="1324744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s-MX" sz="6600" dirty="0" smtClean="0">
                <a:solidFill>
                  <a:schemeClr val="accent2">
                    <a:lumMod val="60000"/>
                    <a:lumOff val="40000"/>
                  </a:schemeClr>
                </a:solidFill>
                <a:latin typeface="Comic Sans MS" pitchFamily="66" charset="0"/>
              </a:rPr>
              <a:t>2° semana de trabajo </a:t>
            </a:r>
          </a:p>
        </p:txBody>
      </p:sp>
      <p:pic>
        <p:nvPicPr>
          <p:cNvPr id="25602" name="Picture 2" descr="Ilustración Con Niños Felices Y Energético En Camino A La Escuela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555776" y="1988840"/>
            <a:ext cx="3744416" cy="3672408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395536" y="260648"/>
            <a:ext cx="7467600" cy="72494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MX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Recordemos las cualidades del sonido </a:t>
            </a:r>
            <a:endParaRPr lang="es-CL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67544" y="1268760"/>
            <a:ext cx="8064896" cy="4925144"/>
          </a:xfrm>
        </p:spPr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¿Recuerdas las cualidades del sonido vista la semana pasada?</a:t>
            </a:r>
          </a:p>
          <a:p>
            <a:r>
              <a:rPr lang="es-MX" dirty="0" smtClean="0">
                <a:latin typeface="Comic Sans MS" pitchFamily="66" charset="0"/>
              </a:rPr>
              <a:t>Sólo trabajaste con las cualidades del sonido:</a:t>
            </a:r>
          </a:p>
          <a:p>
            <a:endParaRPr lang="es-MX" dirty="0" smtClean="0">
              <a:latin typeface="Comic Sans MS" pitchFamily="66" charset="0"/>
            </a:endParaRPr>
          </a:p>
          <a:p>
            <a:endParaRPr lang="es-MX" dirty="0" smtClean="0">
              <a:latin typeface="Comic Sans MS" pitchFamily="66" charset="0"/>
            </a:endParaRPr>
          </a:p>
          <a:p>
            <a:endParaRPr lang="es-MX" dirty="0" smtClean="0">
              <a:latin typeface="Comic Sans MS" pitchFamily="66" charset="0"/>
            </a:endParaRP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Ahora esta semana trabajarás con las cualidades del sonido :</a:t>
            </a:r>
          </a:p>
          <a:p>
            <a:endParaRPr lang="es-CL" dirty="0">
              <a:latin typeface="Comic Sans MS" pitchFamily="66" charset="0"/>
            </a:endParaRPr>
          </a:p>
        </p:txBody>
      </p:sp>
      <p:sp>
        <p:nvSpPr>
          <p:cNvPr id="4" name="3 Marcador de contenido"/>
          <p:cNvSpPr>
            <a:spLocks noGrp="1"/>
          </p:cNvSpPr>
          <p:nvPr>
            <p:ph sz="quarter" idx="2"/>
          </p:nvPr>
        </p:nvSpPr>
        <p:spPr>
          <a:xfrm>
            <a:off x="2555776" y="2708920"/>
            <a:ext cx="3657600" cy="1396752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Altura </a:t>
            </a:r>
          </a:p>
          <a:p>
            <a:r>
              <a:rPr lang="es-MX" dirty="0" smtClean="0">
                <a:latin typeface="Comic Sans MS" pitchFamily="66" charset="0"/>
              </a:rPr>
              <a:t>Intensidad </a:t>
            </a:r>
            <a:endParaRPr lang="es-CL" dirty="0">
              <a:latin typeface="Comic Sans MS" pitchFamily="66" charset="0"/>
            </a:endParaRPr>
          </a:p>
        </p:txBody>
      </p:sp>
      <p:sp>
        <p:nvSpPr>
          <p:cNvPr id="5" name="3 Marcador de contenido"/>
          <p:cNvSpPr txBox="1">
            <a:spLocks/>
          </p:cNvSpPr>
          <p:nvPr/>
        </p:nvSpPr>
        <p:spPr>
          <a:xfrm>
            <a:off x="2627784" y="4797152"/>
            <a:ext cx="3657600" cy="139675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vert="horz">
            <a:normAutofit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lang="es-MX" sz="2400" dirty="0" smtClean="0">
                <a:latin typeface="Comic Sans MS" pitchFamily="66" charset="0"/>
              </a:rPr>
              <a:t>Duración</a:t>
            </a:r>
            <a:endParaRPr kumimoji="0" lang="es-MX" sz="2400" b="0" i="0" u="none" strike="noStrike" kern="1200" cap="none" spc="0" normalizeH="0" baseline="0" noProof="0" dirty="0" smtClean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ct val="70000"/>
              <a:buFont typeface="Wingdings"/>
              <a:buChar char=""/>
              <a:tabLst/>
              <a:defRPr/>
            </a:pPr>
            <a:r>
              <a:rPr kumimoji="0" lang="es-MX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dk1"/>
                </a:solidFill>
                <a:effectLst/>
                <a:uLnTx/>
                <a:uFillTx/>
                <a:latin typeface="Comic Sans MS" pitchFamily="66" charset="0"/>
                <a:ea typeface="+mn-ea"/>
                <a:cs typeface="+mn-cs"/>
              </a:rPr>
              <a:t>Timbre  </a:t>
            </a:r>
            <a:endParaRPr kumimoji="0" lang="es-CL" sz="2400" b="0" i="0" u="none" strike="noStrike" kern="1200" cap="none" spc="0" normalizeH="0" baseline="0" noProof="0" dirty="0">
              <a:ln>
                <a:noFill/>
              </a:ln>
              <a:solidFill>
                <a:schemeClr val="dk1"/>
              </a:solidFill>
              <a:effectLst/>
              <a:uLnTx/>
              <a:uFillTx/>
              <a:latin typeface="Comic Sans MS" pitchFamily="66" charset="0"/>
              <a:ea typeface="+mn-ea"/>
              <a:cs typeface="+mn-cs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476672"/>
            <a:ext cx="7467600" cy="652934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Cualidad del sonido: Duración  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La duración nos indica si el sonido es corto o es largo.</a:t>
            </a: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Si el sonido es largo dibujaremos un rectángulo largo.</a:t>
            </a: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Si el sonido es corto dibujaremos un rectángulo corto. </a:t>
            </a:r>
            <a:endParaRPr lang="es-CL" dirty="0">
              <a:latin typeface="Comic Sans MS" pitchFamily="66" charset="0"/>
            </a:endParaRPr>
          </a:p>
        </p:txBody>
      </p:sp>
      <p:sp>
        <p:nvSpPr>
          <p:cNvPr id="4" name="3 Rectángulo"/>
          <p:cNvSpPr/>
          <p:nvPr/>
        </p:nvSpPr>
        <p:spPr>
          <a:xfrm>
            <a:off x="1979712" y="3573016"/>
            <a:ext cx="2304256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5" name="4 Rectángulo"/>
          <p:cNvSpPr/>
          <p:nvPr/>
        </p:nvSpPr>
        <p:spPr>
          <a:xfrm>
            <a:off x="1979712" y="4941168"/>
            <a:ext cx="936104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MX" sz="4000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Actividad</a:t>
            </a:r>
            <a:endParaRPr lang="es-CL" sz="4000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707904" y="1527048"/>
            <a:ext cx="5097768" cy="4572000"/>
          </a:xfrm>
        </p:spPr>
        <p:txBody>
          <a:bodyPr>
            <a:noAutofit/>
          </a:bodyPr>
          <a:lstStyle/>
          <a:p>
            <a:r>
              <a:rPr lang="es-MX" sz="3200" dirty="0" smtClean="0">
                <a:latin typeface="Comic Sans MS" pitchFamily="66" charset="0"/>
              </a:rPr>
              <a:t>Musisón es un duende que descubre los sonidos, observa el siguiente video y descubre los sonidos largos y cortos </a:t>
            </a:r>
          </a:p>
          <a:p>
            <a:r>
              <a:rPr lang="es-CL" sz="3200" dirty="0" smtClean="0">
                <a:latin typeface="Comic Sans MS" pitchFamily="66" charset="0"/>
                <a:hlinkClick r:id="rId2"/>
              </a:rPr>
              <a:t>https://www.youtube.com/watch?v=KEXojOmh10I</a:t>
            </a:r>
            <a:endParaRPr lang="es-CL" sz="3200" dirty="0">
              <a:latin typeface="Comic Sans MS" pitchFamily="66" charset="0"/>
            </a:endParaRPr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DFF"/>
              </a:clrFrom>
              <a:clrTo>
                <a:srgbClr val="FFFDFF">
                  <a:alpha val="0"/>
                </a:srgbClr>
              </a:clrTo>
            </a:clrChange>
          </a:blip>
          <a:srcRect l="25177" t="35063" r="68735" b="38359"/>
          <a:stretch>
            <a:fillRect/>
          </a:stretch>
        </p:blipFill>
        <p:spPr bwMode="auto">
          <a:xfrm>
            <a:off x="395536" y="1628800"/>
            <a:ext cx="3168352" cy="5017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48680"/>
            <a:ext cx="3250704" cy="8689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semana 2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>
            <a:normAutofit/>
          </a:bodyPr>
          <a:lstStyle/>
          <a:p>
            <a:r>
              <a:rPr lang="es-CL" dirty="0" smtClean="0">
                <a:latin typeface="Comic Sans MS" panose="030F0702030302020204" pitchFamily="66" charset="0"/>
              </a:rPr>
              <a:t>Ahora saca tu cuaderno de </a:t>
            </a:r>
            <a:r>
              <a:rPr lang="es-CL" dirty="0" smtClean="0">
                <a:latin typeface="Comic Sans MS" panose="030F0702030302020204" pitchFamily="66" charset="0"/>
              </a:rPr>
              <a:t>Música  </a:t>
            </a:r>
            <a:r>
              <a:rPr lang="es-CL" dirty="0" smtClean="0">
                <a:latin typeface="Comic Sans MS" panose="030F0702030302020204" pitchFamily="66" charset="0"/>
              </a:rPr>
              <a:t>(rosado, con cuadros), copia lo siguiente de manera ordenada en tu cuaderno </a:t>
            </a:r>
          </a:p>
          <a:p>
            <a:r>
              <a:rPr lang="es-MX" dirty="0" smtClean="0">
                <a:latin typeface="Comic Sans MS" panose="030F0702030302020204" pitchFamily="66" charset="0"/>
              </a:rPr>
              <a:t>Recuerda que se revisará  cuando vuelvas al colegio.</a:t>
            </a:r>
            <a:endParaRPr lang="es-CL" dirty="0" smtClean="0">
              <a:latin typeface="Comic Sans MS" panose="030F0702030302020204" pitchFamily="66" charset="0"/>
            </a:endParaRPr>
          </a:p>
          <a:p>
            <a:endParaRPr lang="es-CL" dirty="0"/>
          </a:p>
        </p:txBody>
      </p:sp>
      <p:pic>
        <p:nvPicPr>
          <p:cNvPr id="5" name="Picture 3" descr="H:\IMG_20200403_225221.jpg"/>
          <p:cNvPicPr>
            <a:picLocks noChangeAspect="1" noChangeArrowheads="1"/>
          </p:cNvPicPr>
          <p:nvPr/>
        </p:nvPicPr>
        <p:blipFill>
          <a:blip r:embed="rId2" cstate="print"/>
          <a:srcRect l="3801" t="2751" r="10801" b="8001"/>
          <a:stretch>
            <a:fillRect/>
          </a:stretch>
        </p:blipFill>
        <p:spPr bwMode="auto">
          <a:xfrm>
            <a:off x="3923928" y="548680"/>
            <a:ext cx="4392488" cy="5256584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67544" y="476672"/>
            <a:ext cx="7467600" cy="652934"/>
          </a:xfrm>
          <a:effectLst>
            <a:glow rad="139700">
              <a:schemeClr val="accent1">
                <a:satMod val="175000"/>
                <a:alpha val="40000"/>
              </a:schemeClr>
            </a:glow>
          </a:effectLst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Cualidad del sonido: Timbre</a:t>
            </a:r>
            <a:endParaRPr lang="es-CL" b="1" dirty="0">
              <a:solidFill>
                <a:schemeClr val="accent1">
                  <a:lumMod val="75000"/>
                </a:schemeClr>
              </a:solidFill>
            </a:endParaRPr>
          </a:p>
        </p:txBody>
      </p:sp>
      <p:sp>
        <p:nvSpPr>
          <p:cNvPr id="4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s-MX" dirty="0" smtClean="0">
                <a:latin typeface="Comic Sans MS" pitchFamily="66" charset="0"/>
              </a:rPr>
              <a:t>El timbre nos permite diferenciar si el sonido proviene de una persona, animal, instrumento musical o un objeto. </a:t>
            </a:r>
          </a:p>
          <a:p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Observa el siguiente video </a:t>
            </a:r>
            <a:r>
              <a:rPr lang="es-CL" sz="4000" dirty="0" smtClean="0">
                <a:hlinkClick r:id="rId2"/>
              </a:rPr>
              <a:t>https://www.youtube.com/watch?v=YiQk0zcqreE&amp;t=2s</a:t>
            </a:r>
            <a:endParaRPr lang="es-CL" dirty="0">
              <a:latin typeface="Comic Sans MS" pitchFamily="66" charset="0"/>
            </a:endParaRPr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01752" y="404664"/>
            <a:ext cx="8503920" cy="2664296"/>
          </a:xfrm>
        </p:spPr>
        <p:txBody>
          <a:bodyPr>
            <a:normAutofit fontScale="92500" lnSpcReduction="10000"/>
          </a:bodyPr>
          <a:lstStyle/>
          <a:p>
            <a:r>
              <a:rPr lang="es-MX" dirty="0" smtClean="0">
                <a:latin typeface="Comic Sans MS" pitchFamily="66" charset="0"/>
              </a:rPr>
              <a:t>Observa a la niña , a la mujer y al hombre cantando todos aquellos tienen timbres diferentes al cantar.</a:t>
            </a:r>
          </a:p>
          <a:p>
            <a:r>
              <a:rPr lang="es-MX" dirty="0" smtClean="0">
                <a:latin typeface="Comic Sans MS" pitchFamily="66" charset="0"/>
              </a:rPr>
              <a:t>El timbre de una guitarra, de un </a:t>
            </a:r>
            <a:r>
              <a:rPr lang="es-MX" dirty="0" smtClean="0">
                <a:latin typeface="Comic Sans MS" pitchFamily="66" charset="0"/>
              </a:rPr>
              <a:t>violín </a:t>
            </a:r>
            <a:r>
              <a:rPr lang="es-MX" dirty="0" smtClean="0">
                <a:latin typeface="Comic Sans MS" pitchFamily="66" charset="0"/>
              </a:rPr>
              <a:t>es distinto a un </a:t>
            </a:r>
            <a:r>
              <a:rPr lang="es-MX" dirty="0" smtClean="0">
                <a:latin typeface="Comic Sans MS" pitchFamily="66" charset="0"/>
              </a:rPr>
              <a:t>violonchelo.</a:t>
            </a:r>
            <a:endParaRPr lang="es-MX" dirty="0" smtClean="0">
              <a:latin typeface="Comic Sans MS" pitchFamily="66" charset="0"/>
            </a:endParaRPr>
          </a:p>
          <a:p>
            <a:r>
              <a:rPr lang="es-MX" dirty="0" smtClean="0">
                <a:latin typeface="Comic Sans MS" pitchFamily="66" charset="0"/>
              </a:rPr>
              <a:t>Y por ultimo el rugido de un </a:t>
            </a:r>
            <a:r>
              <a:rPr lang="es-MX" dirty="0" smtClean="0">
                <a:latin typeface="Comic Sans MS" pitchFamily="66" charset="0"/>
              </a:rPr>
              <a:t>león </a:t>
            </a:r>
            <a:r>
              <a:rPr lang="es-MX" dirty="0" smtClean="0">
                <a:latin typeface="Comic Sans MS" pitchFamily="66" charset="0"/>
              </a:rPr>
              <a:t>es distinto al </a:t>
            </a:r>
            <a:r>
              <a:rPr lang="es-MX" dirty="0" smtClean="0">
                <a:latin typeface="Comic Sans MS" pitchFamily="66" charset="0"/>
              </a:rPr>
              <a:t>maullido </a:t>
            </a:r>
            <a:r>
              <a:rPr lang="es-MX" dirty="0" smtClean="0">
                <a:latin typeface="Comic Sans MS" pitchFamily="66" charset="0"/>
              </a:rPr>
              <a:t>de un gatito.</a:t>
            </a:r>
          </a:p>
          <a:p>
            <a:r>
              <a:rPr lang="es-MX" dirty="0" smtClean="0">
                <a:latin typeface="Comic Sans MS" pitchFamily="66" charset="0"/>
              </a:rPr>
              <a:t>¿Qué ejemplo </a:t>
            </a:r>
            <a:r>
              <a:rPr lang="es-MX" dirty="0" smtClean="0">
                <a:latin typeface="Comic Sans MS" pitchFamily="66" charset="0"/>
              </a:rPr>
              <a:t>darías </a:t>
            </a:r>
            <a:r>
              <a:rPr lang="es-MX" dirty="0" smtClean="0">
                <a:latin typeface="Comic Sans MS" pitchFamily="66" charset="0"/>
              </a:rPr>
              <a:t>tú?</a:t>
            </a:r>
          </a:p>
        </p:txBody>
      </p:sp>
      <p:sp>
        <p:nvSpPr>
          <p:cNvPr id="22530" name="AutoShape 2" descr="niñas cantando animadas - Buscar con Google | Niños cantando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22532" name="Picture 4" descr="niñas cantando animadas - Buscar con Google | Niños cantando ..."/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23528" y="3212976"/>
            <a:ext cx="1152128" cy="1792199"/>
          </a:xfrm>
          <a:prstGeom prst="rect">
            <a:avLst/>
          </a:prstGeom>
          <a:noFill/>
        </p:spPr>
      </p:pic>
      <p:pic>
        <p:nvPicPr>
          <p:cNvPr id="22534" name="Picture 6" descr="Joven Mujer Bonita Cantando Karaoke, Sosteniendo Micrófono, Vista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8571" r="24490"/>
          <a:stretch>
            <a:fillRect/>
          </a:stretch>
        </p:blipFill>
        <p:spPr bwMode="auto">
          <a:xfrm>
            <a:off x="1547664" y="3140968"/>
            <a:ext cx="1047790" cy="2232248"/>
          </a:xfrm>
          <a:prstGeom prst="rect">
            <a:avLst/>
          </a:prstGeom>
          <a:noFill/>
        </p:spPr>
      </p:pic>
      <p:sp>
        <p:nvSpPr>
          <p:cNvPr id="22536" name="AutoShape 8" descr="Ilustración de Hombre Cantando En Un Micrófono Personaje De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22538" name="Picture 10" descr="Ilustración de Hombre Cantando En Un Micrófono Personaje De ...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99792" y="3212976"/>
            <a:ext cx="1080120" cy="2016224"/>
          </a:xfrm>
          <a:prstGeom prst="rect">
            <a:avLst/>
          </a:prstGeom>
          <a:noFill/>
        </p:spPr>
      </p:pic>
      <p:sp>
        <p:nvSpPr>
          <p:cNvPr id="22540" name="AutoShape 12" descr="DROPOUT STORE » Guitarra Acústica Yamaha C80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22542" name="Picture 14" descr="Sin Marca Guitarra Acústica Dolores DOL-EST con funda - Falabella.com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0903" r="30862" b="2941"/>
          <a:stretch>
            <a:fillRect/>
          </a:stretch>
        </p:blipFill>
        <p:spPr bwMode="auto">
          <a:xfrm>
            <a:off x="3635896" y="4005064"/>
            <a:ext cx="936104" cy="2376264"/>
          </a:xfrm>
          <a:prstGeom prst="rect">
            <a:avLst/>
          </a:prstGeom>
          <a:noFill/>
        </p:spPr>
      </p:pic>
      <p:pic>
        <p:nvPicPr>
          <p:cNvPr id="22544" name="Picture 16" descr="Violin Gewa tamaño 4/4 con estuche y accesorios | Casa Amarilla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1250" t="12500" r="28125"/>
          <a:stretch>
            <a:fillRect/>
          </a:stretch>
        </p:blipFill>
        <p:spPr bwMode="auto">
          <a:xfrm rot="5574988">
            <a:off x="3923928" y="3140968"/>
            <a:ext cx="668646" cy="1440160"/>
          </a:xfrm>
          <a:prstGeom prst="rect">
            <a:avLst/>
          </a:prstGeom>
          <a:noFill/>
        </p:spPr>
      </p:pic>
      <p:sp>
        <p:nvSpPr>
          <p:cNvPr id="22546" name="AutoShape 18" descr="Violonchelo | Qué es, características, historia, partes, para qué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22548" name="AutoShape 20" descr="Violonchelo | Qué es, características, historia, partes, para qué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22550" name="Picture 22" descr="Diferencias entre violonchelo y contrabajo – Sooluciona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860032" y="4653136"/>
            <a:ext cx="2250250" cy="1440160"/>
          </a:xfrm>
          <a:prstGeom prst="rect">
            <a:avLst/>
          </a:prstGeom>
          <a:noFill/>
        </p:spPr>
      </p:pic>
      <p:pic>
        <p:nvPicPr>
          <p:cNvPr id="22552" name="Picture 24" descr="Los Animales en Mayor Peligro de Extinción - Lista 2020 y Vídeo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 flipH="1">
            <a:off x="5148064" y="2420888"/>
            <a:ext cx="2268252" cy="1512168"/>
          </a:xfrm>
          <a:prstGeom prst="rect">
            <a:avLst/>
          </a:prstGeom>
          <a:noFill/>
        </p:spPr>
      </p:pic>
      <p:pic>
        <p:nvPicPr>
          <p:cNvPr id="22554" name="Picture 26" descr="Bienvenido a casa gatito! Cómo cuidar de mi gato recién nacido - Blog"/>
          <p:cNvPicPr>
            <a:picLocks noChangeAspect="1" noChangeArrowheads="1"/>
          </p:cNvPicPr>
          <p:nvPr/>
        </p:nvPicPr>
        <p:blipFill>
          <a:blip r:embed="rId9" cstate="print"/>
          <a:srcRect l="27907" t="4651" r="31783" b="13953"/>
          <a:stretch>
            <a:fillRect/>
          </a:stretch>
        </p:blipFill>
        <p:spPr bwMode="auto">
          <a:xfrm>
            <a:off x="7092280" y="3861048"/>
            <a:ext cx="1872208" cy="252028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2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22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25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548680"/>
            <a:ext cx="3250704" cy="86895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pPr algn="ctr"/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semana 2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457200" y="1600200"/>
            <a:ext cx="3466728" cy="4873752"/>
          </a:xfrm>
        </p:spPr>
        <p:txBody>
          <a:bodyPr>
            <a:normAutofit/>
          </a:bodyPr>
          <a:lstStyle/>
          <a:p>
            <a:r>
              <a:rPr lang="es-CL" dirty="0" smtClean="0">
                <a:latin typeface="Comic Sans MS" panose="030F0702030302020204" pitchFamily="66" charset="0"/>
              </a:rPr>
              <a:t>Ahora saca tu cuaderno de </a:t>
            </a:r>
            <a:r>
              <a:rPr lang="es-CL" dirty="0" smtClean="0">
                <a:latin typeface="Comic Sans MS" panose="030F0702030302020204" pitchFamily="66" charset="0"/>
              </a:rPr>
              <a:t>Música  </a:t>
            </a:r>
            <a:r>
              <a:rPr lang="es-CL" dirty="0" smtClean="0">
                <a:latin typeface="Comic Sans MS" panose="030F0702030302020204" pitchFamily="66" charset="0"/>
              </a:rPr>
              <a:t>(rosado, con cuadros), copia lo siguiente de manera ordenada en tu cuaderno </a:t>
            </a:r>
          </a:p>
          <a:p>
            <a:r>
              <a:rPr lang="es-MX" dirty="0" smtClean="0">
                <a:latin typeface="Comic Sans MS" panose="030F0702030302020204" pitchFamily="66" charset="0"/>
              </a:rPr>
              <a:t>Recuerda que se revisará  cuando vuelvas al colegio.</a:t>
            </a:r>
            <a:endParaRPr lang="es-CL" dirty="0" smtClean="0">
              <a:latin typeface="Comic Sans MS" panose="030F0702030302020204" pitchFamily="66" charset="0"/>
            </a:endParaRPr>
          </a:p>
          <a:p>
            <a:endParaRPr lang="es-CL" dirty="0"/>
          </a:p>
        </p:txBody>
      </p:sp>
      <p:pic>
        <p:nvPicPr>
          <p:cNvPr id="6" name="Picture 2" descr="H:\IMG_20200403_225224.jpg"/>
          <p:cNvPicPr>
            <a:picLocks noChangeAspect="1" noChangeArrowheads="1"/>
          </p:cNvPicPr>
          <p:nvPr/>
        </p:nvPicPr>
        <p:blipFill>
          <a:blip r:embed="rId2" cstate="print"/>
          <a:srcRect l="10801" t="2751" r="5201" b="8001"/>
          <a:stretch>
            <a:fillRect/>
          </a:stretch>
        </p:blipFill>
        <p:spPr bwMode="auto">
          <a:xfrm>
            <a:off x="4211960" y="260648"/>
            <a:ext cx="4320480" cy="612068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55576" y="476672"/>
            <a:ext cx="3178696" cy="508918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 fontScale="90000"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Tarea semana 2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395536" y="1196752"/>
            <a:ext cx="8003232" cy="3412976"/>
          </a:xfrm>
        </p:spPr>
        <p:txBody>
          <a:bodyPr/>
          <a:lstStyle/>
          <a:p>
            <a:r>
              <a:rPr lang="es-MX" sz="2800" dirty="0" smtClean="0">
                <a:latin typeface="Comic Sans MS" pitchFamily="66" charset="0"/>
              </a:rPr>
              <a:t>Escucha atentamente los sonidos del siguiente video y clasifícalos en un cuadro según su cualidad  </a:t>
            </a:r>
            <a:r>
              <a:rPr lang="es-CL" sz="2800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  <a:hlinkClick r:id="rId2"/>
              </a:rPr>
              <a:t>https://www.youtube.com/watch?v=6NPl3oXrk8I</a:t>
            </a:r>
            <a:r>
              <a:rPr lang="es-CL" sz="2800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 </a:t>
            </a:r>
          </a:p>
          <a:p>
            <a:r>
              <a:rPr lang="es-MX" b="1" dirty="0" smtClean="0">
                <a:latin typeface="Comic Sans MS" pitchFamily="66" charset="0"/>
              </a:rPr>
              <a:t>Copia el cuadro en tu cuaderno de música. Ya que  cuando regreses al colegio, será revisado.</a:t>
            </a:r>
            <a:endParaRPr lang="es-CL" b="1" dirty="0">
              <a:latin typeface="Comic Sans MS" pitchFamily="66" charset="0"/>
            </a:endParaRPr>
          </a:p>
        </p:txBody>
      </p:sp>
      <p:graphicFrame>
        <p:nvGraphicFramePr>
          <p:cNvPr id="4" name="3 Tabla"/>
          <p:cNvGraphicFramePr>
            <a:graphicFrameLocks noGrp="1"/>
          </p:cNvGraphicFramePr>
          <p:nvPr/>
        </p:nvGraphicFramePr>
        <p:xfrm>
          <a:off x="1259632" y="4365104"/>
          <a:ext cx="6096000" cy="2214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4176"/>
                <a:gridCol w="4511824"/>
              </a:tblGrid>
              <a:tr h="442848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Simbología 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Altura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Intensidad 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Duración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</a:tr>
              <a:tr h="442848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Timbre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Dibujar el</a:t>
                      </a:r>
                      <a:r>
                        <a:rPr lang="es-MX" baseline="0" dirty="0" smtClean="0">
                          <a:latin typeface="Comic Sans MS" pitchFamily="66" charset="0"/>
                        </a:rPr>
                        <a:t> objeto o ser vivo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4 Flecha abajo"/>
          <p:cNvSpPr/>
          <p:nvPr/>
        </p:nvSpPr>
        <p:spPr>
          <a:xfrm>
            <a:off x="3059832" y="4869160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7" name="6 Flecha abajo"/>
          <p:cNvSpPr/>
          <p:nvPr/>
        </p:nvSpPr>
        <p:spPr>
          <a:xfrm rot="10800000">
            <a:off x="3491880" y="4869160"/>
            <a:ext cx="288032" cy="288032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8" name="Picture 4" descr="Siyah çelik kafes, Cezaevi Polis karakolu Hiçbir u3067 Simge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987824" y="5301208"/>
            <a:ext cx="584535" cy="288032"/>
          </a:xfrm>
          <a:prstGeom prst="rect">
            <a:avLst/>
          </a:prstGeom>
          <a:noFill/>
        </p:spPr>
      </p:pic>
      <p:pic>
        <p:nvPicPr>
          <p:cNvPr id="9" name="Picture 2" descr="Pluma, Dibujo, Libro Para Colorear imagen png - imagen ...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3707904" y="5301208"/>
            <a:ext cx="797626" cy="360040"/>
          </a:xfrm>
          <a:prstGeom prst="rect">
            <a:avLst/>
          </a:prstGeom>
          <a:noFill/>
        </p:spPr>
      </p:pic>
      <p:sp>
        <p:nvSpPr>
          <p:cNvPr id="10" name="9 Rectángulo"/>
          <p:cNvSpPr/>
          <p:nvPr/>
        </p:nvSpPr>
        <p:spPr>
          <a:xfrm>
            <a:off x="2987824" y="5805264"/>
            <a:ext cx="151216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10 Rectángulo"/>
          <p:cNvSpPr/>
          <p:nvPr/>
        </p:nvSpPr>
        <p:spPr>
          <a:xfrm>
            <a:off x="4788024" y="5877272"/>
            <a:ext cx="72008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7" grpId="0" animBg="1"/>
      <p:bldP spid="10" grpId="0" animBg="1"/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539552" y="188640"/>
            <a:ext cx="7543800" cy="651346"/>
          </a:xfr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>
            <a:normAutofit/>
          </a:bodyPr>
          <a:lstStyle/>
          <a:p>
            <a:r>
              <a:rPr lang="es-MX" b="1" dirty="0" smtClean="0">
                <a:solidFill>
                  <a:schemeClr val="accent1">
                    <a:lumMod val="75000"/>
                  </a:schemeClr>
                </a:solidFill>
                <a:latin typeface="Comic Sans MS" pitchFamily="66" charset="0"/>
              </a:rPr>
              <a:t>Cualidades del sonido ejercicios </a:t>
            </a:r>
            <a:endParaRPr lang="es-CL" b="1" dirty="0">
              <a:solidFill>
                <a:schemeClr val="accent1">
                  <a:lumMod val="75000"/>
                </a:schemeClr>
              </a:solidFill>
              <a:latin typeface="Comic Sans MS" pitchFamily="66" charset="0"/>
            </a:endParaRPr>
          </a:p>
        </p:txBody>
      </p:sp>
      <p:graphicFrame>
        <p:nvGraphicFramePr>
          <p:cNvPr id="4" name="3 Marcador de contenido"/>
          <p:cNvGraphicFramePr>
            <a:graphicFrameLocks noGrp="1"/>
          </p:cNvGraphicFramePr>
          <p:nvPr>
            <p:ph sz="quarter" idx="2"/>
          </p:nvPr>
        </p:nvGraphicFramePr>
        <p:xfrm>
          <a:off x="251518" y="980726"/>
          <a:ext cx="8352932" cy="554461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2088233"/>
                <a:gridCol w="2088233"/>
                <a:gridCol w="2088233"/>
              </a:tblGrid>
              <a:tr h="496307">
                <a:tc>
                  <a:txBody>
                    <a:bodyPr/>
                    <a:lstStyle/>
                    <a:p>
                      <a:r>
                        <a:rPr lang="es-MX" dirty="0" smtClean="0"/>
                        <a:t>Timbre</a:t>
                      </a:r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Altura</a:t>
                      </a:r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Intensidad </a:t>
                      </a:r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/>
                        <a:t>Duración </a:t>
                      </a:r>
                      <a:endParaRPr lang="es-CL" dirty="0"/>
                    </a:p>
                  </a:txBody>
                  <a:tcPr marL="44787" marR="44787"/>
                </a:tc>
              </a:tr>
              <a:tr h="1009662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1009662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1009662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1009662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1009662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</a:tbl>
          </a:graphicData>
        </a:graphic>
      </p:graphicFrame>
      <p:pic>
        <p:nvPicPr>
          <p:cNvPr id="4098" name="Picture 2" descr="Dibujo para colorear perro - Dibujos Para Imprimir Grati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55576" y="1844824"/>
            <a:ext cx="1080120" cy="549318"/>
          </a:xfrm>
          <a:prstGeom prst="rect">
            <a:avLst/>
          </a:prstGeom>
          <a:noFill/>
        </p:spPr>
      </p:pic>
      <p:pic>
        <p:nvPicPr>
          <p:cNvPr id="9" name="Picture 4" descr="Siyah çelik kafes, Cezaevi Polis karakolu Hiçbir u3067 Simge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076056" y="1844824"/>
            <a:ext cx="876803" cy="432048"/>
          </a:xfrm>
          <a:prstGeom prst="rect">
            <a:avLst/>
          </a:prstGeom>
          <a:noFill/>
        </p:spPr>
      </p:pic>
      <p:sp>
        <p:nvSpPr>
          <p:cNvPr id="10" name="9 Flecha abajo"/>
          <p:cNvSpPr/>
          <p:nvPr/>
        </p:nvSpPr>
        <p:spPr>
          <a:xfrm>
            <a:off x="3059832" y="1916832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1" name="10 Rectángulo"/>
          <p:cNvSpPr/>
          <p:nvPr/>
        </p:nvSpPr>
        <p:spPr>
          <a:xfrm>
            <a:off x="6804248" y="1916832"/>
            <a:ext cx="151216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100" name="AutoShape 4" descr="99 DIBUJOS DE PÁJAROS Y AVES ® Pájaros para colorear infanti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4102" name="AutoShape 6" descr="99 DIBUJOS DE PÁJAROS Y AVES ® Pájaros para colorear infanti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4104" name="AutoShape 8" descr="99 DIBUJOS DE PÁJAROS Y AVES ® Pájaros para colorear infantiles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4106" name="Picture 10" descr="Dibujo de gorrion bonito pintado por Soledadd en Dibujos.net el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9592" y="2708920"/>
            <a:ext cx="792088" cy="620469"/>
          </a:xfrm>
          <a:prstGeom prst="rect">
            <a:avLst/>
          </a:prstGeom>
          <a:noFill/>
        </p:spPr>
      </p:pic>
      <p:pic>
        <p:nvPicPr>
          <p:cNvPr id="16" name="Picture 2" descr="Pluma, Dibujo, Libro Para Colorear imagen png - imagen ...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2F2F2"/>
              </a:clrFrom>
              <a:clrTo>
                <a:srgbClr val="F2F2F2">
                  <a:alpha val="0"/>
                </a:srgbClr>
              </a:clrTo>
            </a:clrChange>
            <a:lum contrast="40000"/>
          </a:blip>
          <a:srcRect/>
          <a:stretch>
            <a:fillRect/>
          </a:stretch>
        </p:blipFill>
        <p:spPr bwMode="auto">
          <a:xfrm>
            <a:off x="4788024" y="2852936"/>
            <a:ext cx="1224136" cy="552562"/>
          </a:xfrm>
          <a:prstGeom prst="rect">
            <a:avLst/>
          </a:prstGeom>
          <a:noFill/>
        </p:spPr>
      </p:pic>
      <p:sp>
        <p:nvSpPr>
          <p:cNvPr id="17" name="16 Flecha abajo"/>
          <p:cNvSpPr/>
          <p:nvPr/>
        </p:nvSpPr>
        <p:spPr>
          <a:xfrm rot="10800000">
            <a:off x="3059832" y="2780928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18" name="17 Rectángulo"/>
          <p:cNvSpPr/>
          <p:nvPr/>
        </p:nvSpPr>
        <p:spPr>
          <a:xfrm>
            <a:off x="7020272" y="2924944"/>
            <a:ext cx="79208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4108" name="Picture 12" descr="Una motocicleta pesada roja. Dibujo a mano de una motocicleta de ...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827584" y="3717032"/>
            <a:ext cx="936104" cy="576064"/>
          </a:xfrm>
          <a:prstGeom prst="rect">
            <a:avLst/>
          </a:prstGeom>
          <a:noFill/>
        </p:spPr>
      </p:pic>
      <p:sp>
        <p:nvSpPr>
          <p:cNvPr id="20" name="19 Flecha abajo"/>
          <p:cNvSpPr/>
          <p:nvPr/>
        </p:nvSpPr>
        <p:spPr>
          <a:xfrm rot="10800000">
            <a:off x="3059832" y="3861048"/>
            <a:ext cx="360040" cy="36004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21" name="Picture 4" descr="Siyah çelik kafes, Cezaevi Polis karakolu Hiçbir u3067 Simge ..."/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CCCCCC"/>
              </a:clrFrom>
              <a:clrTo>
                <a:srgbClr val="CCCCCC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932040" y="3789040"/>
            <a:ext cx="876803" cy="432048"/>
          </a:xfrm>
          <a:prstGeom prst="rect">
            <a:avLst/>
          </a:prstGeom>
          <a:noFill/>
        </p:spPr>
      </p:pic>
      <p:sp>
        <p:nvSpPr>
          <p:cNvPr id="22" name="21 Rectángulo"/>
          <p:cNvSpPr/>
          <p:nvPr/>
        </p:nvSpPr>
        <p:spPr>
          <a:xfrm>
            <a:off x="6732240" y="3861048"/>
            <a:ext cx="1512168" cy="21602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sp>
        <p:nvSpPr>
          <p:cNvPr id="4110" name="AutoShape 14" descr="Guitarra Acústica, Información básica que quieres sab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4112" name="AutoShape 16" descr="Guitarra Acústica, Información básica que quieres saber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4114" name="Picture 18" descr="GUITARRA ACUSTICA YAMAHA C-40 - Amplificación y Sonido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755576" y="4869160"/>
            <a:ext cx="1139604" cy="432048"/>
          </a:xfrm>
          <a:prstGeom prst="rect">
            <a:avLst/>
          </a:prstGeom>
          <a:noFill/>
        </p:spPr>
      </p:pic>
      <p:pic>
        <p:nvPicPr>
          <p:cNvPr id="4116" name="Picture 20" descr="Teléfono IP/SIP. GXP1760W-HD WIFI. Grandstream - IP Market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971600" y="5733256"/>
            <a:ext cx="648072" cy="648072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4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2" dur="500"/>
                                        <p:tgtEl>
                                          <p:spTgt spid="4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2" dur="500"/>
                                        <p:tgtEl>
                                          <p:spTgt spid="4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67" dur="500"/>
                                        <p:tgtEl>
                                          <p:spTgt spid="4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2" dur="500"/>
                                        <p:tgtEl>
                                          <p:spTgt spid="4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7" grpId="0" animBg="1"/>
      <p:bldP spid="18" grpId="0" animBg="1"/>
      <p:bldP spid="20" grpId="0" animBg="1"/>
      <p:bldP spid="2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3 Marcador de contenido"/>
          <p:cNvGraphicFramePr>
            <a:graphicFrameLocks noGrp="1"/>
          </p:cNvGraphicFramePr>
          <p:nvPr>
            <p:ph sz="quarter" idx="2"/>
          </p:nvPr>
        </p:nvGraphicFramePr>
        <p:xfrm>
          <a:off x="251520" y="1340768"/>
          <a:ext cx="8352932" cy="50405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8233"/>
                <a:gridCol w="2088233"/>
                <a:gridCol w="2088233"/>
                <a:gridCol w="2088233"/>
              </a:tblGrid>
              <a:tr h="840093"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Timbre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Altura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Intensidad 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r>
                        <a:rPr lang="es-MX" dirty="0" smtClean="0">
                          <a:latin typeface="Comic Sans MS" pitchFamily="66" charset="0"/>
                        </a:rPr>
                        <a:t>Duración </a:t>
                      </a:r>
                      <a:endParaRPr lang="es-CL" dirty="0">
                        <a:latin typeface="Comic Sans MS" pitchFamily="66" charset="0"/>
                      </a:endParaRPr>
                    </a:p>
                  </a:txBody>
                  <a:tcPr marL="44787" marR="44787"/>
                </a:tc>
              </a:tr>
              <a:tr h="840093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840093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840093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840093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  <a:tr h="840093"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  <a:tc>
                  <a:txBody>
                    <a:bodyPr/>
                    <a:lstStyle/>
                    <a:p>
                      <a:endParaRPr lang="es-CL" dirty="0"/>
                    </a:p>
                  </a:txBody>
                  <a:tcPr marL="44787" marR="44787"/>
                </a:tc>
              </a:tr>
            </a:tbl>
          </a:graphicData>
        </a:graphic>
      </p:graphicFrame>
      <p:sp>
        <p:nvSpPr>
          <p:cNvPr id="5" name="4 Marcador de texto"/>
          <p:cNvSpPr>
            <a:spLocks noGrp="1"/>
          </p:cNvSpPr>
          <p:nvPr>
            <p:ph type="body" sz="quarter" idx="1"/>
          </p:nvPr>
        </p:nvSpPr>
        <p:spPr>
          <a:xfrm>
            <a:off x="395536" y="188640"/>
            <a:ext cx="8280920" cy="864096"/>
          </a:xfrm>
        </p:spPr>
        <p:txBody>
          <a:bodyPr/>
          <a:lstStyle/>
          <a:p>
            <a:r>
              <a:rPr lang="es-MX" sz="2800" dirty="0" smtClean="0">
                <a:latin typeface="Comic Sans MS" pitchFamily="66" charset="0"/>
              </a:rPr>
              <a:t>Continua con la actividad anterior… </a:t>
            </a:r>
            <a:endParaRPr lang="es-CL" sz="2800" dirty="0">
              <a:latin typeface="Comic Sans MS" pitchFamily="66" charset="0"/>
            </a:endParaRPr>
          </a:p>
        </p:txBody>
      </p:sp>
      <p:pic>
        <p:nvPicPr>
          <p:cNvPr id="39938" name="Picture 2" descr="Refranes sobre la Lluvia - Frases y Citas Célebres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11560" y="2132856"/>
            <a:ext cx="1248139" cy="792088"/>
          </a:xfrm>
          <a:prstGeom prst="rect">
            <a:avLst/>
          </a:prstGeom>
          <a:noFill/>
        </p:spPr>
      </p:pic>
      <p:sp>
        <p:nvSpPr>
          <p:cNvPr id="39940" name="AutoShape 4" descr="Bubo bubo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39942" name="AutoShape 6" descr="Bubo bubo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39944" name="AutoShape 8" descr="Bubo bubo - Wikipedia, la enciclopedia libre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39946" name="Picture 10" descr="5 gifs de búhos que muestran el lado sarcástico de la naturaleza"/>
          <p:cNvPicPr>
            <a:picLocks noChangeAspect="1" noChangeArrowheads="1"/>
          </p:cNvPicPr>
          <p:nvPr/>
        </p:nvPicPr>
        <p:blipFill>
          <a:blip r:embed="rId3" cstate="print"/>
          <a:srcRect l="27700"/>
          <a:stretch>
            <a:fillRect/>
          </a:stretch>
        </p:blipFill>
        <p:spPr bwMode="auto">
          <a:xfrm>
            <a:off x="683568" y="3045106"/>
            <a:ext cx="1008112" cy="783392"/>
          </a:xfrm>
          <a:prstGeom prst="rect">
            <a:avLst/>
          </a:prstGeom>
          <a:noFill/>
        </p:spPr>
      </p:pic>
      <p:sp>
        <p:nvSpPr>
          <p:cNvPr id="39948" name="AutoShape 12" descr="Los 8 autos de policía más impresionantes de la historia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39950" name="Picture 14" descr="Un policía descubre a una pareja teniendo sexo en el coche ...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11560" y="3933056"/>
            <a:ext cx="1296144" cy="734913"/>
          </a:xfrm>
          <a:prstGeom prst="rect">
            <a:avLst/>
          </a:prstGeom>
          <a:noFill/>
        </p:spPr>
      </p:pic>
      <p:pic>
        <p:nvPicPr>
          <p:cNvPr id="39952" name="Picture 16" descr="Descubierto un nuevo comportamiento de las gotas de agua | iAgua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4725144"/>
            <a:ext cx="936104" cy="720080"/>
          </a:xfrm>
          <a:prstGeom prst="rect">
            <a:avLst/>
          </a:prstGeom>
          <a:noFill/>
        </p:spPr>
      </p:pic>
      <p:pic>
        <p:nvPicPr>
          <p:cNvPr id="39954" name="Picture 18" descr="7 cortes de pelo para mujeres con mucho cabello (FOTOS) | Siempre ...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39552" y="5517232"/>
            <a:ext cx="1368152" cy="817685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99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99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9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9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9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>
          <a:xfrm>
            <a:off x="755576" y="1600201"/>
            <a:ext cx="7776864" cy="1540768"/>
          </a:xfrm>
        </p:spPr>
        <p:txBody>
          <a:bodyPr>
            <a:normAutofit/>
          </a:bodyPr>
          <a:lstStyle/>
          <a:p>
            <a:r>
              <a:rPr lang="es-MX" dirty="0" smtClean="0"/>
              <a:t>¿Qué aprendiste en esta clase?</a:t>
            </a:r>
          </a:p>
          <a:p>
            <a:r>
              <a:rPr lang="es-MX" dirty="0" smtClean="0"/>
              <a:t>¿Qué fue lo que te gustó ?</a:t>
            </a:r>
          </a:p>
          <a:p>
            <a:r>
              <a:rPr lang="es-MX" dirty="0" smtClean="0"/>
              <a:t>Nos vemos en la próxima clase.</a:t>
            </a:r>
            <a:endParaRPr lang="es-CL" dirty="0"/>
          </a:p>
        </p:txBody>
      </p:sp>
      <p:sp>
        <p:nvSpPr>
          <p:cNvPr id="26626" name="AutoShape 2" descr="Estaciones del año | Estaciones del año, Imagenes de la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sp>
        <p:nvSpPr>
          <p:cNvPr id="26628" name="AutoShape 4" descr="Estaciones del año | Estaciones del año, Imagenes de las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CL" dirty="0"/>
          </a:p>
        </p:txBody>
      </p:sp>
      <p:pic>
        <p:nvPicPr>
          <p:cNvPr id="3074" name="Picture 2" descr="A.M.P.A. Josep Tarradellas: Nos Mudamos"/>
          <p:cNvPicPr>
            <a:picLocks noChangeAspect="1" noChangeArrowheads="1" noCrop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043608" y="3212976"/>
            <a:ext cx="5400600" cy="2998054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3" name="2 Marcador de contenido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endParaRPr lang="es-CL" dirty="0"/>
          </a:p>
        </p:txBody>
      </p:sp>
      <p:pic>
        <p:nvPicPr>
          <p:cNvPr id="1026" name="Picture 2" descr="Home Page - Club Regatas Lim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1"/>
            <a:ext cx="9143999" cy="6858000"/>
          </a:xfrm>
          <a:prstGeom prst="rect">
            <a:avLst/>
          </a:prstGeom>
          <a:noFill/>
        </p:spPr>
      </p:pic>
    </p:spTree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irador">
  <a:themeElements>
    <a:clrScheme name="Brío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Mirador">
      <a:majorFont>
        <a:latin typeface="Century Schoolbook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entury Schoolbook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Mirador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60000"/>
              </a:schemeClr>
            </a:gs>
            <a:gs pos="30000">
              <a:schemeClr val="phClr">
                <a:tint val="38000"/>
                <a:satMod val="260000"/>
              </a:schemeClr>
            </a:gs>
            <a:gs pos="75000">
              <a:schemeClr val="phClr">
                <a:tint val="55000"/>
                <a:satMod val="255000"/>
              </a:schemeClr>
            </a:gs>
            <a:gs pos="100000">
              <a:schemeClr val="phClr">
                <a:tint val="70000"/>
                <a:satMod val="255000"/>
              </a:schemeClr>
            </a:gs>
          </a:gsLst>
          <a:path path="circle">
            <a:fillToRect l="5000" t="100000" r="120000" b="10000"/>
          </a:path>
        </a:gradFill>
        <a:gradFill rotWithShape="1">
          <a:gsLst>
            <a:gs pos="0">
              <a:schemeClr val="phClr">
                <a:shade val="63000"/>
                <a:satMod val="165000"/>
              </a:schemeClr>
            </a:gs>
            <a:gs pos="30000">
              <a:schemeClr val="phClr">
                <a:shade val="58000"/>
                <a:satMod val="165000"/>
              </a:schemeClr>
            </a:gs>
            <a:gs pos="75000">
              <a:schemeClr val="phClr">
                <a:shade val="30000"/>
                <a:satMod val="175000"/>
              </a:schemeClr>
            </a:gs>
            <a:gs pos="100000">
              <a:schemeClr val="phClr">
                <a:shade val="15000"/>
                <a:satMod val="175000"/>
              </a:schemeClr>
            </a:gs>
          </a:gsLst>
          <a:path path="circle">
            <a:fillToRect l="5000" t="100000" r="120000" b="10000"/>
          </a:path>
        </a:gradFill>
      </a:fillStyleLst>
      <a:lnStyleLst>
        <a:ln w="12700" cap="flat" cmpd="sng" algn="ctr">
          <a:solidFill>
            <a:schemeClr val="phClr">
              <a:shade val="70000"/>
              <a:satMod val="15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492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</a:effectStyle>
        <a:effectStyle>
          <a:effectLst>
            <a:outerShdw blurRad="50800" dist="20000" dir="5400000" rotWithShape="0">
              <a:srgbClr val="000000">
                <a:alpha val="4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0"/>
            </a:lightRig>
          </a:scene3d>
          <a:sp3d>
            <a:bevelT w="47625" h="69850"/>
            <a:contourClr>
              <a:schemeClr val="lt1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58000"/>
                <a:satMod val="125000"/>
              </a:schemeClr>
            </a:gs>
            <a:gs pos="40000">
              <a:schemeClr val="phClr">
                <a:tint val="90000"/>
                <a:shade val="90000"/>
                <a:satMod val="120000"/>
              </a:schemeClr>
            </a:gs>
            <a:gs pos="100000">
              <a:schemeClr val="phClr">
                <a:tint val="5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80000"/>
              </a:schemeClr>
              <a:schemeClr val="phClr">
                <a:tint val="91000"/>
              </a:schemeClr>
            </a:duotone>
          </a:blip>
          <a:tile tx="0" ty="0" sx="40000" sy="50000" flip="y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Oriel</Template>
  <TotalTime>12</TotalTime>
  <Words>841</Words>
  <Application>Microsoft Office PowerPoint</Application>
  <PresentationFormat>Presentación en pantalla (4:3)</PresentationFormat>
  <Paragraphs>119</Paragraphs>
  <Slides>27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27</vt:i4>
      </vt:variant>
    </vt:vector>
  </HeadingPairs>
  <TitlesOfParts>
    <vt:vector size="28" baseType="lpstr">
      <vt:lpstr>Mirador</vt:lpstr>
      <vt:lpstr>1° y 2° semana de Abril 2020</vt:lpstr>
      <vt:lpstr>Ver presentación de este ppt </vt:lpstr>
      <vt:lpstr>Rutina de trabajo </vt:lpstr>
      <vt:lpstr>Objetivo de aprendizaje</vt:lpstr>
      <vt:lpstr>Diapositiva 5</vt:lpstr>
      <vt:lpstr>Primero antes que todo….</vt:lpstr>
      <vt:lpstr>El sonido tiene cualidades …..</vt:lpstr>
      <vt:lpstr>Tarea día 1</vt:lpstr>
      <vt:lpstr>Cualidad del sonido:  Altura</vt:lpstr>
      <vt:lpstr>Actividad </vt:lpstr>
      <vt:lpstr>Tarea semana 1</vt:lpstr>
      <vt:lpstr>Cualidad del sonido: Intensidad</vt:lpstr>
      <vt:lpstr>Actividad </vt:lpstr>
      <vt:lpstr>Tarea semana 1</vt:lpstr>
      <vt:lpstr>Diapositiva 15</vt:lpstr>
      <vt:lpstr>Recordemos las cualidades del sonido </vt:lpstr>
      <vt:lpstr>Cualidad del sonido: Duración  </vt:lpstr>
      <vt:lpstr>Actividad</vt:lpstr>
      <vt:lpstr>Tarea semana 2</vt:lpstr>
      <vt:lpstr>Cualidad del sonido: Timbre</vt:lpstr>
      <vt:lpstr>Diapositiva 21</vt:lpstr>
      <vt:lpstr>Tarea semana 2</vt:lpstr>
      <vt:lpstr>Tarea semana 2</vt:lpstr>
      <vt:lpstr>Cualidades del sonido ejercicios </vt:lpstr>
      <vt:lpstr>Diapositiva 25</vt:lpstr>
      <vt:lpstr>Diapositiva 26</vt:lpstr>
      <vt:lpstr>Diapositiva 27</vt:lpstr>
    </vt:vector>
  </TitlesOfParts>
  <Company>Hewlett-Packard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1° y 2° semana de Abril 2020</dc:title>
  <dc:creator>Matias</dc:creator>
  <cp:lastModifiedBy>Matias</cp:lastModifiedBy>
  <cp:revision>2</cp:revision>
  <dcterms:created xsi:type="dcterms:W3CDTF">2020-04-06T20:26:04Z</dcterms:created>
  <dcterms:modified xsi:type="dcterms:W3CDTF">2020-04-06T21:13:34Z</dcterms:modified>
</cp:coreProperties>
</file>