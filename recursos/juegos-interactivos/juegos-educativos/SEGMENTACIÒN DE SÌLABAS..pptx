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56" r:id="rId5"/>
    <p:sldId id="267" r:id="rId6"/>
    <p:sldId id="268" r:id="rId7"/>
    <p:sldId id="269" r:id="rId8"/>
    <p:sldId id="270" r:id="rId9"/>
    <p:sldId id="271" r:id="rId10"/>
    <p:sldId id="273" r:id="rId11"/>
    <p:sldId id="272" r:id="rId12"/>
    <p:sldId id="274" r:id="rId13"/>
    <p:sldId id="275" r:id="rId14"/>
    <p:sldId id="276" r:id="rId15"/>
    <p:sldId id="277" r:id="rId16"/>
    <p:sldId id="261" r:id="rId17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5996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7958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4608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817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4413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91166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4811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577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8683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818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5595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BB353-F641-4D49-A2A8-617071BA882A}" type="datetimeFigureOut">
              <a:rPr lang="es-CL" smtClean="0"/>
              <a:t>16-03-2019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D7E41-4793-40FA-93D4-82EA8990957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1558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3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4" y="27023"/>
            <a:ext cx="9144000" cy="6929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979711" y="2276872"/>
            <a:ext cx="511256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70C0"/>
                </a:solidFill>
              </a:rPr>
              <a:t>Segmentación y conteo de </a:t>
            </a:r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0070C0"/>
                </a:solidFill>
                <a:effectLst/>
              </a:rPr>
              <a:t>silabas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solidFill>
                <a:srgbClr val="0070C0"/>
              </a:solidFill>
              <a:effectLst/>
            </a:endParaRPr>
          </a:p>
        </p:txBody>
      </p:sp>
      <p:sp>
        <p:nvSpPr>
          <p:cNvPr id="2" name="1 CuadroTexto"/>
          <p:cNvSpPr txBox="1"/>
          <p:nvPr/>
        </p:nvSpPr>
        <p:spPr>
          <a:xfrm>
            <a:off x="1979712" y="1484784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i="1" dirty="0" smtClean="0"/>
              <a:t>ÀMBITO: </a:t>
            </a:r>
            <a:r>
              <a:rPr lang="es-CL" i="1" dirty="0" smtClean="0"/>
              <a:t>COMUNICACIÒN INTEGRAL </a:t>
            </a:r>
          </a:p>
          <a:p>
            <a:r>
              <a:rPr lang="es-CL" b="1" i="1" dirty="0" smtClean="0"/>
              <a:t>NÙCLEO: </a:t>
            </a:r>
            <a:r>
              <a:rPr lang="es-CL" i="1" dirty="0" smtClean="0"/>
              <a:t>LENGUAJE  VERBAL</a:t>
            </a:r>
            <a:endParaRPr lang="es-CL" i="1" dirty="0"/>
          </a:p>
        </p:txBody>
      </p:sp>
    </p:spTree>
    <p:extLst>
      <p:ext uri="{BB962C8B-B14F-4D97-AF65-F5344CB8AC3E}">
        <p14:creationId xmlns:p14="http://schemas.microsoft.com/office/powerpoint/2010/main" val="245544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21" y="26964"/>
            <a:ext cx="9108047" cy="68310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899592" y="1052736"/>
            <a:ext cx="5472608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8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Objetivo de aprendizaje: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Descubrir </a:t>
            </a:r>
            <a:r>
              <a:rPr lang="es-MX" sz="2800" dirty="0" smtClean="0">
                <a:latin typeface="Arial" pitchFamily="34" charset="0"/>
                <a:cs typeface="Arial" pitchFamily="34" charset="0"/>
              </a:rPr>
              <a:t>en contextos lúdicos, atributos fonológicos de palabras conocidas, tales</a:t>
            </a:r>
          </a:p>
          <a:p>
            <a:r>
              <a:rPr lang="es-MX" sz="2800" dirty="0" smtClean="0">
                <a:latin typeface="Arial" pitchFamily="34" charset="0"/>
                <a:cs typeface="Arial" pitchFamily="34" charset="0"/>
              </a:rPr>
              <a:t>como conteo de palabras, segmentación y conteo de sílabas, identificación de</a:t>
            </a:r>
          </a:p>
          <a:p>
            <a:r>
              <a:rPr lang="es-MX" sz="2800" dirty="0" smtClean="0">
                <a:latin typeface="Arial" pitchFamily="34" charset="0"/>
                <a:cs typeface="Arial" pitchFamily="34" charset="0"/>
              </a:rPr>
              <a:t>sonidos finales e iniciales</a:t>
            </a:r>
            <a:endParaRPr lang="es-CL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30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209056"/>
            <a:ext cx="1944215" cy="1711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7825" y="2708919"/>
            <a:ext cx="45354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6008" y="4171167"/>
            <a:ext cx="1812059" cy="1419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067" y="4377652"/>
            <a:ext cx="45354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886536" y="1804174"/>
            <a:ext cx="8077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 smtClean="0"/>
              <a:t>Actividad: </a:t>
            </a:r>
            <a:r>
              <a:rPr lang="es-CL" dirty="0" smtClean="0"/>
              <a:t>Observa la imagen y separa en sílabas. Marca con una ( x) la correcta.</a:t>
            </a:r>
            <a:endParaRPr lang="es-CL" dirty="0"/>
          </a:p>
        </p:txBody>
      </p:sp>
      <p:sp>
        <p:nvSpPr>
          <p:cNvPr id="11" name="10 Rectángulo"/>
          <p:cNvSpPr/>
          <p:nvPr/>
        </p:nvSpPr>
        <p:spPr>
          <a:xfrm>
            <a:off x="878608" y="898879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¿ Cuántas sílabas tiene..?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0418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9" y="2204864"/>
            <a:ext cx="1689450" cy="169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139" y="2547001"/>
            <a:ext cx="4431229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009" y="4473476"/>
            <a:ext cx="4535487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362" y="4047562"/>
            <a:ext cx="936104" cy="1614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21 Rectángulo"/>
          <p:cNvSpPr/>
          <p:nvPr/>
        </p:nvSpPr>
        <p:spPr>
          <a:xfrm>
            <a:off x="886535" y="1209526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¿ Cuántas sílabas tiene..?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1941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82" r="11720"/>
          <a:stretch/>
        </p:blipFill>
        <p:spPr bwMode="auto">
          <a:xfrm>
            <a:off x="1620982" y="2132856"/>
            <a:ext cx="1427018" cy="1530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942006"/>
            <a:ext cx="1644880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362" y="2539074"/>
            <a:ext cx="4431229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3139" y="4302864"/>
            <a:ext cx="4431229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886535" y="1209526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¿ Cuántas sílabas tiene..?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30984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86535" y="1209526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¿ Cuántas sílabas tiene..?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56"/>
          <a:stretch/>
        </p:blipFill>
        <p:spPr bwMode="auto">
          <a:xfrm>
            <a:off x="1361301" y="2112065"/>
            <a:ext cx="1784024" cy="1686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301" y="3874418"/>
            <a:ext cx="1955882" cy="174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911" y="2452037"/>
            <a:ext cx="4431229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911" y="4365104"/>
            <a:ext cx="4431229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961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2" name="Picture 4" descr="Resultado de imagen para dibujo de elefan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640" y="2100641"/>
            <a:ext cx="1904423" cy="1904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472" y="4005064"/>
            <a:ext cx="1040041" cy="1653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362" y="2539074"/>
            <a:ext cx="4431229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1926" y="4328600"/>
            <a:ext cx="4431229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886535" y="1209526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¿ Cuántas sílabas tiene..?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27859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6" name="Picture 4" descr="Resultado de imagen para dibujo de lapi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743" y="2232683"/>
            <a:ext cx="1872208" cy="140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" t="31371" r="-1" b="30522"/>
          <a:stretch/>
        </p:blipFill>
        <p:spPr bwMode="auto">
          <a:xfrm>
            <a:off x="1252349" y="4294417"/>
            <a:ext cx="2318822" cy="1196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940" y="2462873"/>
            <a:ext cx="4626834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967" y="4409120"/>
            <a:ext cx="4431229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9 Rectángulo"/>
          <p:cNvSpPr/>
          <p:nvPr/>
        </p:nvSpPr>
        <p:spPr>
          <a:xfrm>
            <a:off x="886535" y="1209526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¿ Cuántas sílabas tiene..?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394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126298"/>
            <a:ext cx="1296144" cy="179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Resultado de imagen para dibujo de cam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3895181"/>
            <a:ext cx="2073308" cy="182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940" y="2462873"/>
            <a:ext cx="4626834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973" y="4304771"/>
            <a:ext cx="4626834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10 Rectángulo"/>
          <p:cNvSpPr/>
          <p:nvPr/>
        </p:nvSpPr>
        <p:spPr>
          <a:xfrm>
            <a:off x="886535" y="1209526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¿ Cuántas sílabas tiene..?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0480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886535" y="1209526"/>
            <a:ext cx="7386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¿ Cuantas silabas tiene..?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11268" name="Picture 4" descr="Resultado de imagen para dibujo de pirat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9" t="5030" r="5546"/>
          <a:stretch/>
        </p:blipFill>
        <p:spPr bwMode="auto">
          <a:xfrm>
            <a:off x="1619672" y="2132855"/>
            <a:ext cx="1837184" cy="194421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872" y="2462873"/>
            <a:ext cx="417986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047" y="4792772"/>
            <a:ext cx="4427512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 descr="Resultado de imagen para dibujo de barc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184" y="4077072"/>
            <a:ext cx="1919861" cy="175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87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629270" y="1340768"/>
            <a:ext cx="4209806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7030A0"/>
                </a:solidFill>
                <a:latin typeface="Bernard MT Condensed" pitchFamily="18" charset="0"/>
              </a:rPr>
              <a:t>Sílaba inicial </a:t>
            </a:r>
            <a:endParaRPr lang="es-ES" sz="60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7030A0"/>
              </a:solidFill>
              <a:latin typeface="Bernard MT Condensed" pitchFamily="18" charset="0"/>
            </a:endParaRPr>
          </a:p>
        </p:txBody>
      </p:sp>
      <p:pic>
        <p:nvPicPr>
          <p:cNvPr id="10244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832" y="2980996"/>
            <a:ext cx="2377944" cy="178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Resultado de imagen para dibujo pap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206" y="2799264"/>
            <a:ext cx="2421282" cy="1896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Resultado de imagen para dibujo sop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2980996"/>
            <a:ext cx="1760036" cy="1760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6 CuadroTexto"/>
          <p:cNvSpPr txBox="1"/>
          <p:nvPr/>
        </p:nvSpPr>
        <p:spPr>
          <a:xfrm>
            <a:off x="1871700" y="4785396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>
                <a:solidFill>
                  <a:srgbClr val="FF0000"/>
                </a:solidFill>
              </a:rPr>
              <a:t>Ma</a:t>
            </a:r>
            <a:r>
              <a:rPr lang="es-CL" sz="3200" b="1" dirty="0" smtClean="0"/>
              <a:t>riposa</a:t>
            </a:r>
            <a:r>
              <a:rPr lang="es-CL" dirty="0" smtClean="0"/>
              <a:t> </a:t>
            </a:r>
            <a:endParaRPr lang="es-CL" dirty="0"/>
          </a:p>
        </p:txBody>
      </p:sp>
      <p:sp>
        <p:nvSpPr>
          <p:cNvPr id="12" name="11 CuadroTexto"/>
          <p:cNvSpPr txBox="1"/>
          <p:nvPr/>
        </p:nvSpPr>
        <p:spPr>
          <a:xfrm>
            <a:off x="4257747" y="4937795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 smtClean="0"/>
              <a:t>   </a:t>
            </a:r>
            <a:r>
              <a:rPr lang="es-CL" sz="3200" b="1" dirty="0" smtClean="0">
                <a:solidFill>
                  <a:srgbClr val="FF0000"/>
                </a:solidFill>
              </a:rPr>
              <a:t>Pa</a:t>
            </a:r>
            <a:r>
              <a:rPr lang="es-CL" sz="3200" b="1" dirty="0" smtClean="0"/>
              <a:t>pá </a:t>
            </a:r>
            <a:r>
              <a:rPr lang="es-CL" b="1" dirty="0" smtClean="0"/>
              <a:t> </a:t>
            </a:r>
            <a:endParaRPr lang="es-CL" b="1" dirty="0"/>
          </a:p>
        </p:txBody>
      </p:sp>
      <p:sp>
        <p:nvSpPr>
          <p:cNvPr id="13" name="12 CuadroTexto"/>
          <p:cNvSpPr txBox="1"/>
          <p:nvPr/>
        </p:nvSpPr>
        <p:spPr>
          <a:xfrm>
            <a:off x="6264402" y="4563361"/>
            <a:ext cx="1800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dirty="0"/>
              <a:t> </a:t>
            </a:r>
            <a:r>
              <a:rPr lang="es-CL" sz="3200" dirty="0" smtClean="0"/>
              <a:t>   </a:t>
            </a:r>
            <a:r>
              <a:rPr lang="es-CL" sz="3200" b="1" dirty="0" smtClean="0">
                <a:solidFill>
                  <a:srgbClr val="FF0000"/>
                </a:solidFill>
              </a:rPr>
              <a:t>So</a:t>
            </a:r>
            <a:r>
              <a:rPr lang="es-CL" sz="3200" b="1" dirty="0" smtClean="0"/>
              <a:t>pa</a:t>
            </a:r>
            <a:r>
              <a:rPr lang="es-CL" sz="3200" dirty="0" smtClean="0"/>
              <a:t> </a:t>
            </a:r>
            <a:r>
              <a:rPr lang="es-CL" dirty="0" smtClean="0"/>
              <a:t>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1509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CuadroTexto"/>
          <p:cNvSpPr txBox="1"/>
          <p:nvPr/>
        </p:nvSpPr>
        <p:spPr>
          <a:xfrm>
            <a:off x="827584" y="1124744"/>
            <a:ext cx="7430367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>
                <a:latin typeface="Arial" pitchFamily="34" charset="0"/>
                <a:cs typeface="Arial" pitchFamily="34" charset="0"/>
              </a:rPr>
              <a:t>Actividad: Identifica el dibujo que contenga la misma </a:t>
            </a:r>
            <a:r>
              <a:rPr lang="es-CL" sz="2400" b="1" u="sng" dirty="0" smtClean="0">
                <a:latin typeface="Arial" pitchFamily="34" charset="0"/>
                <a:cs typeface="Arial" pitchFamily="34" charset="0"/>
              </a:rPr>
              <a:t>sílaba inicial </a:t>
            </a:r>
            <a:r>
              <a:rPr lang="es-CL" sz="2400" b="1" dirty="0" smtClean="0">
                <a:latin typeface="Arial" pitchFamily="34" charset="0"/>
                <a:cs typeface="Arial" pitchFamily="34" charset="0"/>
              </a:rPr>
              <a:t>de la imagen remarcada. </a:t>
            </a:r>
            <a:endParaRPr lang="es-CL" sz="2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292" name="Picture 4" descr="Resultado de imagen para dibujo mon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08" y="2179809"/>
            <a:ext cx="1847174" cy="2245881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Resultado de imagen para dibujo mochil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67" t="3967" r="20667" b="5666"/>
          <a:stretch/>
        </p:blipFill>
        <p:spPr bwMode="auto">
          <a:xfrm>
            <a:off x="4716016" y="3520241"/>
            <a:ext cx="1578677" cy="190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Resultado de imagen para dibujo de caball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221088"/>
            <a:ext cx="1741735" cy="158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Resultado de imagen para dibujo de ran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7804" y="4653136"/>
            <a:ext cx="1497756" cy="1497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3779912" y="2179809"/>
            <a:ext cx="411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>
                <a:solidFill>
                  <a:srgbClr val="FF0000"/>
                </a:solidFill>
                <a:latin typeface="Berlin Sans FB Demi" pitchFamily="34" charset="0"/>
              </a:rPr>
              <a:t>MO</a:t>
            </a:r>
            <a:r>
              <a:rPr lang="es-CL" sz="6000" dirty="0" smtClean="0">
                <a:latin typeface="Berlin Sans FB Demi" pitchFamily="34" charset="0"/>
              </a:rPr>
              <a:t>NO</a:t>
            </a:r>
            <a:endParaRPr lang="es-CL" sz="6000" dirty="0">
              <a:latin typeface="Berlin Sans FB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48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64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 descr="Resultado de imagen para dibujo de LAPI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49" y="2243718"/>
            <a:ext cx="2208244" cy="1656184"/>
          </a:xfrm>
          <a:prstGeom prst="rect">
            <a:avLst/>
          </a:prstGeom>
          <a:noFill/>
          <a:ln w="762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3923928" y="2352655"/>
            <a:ext cx="411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>
                <a:solidFill>
                  <a:srgbClr val="FF0000"/>
                </a:solidFill>
                <a:latin typeface="Berlin Sans FB Demi" pitchFamily="34" charset="0"/>
              </a:rPr>
              <a:t>Lá</a:t>
            </a:r>
            <a:r>
              <a:rPr lang="es-CL" sz="6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erlin Sans FB Demi" pitchFamily="34" charset="0"/>
              </a:rPr>
              <a:t>piz</a:t>
            </a:r>
            <a:endParaRPr lang="es-CL" sz="6000" dirty="0">
              <a:solidFill>
                <a:schemeClr val="tx1">
                  <a:lumMod val="95000"/>
                  <a:lumOff val="5000"/>
                </a:schemeClr>
              </a:solidFill>
              <a:latin typeface="Berlin Sans FB Demi" pitchFamily="34" charset="0"/>
            </a:endParaRPr>
          </a:p>
        </p:txBody>
      </p:sp>
      <p:pic>
        <p:nvPicPr>
          <p:cNvPr id="13318" name="Picture 6" descr="Resultado de imagen para dibujo de  LAN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9" t="13071" b="11743"/>
          <a:stretch/>
        </p:blipFill>
        <p:spPr bwMode="auto">
          <a:xfrm>
            <a:off x="4283968" y="4198786"/>
            <a:ext cx="2058753" cy="1682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Imagen relacionad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38" t="7918" r="30767"/>
          <a:stretch/>
        </p:blipFill>
        <p:spPr bwMode="auto">
          <a:xfrm>
            <a:off x="6588224" y="3501008"/>
            <a:ext cx="1096862" cy="227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Resultado de imagen para dibujo de manzana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50" t="6374" r="21438" b="9139"/>
          <a:stretch/>
        </p:blipFill>
        <p:spPr bwMode="auto">
          <a:xfrm>
            <a:off x="1547664" y="4047215"/>
            <a:ext cx="1553493" cy="1555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10 CuadroTexto"/>
          <p:cNvSpPr txBox="1"/>
          <p:nvPr/>
        </p:nvSpPr>
        <p:spPr>
          <a:xfrm>
            <a:off x="827584" y="1124744"/>
            <a:ext cx="7776864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>
                <a:latin typeface="Arial" pitchFamily="34" charset="0"/>
                <a:cs typeface="Arial" pitchFamily="34" charset="0"/>
              </a:rPr>
              <a:t>Actividad: Identifica el dibujo que contenga la misma sílaba inicial de la imagen remarcada. </a:t>
            </a:r>
            <a:endParaRPr lang="es-CL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00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0" name="Picture 4" descr="Imagen relacionad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159465"/>
            <a:ext cx="2247900" cy="1790701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1040005" y="1124743"/>
            <a:ext cx="7063990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>
                <a:latin typeface="Arial" pitchFamily="34" charset="0"/>
                <a:cs typeface="Arial" pitchFamily="34" charset="0"/>
              </a:rPr>
              <a:t>Actividad: Identifica el dibujo que contenga la misma </a:t>
            </a:r>
            <a:r>
              <a:rPr lang="es-CL" sz="2400" b="1" u="sng" dirty="0" smtClean="0">
                <a:latin typeface="Arial" pitchFamily="34" charset="0"/>
                <a:cs typeface="Arial" pitchFamily="34" charset="0"/>
              </a:rPr>
              <a:t>sílaba inicial </a:t>
            </a:r>
            <a:r>
              <a:rPr lang="es-CL" sz="2400" b="1" dirty="0" smtClean="0">
                <a:latin typeface="Arial" pitchFamily="34" charset="0"/>
                <a:cs typeface="Arial" pitchFamily="34" charset="0"/>
              </a:rPr>
              <a:t>de la imagen remarcada. </a:t>
            </a:r>
            <a:endParaRPr lang="es-CL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779912" y="2179809"/>
            <a:ext cx="411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>
                <a:solidFill>
                  <a:srgbClr val="FF0000"/>
                </a:solidFill>
                <a:latin typeface="Berlin Sans FB Demi" pitchFamily="34" charset="0"/>
              </a:rPr>
              <a:t>Sa</a:t>
            </a:r>
            <a:r>
              <a:rPr lang="es-CL" sz="6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Berlin Sans FB Demi" pitchFamily="34" charset="0"/>
              </a:rPr>
              <a:t>po</a:t>
            </a:r>
            <a:endParaRPr lang="es-CL" sz="6000" dirty="0">
              <a:solidFill>
                <a:schemeClr val="tx1">
                  <a:lumMod val="85000"/>
                  <a:lumOff val="15000"/>
                </a:schemeClr>
              </a:solidFill>
              <a:latin typeface="Berlin Sans FB Demi" pitchFamily="34" charset="0"/>
            </a:endParaRP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539" y="4108239"/>
            <a:ext cx="2192182" cy="1717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3" name="Picture 7" descr="Imagen relacionada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98" t="7109" r="7923" b="11712"/>
          <a:stretch/>
        </p:blipFill>
        <p:spPr bwMode="auto">
          <a:xfrm>
            <a:off x="6012160" y="4164829"/>
            <a:ext cx="2183501" cy="1596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5" name="Picture 9" descr="Resultado de imagen para dibujo tambor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133430"/>
            <a:ext cx="2160022" cy="169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676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4" name="Picture 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5" t="6995" r="28171" b="7898"/>
          <a:stretch/>
        </p:blipFill>
        <p:spPr bwMode="auto">
          <a:xfrm>
            <a:off x="1807746" y="2197897"/>
            <a:ext cx="2301649" cy="1663152"/>
          </a:xfrm>
          <a:prstGeom prst="rect">
            <a:avLst/>
          </a:prstGeom>
          <a:noFill/>
          <a:ln w="5715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827584" y="1124744"/>
            <a:ext cx="7776864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>
                <a:latin typeface="Arial" pitchFamily="34" charset="0"/>
                <a:cs typeface="Arial" pitchFamily="34" charset="0"/>
              </a:rPr>
              <a:t>Actividad: Identifica el dibujo que contenga la misma </a:t>
            </a:r>
            <a:r>
              <a:rPr lang="es-CL" sz="2400" b="1" u="sng" dirty="0" smtClean="0">
                <a:latin typeface="Arial" pitchFamily="34" charset="0"/>
                <a:cs typeface="Arial" pitchFamily="34" charset="0"/>
              </a:rPr>
              <a:t>sílaba inicial </a:t>
            </a:r>
            <a:r>
              <a:rPr lang="es-CL" sz="2400" b="1" dirty="0" smtClean="0">
                <a:latin typeface="Arial" pitchFamily="34" charset="0"/>
                <a:cs typeface="Arial" pitchFamily="34" charset="0"/>
              </a:rPr>
              <a:t>de la imagen remarcada. </a:t>
            </a:r>
            <a:endParaRPr lang="es-CL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3923928" y="2352655"/>
            <a:ext cx="411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>
                <a:solidFill>
                  <a:srgbClr val="FF0000"/>
                </a:solidFill>
                <a:latin typeface="Berlin Sans FB Demi" pitchFamily="34" charset="0"/>
              </a:rPr>
              <a:t>Ca</a:t>
            </a:r>
            <a:r>
              <a:rPr lang="es-CL" sz="6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erlin Sans FB Demi" pitchFamily="34" charset="0"/>
              </a:rPr>
              <a:t>misa</a:t>
            </a:r>
            <a:endParaRPr lang="es-CL" sz="6000" dirty="0">
              <a:solidFill>
                <a:schemeClr val="tx1">
                  <a:lumMod val="95000"/>
                  <a:lumOff val="5000"/>
                </a:schemeClr>
              </a:solidFill>
              <a:latin typeface="Berlin Sans FB Demi" pitchFamily="34" charset="0"/>
            </a:endParaRPr>
          </a:p>
        </p:txBody>
      </p:sp>
      <p:pic>
        <p:nvPicPr>
          <p:cNvPr id="15366" name="Picture 6" descr="Resultado de imagen para dibujo de caracol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29" t="3348" r="17017"/>
          <a:stretch/>
        </p:blipFill>
        <p:spPr bwMode="auto">
          <a:xfrm>
            <a:off x="6538746" y="4019484"/>
            <a:ext cx="1496844" cy="173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5218" y="4005808"/>
            <a:ext cx="1874541" cy="1734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9" name="Picture 9" descr="Resultado de imagen para dibujo de pescado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8" t="8591" r="17179" b="9006"/>
          <a:stretch/>
        </p:blipFill>
        <p:spPr bwMode="auto">
          <a:xfrm>
            <a:off x="1892507" y="3946297"/>
            <a:ext cx="1640040" cy="187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99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139306"/>
            <a:ext cx="3265466" cy="1959918"/>
          </a:xfrm>
          <a:prstGeom prst="rect">
            <a:avLst/>
          </a:prstGeom>
          <a:noFill/>
          <a:ln w="38100">
            <a:solidFill>
              <a:srgbClr val="7030A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CuadroTexto"/>
          <p:cNvSpPr txBox="1"/>
          <p:nvPr/>
        </p:nvSpPr>
        <p:spPr>
          <a:xfrm>
            <a:off x="4211960" y="2368173"/>
            <a:ext cx="411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6000" dirty="0" smtClean="0">
                <a:solidFill>
                  <a:srgbClr val="FF0000"/>
                </a:solidFill>
                <a:latin typeface="Berlin Sans FB Demi" pitchFamily="34" charset="0"/>
              </a:rPr>
              <a:t>Ca</a:t>
            </a:r>
            <a:r>
              <a:rPr lang="es-CL" sz="6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Berlin Sans FB Demi" pitchFamily="34" charset="0"/>
              </a:rPr>
              <a:t>mión</a:t>
            </a:r>
            <a:endParaRPr lang="es-CL" sz="6000" dirty="0">
              <a:solidFill>
                <a:schemeClr val="tx1">
                  <a:lumMod val="95000"/>
                  <a:lumOff val="5000"/>
                </a:schemeClr>
              </a:solidFill>
              <a:latin typeface="Berlin Sans FB Demi" pitchFamily="34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1040005" y="1124743"/>
            <a:ext cx="7063990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s-CL" sz="2400" b="1" dirty="0" smtClean="0">
                <a:latin typeface="Arial" pitchFamily="34" charset="0"/>
                <a:cs typeface="Arial" pitchFamily="34" charset="0"/>
              </a:rPr>
              <a:t>Actividad: Identifica el dibujo que contenga la misma </a:t>
            </a:r>
            <a:r>
              <a:rPr lang="es-CL" sz="2400" b="1" u="sng" dirty="0" smtClean="0">
                <a:latin typeface="Arial" pitchFamily="34" charset="0"/>
                <a:cs typeface="Arial" pitchFamily="34" charset="0"/>
              </a:rPr>
              <a:t>sílaba inicial </a:t>
            </a:r>
            <a:r>
              <a:rPr lang="es-CL" sz="2400" b="1" dirty="0" smtClean="0">
                <a:latin typeface="Arial" pitchFamily="34" charset="0"/>
                <a:cs typeface="Arial" pitchFamily="34" charset="0"/>
              </a:rPr>
              <a:t>de la imagen remarcada. </a:t>
            </a:r>
            <a:endParaRPr lang="es-CL" sz="24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6390" name="Picture 6" descr="Resultado de imagen para dibujo mot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221088"/>
            <a:ext cx="2120100" cy="163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Resultado de imagen para dibujo camell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194" y="4221088"/>
            <a:ext cx="1686694" cy="1754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4" name="Picture 10" descr="Resultado de imagen para dibujo mano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1" t="6450" r="20569" b="5837"/>
          <a:stretch/>
        </p:blipFill>
        <p:spPr bwMode="auto">
          <a:xfrm>
            <a:off x="6261608" y="3861047"/>
            <a:ext cx="1510077" cy="200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054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197</Words>
  <Application>Microsoft Office PowerPoint</Application>
  <PresentationFormat>Presentación en pantalla (4:3)</PresentationFormat>
  <Paragraphs>29</Paragraphs>
  <Slides>16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16</cp:revision>
  <dcterms:created xsi:type="dcterms:W3CDTF">2019-02-13T15:58:01Z</dcterms:created>
  <dcterms:modified xsi:type="dcterms:W3CDTF">2019-03-16T16:40:32Z</dcterms:modified>
</cp:coreProperties>
</file>