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CL"/>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CL"/>
          </a:p>
        </p:txBody>
      </p:sp>
      <p:sp>
        <p:nvSpPr>
          <p:cNvPr id="4" name="3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2404574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3000620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1217111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4127723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8" name="7 Marcador de pie de página"/>
          <p:cNvSpPr>
            <a:spLocks noGrp="1"/>
          </p:cNvSpPr>
          <p:nvPr>
            <p:ph type="ftr" sz="quarter" idx="11"/>
          </p:nvPr>
        </p:nvSpPr>
        <p:spPr/>
        <p:txBody>
          <a:bodyPr/>
          <a:lstStyle/>
          <a:p>
            <a:endParaRPr lang="es-CL"/>
          </a:p>
        </p:txBody>
      </p:sp>
      <p:sp>
        <p:nvSpPr>
          <p:cNvPr id="9" name="8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1700243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4" name="3 Marcador de pie de página"/>
          <p:cNvSpPr>
            <a:spLocks noGrp="1"/>
          </p:cNvSpPr>
          <p:nvPr>
            <p:ph type="ftr" sz="quarter" idx="11"/>
          </p:nvPr>
        </p:nvSpPr>
        <p:spPr/>
        <p:txBody>
          <a:bodyPr/>
          <a:lstStyle/>
          <a:p>
            <a:endParaRPr lang="es-CL"/>
          </a:p>
        </p:txBody>
      </p:sp>
      <p:sp>
        <p:nvSpPr>
          <p:cNvPr id="5" name="4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3033242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3" name="2 Marcador de pie de página"/>
          <p:cNvSpPr>
            <a:spLocks noGrp="1"/>
          </p:cNvSpPr>
          <p:nvPr>
            <p:ph type="ftr" sz="quarter" idx="11"/>
          </p:nvPr>
        </p:nvSpPr>
        <p:spPr/>
        <p:txBody>
          <a:bodyPr/>
          <a:lstStyle/>
          <a:p>
            <a:endParaRPr lang="es-CL"/>
          </a:p>
        </p:txBody>
      </p:sp>
      <p:sp>
        <p:nvSpPr>
          <p:cNvPr id="4" name="3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4095582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124043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3846436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925692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8E62B217-9E1A-436B-8BFC-6D6A7E52C5C9}" type="datetimeFigureOut">
              <a:rPr lang="es-CL" smtClean="0"/>
              <a:t>12-03-2019</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FDF67426-6043-4BC8-AEFD-D4B982C8256B}" type="slidenum">
              <a:rPr lang="es-CL" smtClean="0"/>
              <a:t>‹Nº›</a:t>
            </a:fld>
            <a:endParaRPr lang="es-CL"/>
          </a:p>
        </p:txBody>
      </p:sp>
    </p:spTree>
    <p:extLst>
      <p:ext uri="{BB962C8B-B14F-4D97-AF65-F5344CB8AC3E}">
        <p14:creationId xmlns:p14="http://schemas.microsoft.com/office/powerpoint/2010/main" val="183802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2B217-9E1A-436B-8BFC-6D6A7E52C5C9}" type="datetimeFigureOut">
              <a:rPr lang="es-CL" smtClean="0"/>
              <a:t>12-03-2019</a:t>
            </a:fld>
            <a:endParaRPr lang="es-CL"/>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F67426-6043-4BC8-AEFD-D4B982C8256B}" type="slidenum">
              <a:rPr lang="es-CL" smtClean="0"/>
              <a:t>‹Nº›</a:t>
            </a:fld>
            <a:endParaRPr lang="es-CL"/>
          </a:p>
        </p:txBody>
      </p:sp>
    </p:spTree>
    <p:extLst>
      <p:ext uri="{BB962C8B-B14F-4D97-AF65-F5344CB8AC3E}">
        <p14:creationId xmlns:p14="http://schemas.microsoft.com/office/powerpoint/2010/main" val="1869381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12" y="0"/>
            <a:ext cx="9118488" cy="6858000"/>
          </a:xfrm>
          <a:prstGeom prst="rect">
            <a:avLst/>
          </a:prstGeom>
          <a:noFill/>
          <a:ln w="76200">
            <a:solidFill>
              <a:srgbClr val="FFFF00"/>
            </a:solidFill>
            <a:prstDash val="sysDash"/>
          </a:ln>
          <a:extLst>
            <a:ext uri="{909E8E84-426E-40DD-AFC4-6F175D3DCCD1}">
              <a14:hiddenFill xmlns:a14="http://schemas.microsoft.com/office/drawing/2010/main">
                <a:solidFill>
                  <a:srgbClr val="FFFFFF"/>
                </a:solidFill>
              </a14:hiddenFill>
            </a:ext>
          </a:extLst>
        </p:spPr>
      </p:pic>
      <p:sp>
        <p:nvSpPr>
          <p:cNvPr id="4" name="3 Rectángulo"/>
          <p:cNvSpPr/>
          <p:nvPr/>
        </p:nvSpPr>
        <p:spPr>
          <a:xfrm>
            <a:off x="3660448" y="0"/>
            <a:ext cx="5483552" cy="923330"/>
          </a:xfrm>
          <a:prstGeom prst="rect">
            <a:avLst/>
          </a:prstGeom>
          <a:noFill/>
        </p:spPr>
        <p:txBody>
          <a:bodyPr wrap="none" lIns="91440" tIns="45720" rIns="91440" bIns="45720">
            <a:spAutoFit/>
          </a:bodyPr>
          <a:lstStyle/>
          <a:p>
            <a:pPr algn="ctr"/>
            <a:r>
              <a:rPr lang="es-ES" sz="5400" b="1" cap="none" spc="0" dirty="0" smtClean="0">
                <a:ln w="1905"/>
                <a:solidFill>
                  <a:srgbClr val="7030A0"/>
                </a:solidFill>
                <a:effectLst>
                  <a:innerShdw blurRad="69850" dist="43180" dir="5400000">
                    <a:srgbClr val="000000">
                      <a:alpha val="65000"/>
                    </a:srgbClr>
                  </a:innerShdw>
                </a:effectLst>
              </a:rPr>
              <a:t>Roles de la Familia</a:t>
            </a:r>
            <a:endParaRPr lang="es-ES" sz="5400" b="1" cap="none" spc="0" dirty="0">
              <a:ln w="1905"/>
              <a:solidFill>
                <a:srgbClr val="7030A0"/>
              </a:solidFill>
              <a:effectLst>
                <a:innerShdw blurRad="69850" dist="43180" dir="5400000">
                  <a:srgbClr val="000000">
                    <a:alpha val="65000"/>
                  </a:srgbClr>
                </a:innerShdw>
              </a:effectLst>
            </a:endParaRPr>
          </a:p>
        </p:txBody>
      </p:sp>
      <p:sp>
        <p:nvSpPr>
          <p:cNvPr id="5" name="4 CuadroTexto"/>
          <p:cNvSpPr txBox="1"/>
          <p:nvPr/>
        </p:nvSpPr>
        <p:spPr>
          <a:xfrm>
            <a:off x="1151112" y="6255813"/>
            <a:ext cx="7992888" cy="584775"/>
          </a:xfrm>
          <a:prstGeom prst="rect">
            <a:avLst/>
          </a:prstGeom>
          <a:noFill/>
        </p:spPr>
        <p:txBody>
          <a:bodyPr wrap="square" rtlCol="0">
            <a:spAutoFit/>
          </a:bodyPr>
          <a:lstStyle/>
          <a:p>
            <a:r>
              <a:rPr lang="es-CL" sz="3200" b="1" dirty="0" smtClean="0">
                <a:solidFill>
                  <a:srgbClr val="FF0000"/>
                </a:solidFill>
              </a:rPr>
              <a:t>Núcleo: </a:t>
            </a:r>
            <a:r>
              <a:rPr lang="es-CL" sz="2800" b="1" dirty="0" smtClean="0"/>
              <a:t>Comprensión del Entorno Sociocultural</a:t>
            </a:r>
            <a:endParaRPr lang="es-CL" sz="2800" b="1" dirty="0"/>
          </a:p>
        </p:txBody>
      </p:sp>
      <p:sp>
        <p:nvSpPr>
          <p:cNvPr id="6" name="5 CuadroTexto"/>
          <p:cNvSpPr txBox="1"/>
          <p:nvPr/>
        </p:nvSpPr>
        <p:spPr>
          <a:xfrm>
            <a:off x="4716016" y="945602"/>
            <a:ext cx="4248472" cy="954107"/>
          </a:xfrm>
          <a:prstGeom prst="rect">
            <a:avLst/>
          </a:prstGeom>
          <a:noFill/>
        </p:spPr>
        <p:txBody>
          <a:bodyPr wrap="square" rtlCol="0">
            <a:spAutoFit/>
          </a:bodyPr>
          <a:lstStyle/>
          <a:p>
            <a:r>
              <a:rPr lang="es-CL" sz="2800" b="1" dirty="0" smtClean="0"/>
              <a:t>Ámbito: </a:t>
            </a:r>
            <a:r>
              <a:rPr lang="es-CL" sz="2800" dirty="0" smtClean="0"/>
              <a:t>Interacción y Comprensión del Entorno. </a:t>
            </a:r>
            <a:endParaRPr lang="es-CL" sz="2800" dirty="0"/>
          </a:p>
        </p:txBody>
      </p:sp>
    </p:spTree>
    <p:extLst>
      <p:ext uri="{BB962C8B-B14F-4D97-AF65-F5344CB8AC3E}">
        <p14:creationId xmlns:p14="http://schemas.microsoft.com/office/powerpoint/2010/main" val="188280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n relacionada"/>
          <p:cNvPicPr>
            <a:picLocks noChangeAspect="1" noChangeArrowheads="1"/>
          </p:cNvPicPr>
          <p:nvPr/>
        </p:nvPicPr>
        <p:blipFill rotWithShape="1">
          <a:blip r:embed="rId3">
            <a:extLst>
              <a:ext uri="{28A0092B-C50C-407E-A947-70E740481C1C}">
                <a14:useLocalDpi xmlns:a14="http://schemas.microsoft.com/office/drawing/2010/main" val="0"/>
              </a:ext>
            </a:extLst>
          </a:blip>
          <a:srcRect l="4609" r="4286"/>
          <a:stretch/>
        </p:blipFill>
        <p:spPr bwMode="auto">
          <a:xfrm>
            <a:off x="827584" y="1772816"/>
            <a:ext cx="7488832" cy="43355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3 CuadroTexto"/>
          <p:cNvSpPr txBox="1"/>
          <p:nvPr/>
        </p:nvSpPr>
        <p:spPr>
          <a:xfrm>
            <a:off x="827584" y="980728"/>
            <a:ext cx="7488832" cy="646331"/>
          </a:xfrm>
          <a:prstGeom prst="rect">
            <a:avLst/>
          </a:prstGeom>
          <a:ln w="28575">
            <a:solidFill>
              <a:srgbClr val="FF0000"/>
            </a:solidFill>
          </a:ln>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CL" b="1" dirty="0" smtClean="0"/>
              <a:t>Objetivo de Aprendizaje:  </a:t>
            </a:r>
            <a:r>
              <a:rPr lang="es-CL" dirty="0" smtClean="0"/>
              <a:t>Comprender los roles que desarrollan miembros de su familia y de su comunidad y su aporte para el bienestar común. </a:t>
            </a:r>
            <a:endParaRPr lang="es-CL" dirty="0"/>
          </a:p>
        </p:txBody>
      </p:sp>
    </p:spTree>
    <p:extLst>
      <p:ext uri="{BB962C8B-B14F-4D97-AF65-F5344CB8AC3E}">
        <p14:creationId xmlns:p14="http://schemas.microsoft.com/office/powerpoint/2010/main" val="1802997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sp>
        <p:nvSpPr>
          <p:cNvPr id="5" name="4 Rectángulo"/>
          <p:cNvSpPr/>
          <p:nvPr/>
        </p:nvSpPr>
        <p:spPr>
          <a:xfrm>
            <a:off x="683568" y="1855910"/>
            <a:ext cx="7704856" cy="1200329"/>
          </a:xfrm>
          <a:prstGeom prst="rect">
            <a:avLst/>
          </a:prstGeom>
        </p:spPr>
        <p:txBody>
          <a:bodyPr wrap="square">
            <a:spAutoFit/>
          </a:bodyPr>
          <a:lstStyle/>
          <a:p>
            <a:pPr algn="just"/>
            <a:r>
              <a:rPr lang="es-MX" b="1" dirty="0"/>
              <a:t>Una familia es importante para el </a:t>
            </a:r>
            <a:r>
              <a:rPr lang="es-MX" b="1" dirty="0" smtClean="0"/>
              <a:t>desarrollo</a:t>
            </a:r>
            <a:r>
              <a:rPr lang="es-MX" b="1" dirty="0"/>
              <a:t> de los niños. La familia es una fundación donde una persona aprende los modos para vivir en paz con otros. La relación de la familia debe ser estrecha y unida. Este tipo de relación puede </a:t>
            </a:r>
            <a:r>
              <a:rPr lang="es-MX" b="1" dirty="0" smtClean="0"/>
              <a:t>ayudar</a:t>
            </a:r>
            <a:r>
              <a:rPr lang="es-MX" b="1" dirty="0"/>
              <a:t> </a:t>
            </a:r>
            <a:r>
              <a:rPr lang="es-MX" b="1" dirty="0" smtClean="0"/>
              <a:t>a  </a:t>
            </a:r>
            <a:r>
              <a:rPr lang="es-MX" b="1" dirty="0"/>
              <a:t>los miembros de la familia aprender sobre sus caracteres mismas</a:t>
            </a:r>
            <a:endParaRPr lang="es-CL" b="1" dirty="0"/>
          </a:p>
        </p:txBody>
      </p:sp>
      <p:sp>
        <p:nvSpPr>
          <p:cNvPr id="6" name="5 Rectángulo"/>
          <p:cNvSpPr/>
          <p:nvPr/>
        </p:nvSpPr>
        <p:spPr>
          <a:xfrm>
            <a:off x="899592" y="908720"/>
            <a:ext cx="6321026"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Qué es una familia?</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11266" name="Picture 2" descr="Imagen relacionad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54" y="3056239"/>
            <a:ext cx="3872442" cy="305856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n relacionad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55976" y="3056239"/>
            <a:ext cx="3985025" cy="2952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126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sp>
        <p:nvSpPr>
          <p:cNvPr id="5" name="4 Rectángulo"/>
          <p:cNvSpPr/>
          <p:nvPr/>
        </p:nvSpPr>
        <p:spPr>
          <a:xfrm>
            <a:off x="755576" y="2060848"/>
            <a:ext cx="7344816" cy="1200329"/>
          </a:xfrm>
          <a:prstGeom prst="rect">
            <a:avLst/>
          </a:prstGeom>
        </p:spPr>
        <p:txBody>
          <a:bodyPr wrap="square">
            <a:spAutoFit/>
          </a:bodyPr>
          <a:lstStyle/>
          <a:p>
            <a:r>
              <a:rPr lang="es-MX" dirty="0" smtClean="0"/>
              <a:t>Toma </a:t>
            </a:r>
            <a:r>
              <a:rPr lang="es-MX" dirty="0"/>
              <a:t>conciencia acerca de la importancia del rol de la familia. Sin importar cómo esté </a:t>
            </a:r>
            <a:r>
              <a:rPr lang="es-MX" b="1" dirty="0"/>
              <a:t>constituida</a:t>
            </a:r>
            <a:r>
              <a:rPr lang="es-MX" dirty="0"/>
              <a:t>, es </a:t>
            </a:r>
            <a:r>
              <a:rPr lang="es-MX" b="1" dirty="0"/>
              <a:t>innegable</a:t>
            </a:r>
            <a:r>
              <a:rPr lang="es-MX" dirty="0"/>
              <a:t>, el importante papel que desempeña la familia en la sociedad, especialmente como </a:t>
            </a:r>
            <a:r>
              <a:rPr lang="es-MX" b="1" dirty="0"/>
              <a:t>transmisora</a:t>
            </a:r>
            <a:r>
              <a:rPr lang="es-MX" dirty="0"/>
              <a:t> de normas, valores, cultura, entre otras cosas.</a:t>
            </a:r>
            <a:endParaRPr lang="es-CL" dirty="0"/>
          </a:p>
        </p:txBody>
      </p:sp>
      <p:sp>
        <p:nvSpPr>
          <p:cNvPr id="6" name="5 Rectángulo"/>
          <p:cNvSpPr/>
          <p:nvPr/>
        </p:nvSpPr>
        <p:spPr>
          <a:xfrm>
            <a:off x="653659" y="836712"/>
            <a:ext cx="6660926"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Objetivo de la familia: </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10242" name="Picture 2" descr="Resultado de imagen para familia dibuj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648" y="3261176"/>
            <a:ext cx="3507838" cy="2765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9029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Resultado de imagen para amor de famil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692696"/>
            <a:ext cx="7992888" cy="554461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816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sp>
        <p:nvSpPr>
          <p:cNvPr id="5" name="4 Rectángulo"/>
          <p:cNvSpPr/>
          <p:nvPr/>
        </p:nvSpPr>
        <p:spPr>
          <a:xfrm>
            <a:off x="811740" y="1760042"/>
            <a:ext cx="7544814" cy="830997"/>
          </a:xfrm>
          <a:prstGeom prst="rect">
            <a:avLst/>
          </a:prstGeom>
        </p:spPr>
        <p:txBody>
          <a:bodyPr wrap="square">
            <a:spAutoFit/>
          </a:bodyPr>
          <a:lstStyle/>
          <a:p>
            <a:pPr algn="just"/>
            <a:r>
              <a:rPr lang="es-MX" sz="2400" b="1" dirty="0"/>
              <a:t>El rol de una madre</a:t>
            </a:r>
            <a:r>
              <a:rPr lang="es-MX" sz="2400" dirty="0"/>
              <a:t>, ser una guía para los hijos, ayudarles a ser </a:t>
            </a:r>
            <a:r>
              <a:rPr lang="es-MX" sz="2400" dirty="0" smtClean="0"/>
              <a:t>independientes, trasmitirles </a:t>
            </a:r>
            <a:r>
              <a:rPr lang="es-MX" sz="2400" dirty="0"/>
              <a:t>amor y respeto.</a:t>
            </a:r>
            <a:endParaRPr lang="es-CL" sz="2400" dirty="0"/>
          </a:p>
        </p:txBody>
      </p:sp>
      <p:pic>
        <p:nvPicPr>
          <p:cNvPr id="8194" name="Picture 2" descr="Resultado de imagen para dibujo de mama"/>
          <p:cNvPicPr>
            <a:picLocks noChangeAspect="1" noChangeArrowheads="1"/>
          </p:cNvPicPr>
          <p:nvPr/>
        </p:nvPicPr>
        <p:blipFill rotWithShape="1">
          <a:blip r:embed="rId3">
            <a:extLst>
              <a:ext uri="{28A0092B-C50C-407E-A947-70E740481C1C}">
                <a14:useLocalDpi xmlns:a14="http://schemas.microsoft.com/office/drawing/2010/main" val="0"/>
              </a:ext>
            </a:extLst>
          </a:blip>
          <a:srcRect l="25618" r="22520"/>
          <a:stretch/>
        </p:blipFill>
        <p:spPr bwMode="auto">
          <a:xfrm>
            <a:off x="6084168" y="2796530"/>
            <a:ext cx="2376264" cy="294909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Resultado de imagen para dibujo de mam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989" y="3167231"/>
            <a:ext cx="2709027" cy="2460509"/>
          </a:xfrm>
          <a:prstGeom prst="rect">
            <a:avLst/>
          </a:prstGeom>
          <a:noFill/>
          <a:extLst>
            <a:ext uri="{909E8E84-426E-40DD-AFC4-6F175D3DCCD1}">
              <a14:hiddenFill xmlns:a14="http://schemas.microsoft.com/office/drawing/2010/main">
                <a:solidFill>
                  <a:srgbClr val="FFFFFF"/>
                </a:solidFill>
              </a14:hiddenFill>
            </a:ext>
          </a:extLst>
        </p:spPr>
      </p:pic>
      <p:sp>
        <p:nvSpPr>
          <p:cNvPr id="6" name="5 Rectángulo"/>
          <p:cNvSpPr/>
          <p:nvPr/>
        </p:nvSpPr>
        <p:spPr>
          <a:xfrm>
            <a:off x="866056" y="836712"/>
            <a:ext cx="485992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Rol de la madre:</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8198" name="Picture 6" descr="Imagen relacionad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96016" y="3167231"/>
            <a:ext cx="2885561" cy="2578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70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64" y="24475"/>
            <a:ext cx="9144000" cy="6833525"/>
          </a:xfrm>
          <a:prstGeom prst="rect">
            <a:avLst/>
          </a:prstGeom>
          <a:noFill/>
          <a:extLst>
            <a:ext uri="{909E8E84-426E-40DD-AFC4-6F175D3DCCD1}">
              <a14:hiddenFill xmlns:a14="http://schemas.microsoft.com/office/drawing/2010/main">
                <a:solidFill>
                  <a:srgbClr val="FFFFFF"/>
                </a:solidFill>
              </a14:hiddenFill>
            </a:ext>
          </a:extLst>
        </p:spPr>
      </p:pic>
      <p:sp>
        <p:nvSpPr>
          <p:cNvPr id="5" name="4 Rectángulo"/>
          <p:cNvSpPr/>
          <p:nvPr/>
        </p:nvSpPr>
        <p:spPr>
          <a:xfrm>
            <a:off x="611560" y="836712"/>
            <a:ext cx="417063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Rol del padre:</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6" name="5 Rectángulo"/>
          <p:cNvSpPr/>
          <p:nvPr/>
        </p:nvSpPr>
        <p:spPr>
          <a:xfrm>
            <a:off x="755576" y="2003355"/>
            <a:ext cx="4026614" cy="3139321"/>
          </a:xfrm>
          <a:prstGeom prst="rect">
            <a:avLst/>
          </a:prstGeom>
        </p:spPr>
        <p:txBody>
          <a:bodyPr wrap="square">
            <a:spAutoFit/>
          </a:bodyPr>
          <a:lstStyle/>
          <a:p>
            <a:pPr algn="just"/>
            <a:r>
              <a:rPr lang="es-MX" dirty="0"/>
              <a:t>El padre es realmente importante no solo como apoyo a la madre sino por su propia contribución a la vida del niño. </a:t>
            </a:r>
          </a:p>
          <a:p>
            <a:pPr algn="just"/>
            <a:endParaRPr lang="es-MX" dirty="0"/>
          </a:p>
          <a:p>
            <a:pPr algn="just"/>
            <a:r>
              <a:rPr lang="es-MX" dirty="0"/>
              <a:t>Hacia finales del primer año de vida, el padre intensifica los juegos corporales con su hijo, permitiéndole el desarrollo de su yo corporal. El padre es, entonces, una presencia vital, desde la cual el niño extrae los elementos necesarios para articular su propia </a:t>
            </a:r>
            <a:r>
              <a:rPr lang="es-MX" dirty="0" smtClean="0"/>
              <a:t>identidad.</a:t>
            </a:r>
            <a:endParaRPr lang="es-MX" dirty="0"/>
          </a:p>
        </p:txBody>
      </p:sp>
      <p:pic>
        <p:nvPicPr>
          <p:cNvPr id="7170" name="Picture 2" descr="Resultado de imagen para dibujo de padre"/>
          <p:cNvPicPr>
            <a:picLocks noChangeAspect="1" noChangeArrowheads="1"/>
          </p:cNvPicPr>
          <p:nvPr/>
        </p:nvPicPr>
        <p:blipFill rotWithShape="1">
          <a:blip r:embed="rId3">
            <a:extLst>
              <a:ext uri="{28A0092B-C50C-407E-A947-70E740481C1C}">
                <a14:useLocalDpi xmlns:a14="http://schemas.microsoft.com/office/drawing/2010/main" val="0"/>
              </a:ext>
            </a:extLst>
          </a:blip>
          <a:srcRect l="21966" t="6034" r="23249"/>
          <a:stretch/>
        </p:blipFill>
        <p:spPr bwMode="auto">
          <a:xfrm>
            <a:off x="5148064" y="1484784"/>
            <a:ext cx="3077029"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493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33525"/>
          </a:xfrm>
          <a:prstGeom prst="rect">
            <a:avLst/>
          </a:prstGeom>
          <a:noFill/>
          <a:extLst>
            <a:ext uri="{909E8E84-426E-40DD-AFC4-6F175D3DCCD1}">
              <a14:hiddenFill xmlns:a14="http://schemas.microsoft.com/office/drawing/2010/main">
                <a:solidFill>
                  <a:srgbClr val="FFFFFF"/>
                </a:solidFill>
              </a14:hiddenFill>
            </a:ext>
          </a:extLst>
        </p:spPr>
      </p:pic>
      <p:sp>
        <p:nvSpPr>
          <p:cNvPr id="5" name="4 Rectángulo"/>
          <p:cNvSpPr/>
          <p:nvPr/>
        </p:nvSpPr>
        <p:spPr>
          <a:xfrm>
            <a:off x="677207" y="903040"/>
            <a:ext cx="473623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Rol de abuelos: </a:t>
            </a:r>
            <a:endParaRPr lang="es-E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6146" name="Picture 2" descr="Imagen relacionad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351" y="3147563"/>
            <a:ext cx="3765649" cy="2816215"/>
          </a:xfrm>
          <a:prstGeom prst="rect">
            <a:avLst/>
          </a:prstGeom>
          <a:noFill/>
          <a:extLst>
            <a:ext uri="{909E8E84-426E-40DD-AFC4-6F175D3DCCD1}">
              <a14:hiddenFill xmlns:a14="http://schemas.microsoft.com/office/drawing/2010/main">
                <a:solidFill>
                  <a:srgbClr val="FFFFFF"/>
                </a:solidFill>
              </a14:hiddenFill>
            </a:ext>
          </a:extLst>
        </p:spPr>
      </p:pic>
      <p:sp>
        <p:nvSpPr>
          <p:cNvPr id="6" name="5 Rectángulo"/>
          <p:cNvSpPr/>
          <p:nvPr/>
        </p:nvSpPr>
        <p:spPr>
          <a:xfrm>
            <a:off x="648072" y="1947234"/>
            <a:ext cx="7884368" cy="1200329"/>
          </a:xfrm>
          <a:prstGeom prst="rect">
            <a:avLst/>
          </a:prstGeom>
        </p:spPr>
        <p:txBody>
          <a:bodyPr wrap="square">
            <a:spAutoFit/>
          </a:bodyPr>
          <a:lstStyle/>
          <a:p>
            <a:pPr algn="just"/>
            <a:r>
              <a:rPr lang="es-MX" dirty="0"/>
              <a:t>El papel de los </a:t>
            </a:r>
            <a:r>
              <a:rPr lang="es-MX" b="1" dirty="0"/>
              <a:t>abuelos</a:t>
            </a:r>
            <a:r>
              <a:rPr lang="es-MX" dirty="0"/>
              <a:t> para los nietos. Los </a:t>
            </a:r>
            <a:r>
              <a:rPr lang="es-MX" b="1" dirty="0"/>
              <a:t>abuelos</a:t>
            </a:r>
            <a:r>
              <a:rPr lang="es-MX" dirty="0"/>
              <a:t> son un pilar fundamental en la educación de los nietos, les transmiten sabiduría, experiencia, tranquilidad, cariño, estabilidad... Sin embargo, el beneficio es mutuo, ya que los </a:t>
            </a:r>
            <a:r>
              <a:rPr lang="es-MX" b="1" dirty="0"/>
              <a:t>abuelos</a:t>
            </a:r>
            <a:r>
              <a:rPr lang="es-MX" dirty="0"/>
              <a:t> también se enriquecen emocionalmente con el contacto con sus nietos.</a:t>
            </a:r>
            <a:endParaRPr lang="es-CL" dirty="0"/>
          </a:p>
        </p:txBody>
      </p:sp>
      <p:pic>
        <p:nvPicPr>
          <p:cNvPr id="6148" name="Picture 4" descr="Resultado de imagen para dibujo de abuel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0" y="3147563"/>
            <a:ext cx="2635675"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399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sp>
        <p:nvSpPr>
          <p:cNvPr id="5" name="4 Rectángulo"/>
          <p:cNvSpPr/>
          <p:nvPr/>
        </p:nvSpPr>
        <p:spPr>
          <a:xfrm>
            <a:off x="624105" y="2132606"/>
            <a:ext cx="4572000" cy="923330"/>
          </a:xfrm>
          <a:prstGeom prst="rect">
            <a:avLst/>
          </a:prstGeom>
        </p:spPr>
        <p:txBody>
          <a:bodyPr>
            <a:spAutoFit/>
          </a:bodyPr>
          <a:lstStyle/>
          <a:p>
            <a:pPr algn="just"/>
            <a:r>
              <a:rPr lang="es-MX" dirty="0"/>
              <a:t>Los hermanos desempeñan un rol primordial en el desarrollo de la personalidad de sus hermanos.</a:t>
            </a:r>
            <a:endParaRPr lang="es-CL" dirty="0"/>
          </a:p>
        </p:txBody>
      </p:sp>
      <p:sp>
        <p:nvSpPr>
          <p:cNvPr id="6" name="5 Rectángulo"/>
          <p:cNvSpPr/>
          <p:nvPr/>
        </p:nvSpPr>
        <p:spPr>
          <a:xfrm>
            <a:off x="612095" y="3068960"/>
            <a:ext cx="4572000" cy="2031325"/>
          </a:xfrm>
          <a:prstGeom prst="rect">
            <a:avLst/>
          </a:prstGeom>
        </p:spPr>
        <p:txBody>
          <a:bodyPr>
            <a:spAutoFit/>
          </a:bodyPr>
          <a:lstStyle/>
          <a:p>
            <a:pPr algn="just"/>
            <a:r>
              <a:rPr lang="es-MX" dirty="0"/>
              <a:t>Generalmente el hermano mayor alardea de sus conocimientos y el menor le sigue en absolutamente todo, pero cuando este último adquiere autonomía puede que se revele. Antes de esto, es normal que el hermano menor imite la actitud del mayor y repita sus temas de conversación. </a:t>
            </a:r>
            <a:endParaRPr lang="es-CL" dirty="0"/>
          </a:p>
        </p:txBody>
      </p:sp>
      <p:pic>
        <p:nvPicPr>
          <p:cNvPr id="5122" name="Picture 2" descr="Resultado de imagen para dibujo de herman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3560" y="1772816"/>
            <a:ext cx="3254035" cy="4208691"/>
          </a:xfrm>
          <a:prstGeom prst="rect">
            <a:avLst/>
          </a:prstGeom>
          <a:noFill/>
          <a:extLst>
            <a:ext uri="{909E8E84-426E-40DD-AFC4-6F175D3DCCD1}">
              <a14:hiddenFill xmlns:a14="http://schemas.microsoft.com/office/drawing/2010/main">
                <a:solidFill>
                  <a:srgbClr val="FFFFFF"/>
                </a:solidFill>
              </a14:hiddenFill>
            </a:ext>
          </a:extLst>
        </p:spPr>
      </p:pic>
      <p:sp>
        <p:nvSpPr>
          <p:cNvPr id="7" name="6 Rectángulo"/>
          <p:cNvSpPr/>
          <p:nvPr/>
        </p:nvSpPr>
        <p:spPr>
          <a:xfrm>
            <a:off x="612095" y="707932"/>
            <a:ext cx="619336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cap="none" spc="0" dirty="0" smtClean="0">
                <a:ln w="11430"/>
                <a:effectLst>
                  <a:outerShdw blurRad="50800" dist="39000" dir="5460000" algn="tl">
                    <a:srgbClr val="000000">
                      <a:alpha val="38000"/>
                    </a:srgbClr>
                  </a:outerShdw>
                </a:effectLst>
              </a:rPr>
              <a:t>Rol de los hermanos:</a:t>
            </a:r>
            <a:endParaRPr lang="es-ES" sz="5400" b="1" cap="none" spc="0" dirty="0">
              <a:ln w="11430"/>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417458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L"/>
          </a:p>
        </p:txBody>
      </p:sp>
      <p:sp>
        <p:nvSpPr>
          <p:cNvPr id="3" name="2 Marcador de contenido"/>
          <p:cNvSpPr>
            <a:spLocks noGrp="1"/>
          </p:cNvSpPr>
          <p:nvPr>
            <p:ph idx="1"/>
          </p:nvPr>
        </p:nvSpPr>
        <p:spPr/>
        <p:txBody>
          <a:bodyPr/>
          <a:lstStyle/>
          <a:p>
            <a:endParaRPr lang="es-CL"/>
          </a:p>
        </p:txBody>
      </p:sp>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sp>
        <p:nvSpPr>
          <p:cNvPr id="6" name="5 Elipse"/>
          <p:cNvSpPr/>
          <p:nvPr/>
        </p:nvSpPr>
        <p:spPr>
          <a:xfrm>
            <a:off x="781797" y="1749998"/>
            <a:ext cx="1440160" cy="88691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CL" b="1" dirty="0" smtClean="0"/>
              <a:t>Abuela Paterno</a:t>
            </a:r>
            <a:endParaRPr lang="es-CL" b="1" dirty="0"/>
          </a:p>
        </p:txBody>
      </p:sp>
      <p:sp>
        <p:nvSpPr>
          <p:cNvPr id="7" name="6 Elipse"/>
          <p:cNvSpPr/>
          <p:nvPr/>
        </p:nvSpPr>
        <p:spPr>
          <a:xfrm>
            <a:off x="2492152" y="1749998"/>
            <a:ext cx="1503784" cy="94468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CL" b="1" dirty="0" smtClean="0"/>
              <a:t>Abuelo Paterno</a:t>
            </a:r>
            <a:endParaRPr lang="es-CL" b="1" dirty="0"/>
          </a:p>
        </p:txBody>
      </p:sp>
      <p:sp>
        <p:nvSpPr>
          <p:cNvPr id="8" name="7 Elipse"/>
          <p:cNvSpPr/>
          <p:nvPr/>
        </p:nvSpPr>
        <p:spPr>
          <a:xfrm>
            <a:off x="4675381" y="1832050"/>
            <a:ext cx="1624811" cy="94468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CL" b="1" dirty="0" smtClean="0"/>
              <a:t>Abuela Materna </a:t>
            </a:r>
            <a:endParaRPr lang="es-CL" b="1" dirty="0"/>
          </a:p>
        </p:txBody>
      </p:sp>
      <p:sp>
        <p:nvSpPr>
          <p:cNvPr id="9" name="8 Elipse"/>
          <p:cNvSpPr/>
          <p:nvPr/>
        </p:nvSpPr>
        <p:spPr>
          <a:xfrm>
            <a:off x="6602052" y="1819919"/>
            <a:ext cx="1512168" cy="94468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CL" b="1" dirty="0" smtClean="0"/>
              <a:t>Abuelo Materno</a:t>
            </a:r>
            <a:endParaRPr lang="es-CL" b="1" dirty="0"/>
          </a:p>
        </p:txBody>
      </p:sp>
      <p:sp>
        <p:nvSpPr>
          <p:cNvPr id="10" name="9 Elipse"/>
          <p:cNvSpPr/>
          <p:nvPr/>
        </p:nvSpPr>
        <p:spPr>
          <a:xfrm>
            <a:off x="1765113" y="2852936"/>
            <a:ext cx="1395110" cy="73285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CL" b="1" dirty="0" smtClean="0"/>
              <a:t>Papá</a:t>
            </a:r>
            <a:r>
              <a:rPr lang="es-CL" dirty="0" smtClean="0"/>
              <a:t> </a:t>
            </a:r>
            <a:endParaRPr lang="es-CL" dirty="0"/>
          </a:p>
        </p:txBody>
      </p:sp>
      <p:sp>
        <p:nvSpPr>
          <p:cNvPr id="11" name="10 Elipse"/>
          <p:cNvSpPr/>
          <p:nvPr/>
        </p:nvSpPr>
        <p:spPr>
          <a:xfrm>
            <a:off x="5904148" y="2852936"/>
            <a:ext cx="1296144" cy="86409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CL" b="1" dirty="0" smtClean="0"/>
              <a:t>Mamá</a:t>
            </a:r>
            <a:endParaRPr lang="es-CL" b="1" dirty="0"/>
          </a:p>
        </p:txBody>
      </p:sp>
      <p:sp>
        <p:nvSpPr>
          <p:cNvPr id="12" name="11 Elipse"/>
          <p:cNvSpPr/>
          <p:nvPr/>
        </p:nvSpPr>
        <p:spPr>
          <a:xfrm>
            <a:off x="2843808" y="4010930"/>
            <a:ext cx="1411204" cy="9144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L" b="1" dirty="0" smtClean="0"/>
              <a:t>Hijos</a:t>
            </a:r>
            <a:r>
              <a:rPr lang="es-CL" dirty="0" smtClean="0"/>
              <a:t> </a:t>
            </a:r>
            <a:endParaRPr lang="es-CL" dirty="0"/>
          </a:p>
        </p:txBody>
      </p:sp>
      <p:sp>
        <p:nvSpPr>
          <p:cNvPr id="13" name="12 Elipse"/>
          <p:cNvSpPr/>
          <p:nvPr/>
        </p:nvSpPr>
        <p:spPr>
          <a:xfrm>
            <a:off x="4888988" y="4010930"/>
            <a:ext cx="1411204" cy="9144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L" b="1" dirty="0" smtClean="0"/>
              <a:t>Hijos</a:t>
            </a:r>
            <a:r>
              <a:rPr lang="es-CL" dirty="0" smtClean="0"/>
              <a:t> </a:t>
            </a:r>
            <a:endParaRPr lang="es-CL" dirty="0"/>
          </a:p>
        </p:txBody>
      </p:sp>
      <p:cxnSp>
        <p:nvCxnSpPr>
          <p:cNvPr id="15" name="14 Conector recto"/>
          <p:cNvCxnSpPr/>
          <p:nvPr/>
        </p:nvCxnSpPr>
        <p:spPr>
          <a:xfrm>
            <a:off x="1835696" y="2636912"/>
            <a:ext cx="216024" cy="2868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5892405" y="2782100"/>
            <a:ext cx="324476" cy="141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a:stCxn id="7" idx="4"/>
          </p:cNvCxnSpPr>
          <p:nvPr/>
        </p:nvCxnSpPr>
        <p:spPr>
          <a:xfrm flipH="1">
            <a:off x="2953741" y="2694684"/>
            <a:ext cx="290303" cy="293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a:endCxn id="11" idx="7"/>
          </p:cNvCxnSpPr>
          <p:nvPr/>
        </p:nvCxnSpPr>
        <p:spPr>
          <a:xfrm flipH="1">
            <a:off x="7010476" y="2753754"/>
            <a:ext cx="189816" cy="2257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4470585" y="3219363"/>
            <a:ext cx="178758" cy="12487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a:stCxn id="12" idx="6"/>
          </p:cNvCxnSpPr>
          <p:nvPr/>
        </p:nvCxnSpPr>
        <p:spPr>
          <a:xfrm>
            <a:off x="4255012" y="4468130"/>
            <a:ext cx="633976"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29 Elipse"/>
          <p:cNvSpPr/>
          <p:nvPr/>
        </p:nvSpPr>
        <p:spPr>
          <a:xfrm>
            <a:off x="3831996" y="5092514"/>
            <a:ext cx="1742670" cy="9144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CL" b="1" dirty="0" smtClean="0"/>
              <a:t>Hermanos</a:t>
            </a:r>
            <a:r>
              <a:rPr lang="es-CL" dirty="0" smtClean="0"/>
              <a:t> </a:t>
            </a:r>
            <a:endParaRPr lang="es-CL" dirty="0"/>
          </a:p>
        </p:txBody>
      </p:sp>
      <p:cxnSp>
        <p:nvCxnSpPr>
          <p:cNvPr id="32" name="31 Conector recto"/>
          <p:cNvCxnSpPr>
            <a:stCxn id="10" idx="6"/>
          </p:cNvCxnSpPr>
          <p:nvPr/>
        </p:nvCxnSpPr>
        <p:spPr>
          <a:xfrm flipV="1">
            <a:off x="3160223" y="3199447"/>
            <a:ext cx="2732182" cy="199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36 Conector recto"/>
          <p:cNvCxnSpPr/>
          <p:nvPr/>
        </p:nvCxnSpPr>
        <p:spPr>
          <a:xfrm>
            <a:off x="4675581" y="4468130"/>
            <a:ext cx="0" cy="624384"/>
          </a:xfrm>
          <a:prstGeom prst="line">
            <a:avLst/>
          </a:prstGeom>
        </p:spPr>
        <p:style>
          <a:lnRef idx="1">
            <a:schemeClr val="accent1"/>
          </a:lnRef>
          <a:fillRef idx="0">
            <a:schemeClr val="accent1"/>
          </a:fillRef>
          <a:effectRef idx="0">
            <a:schemeClr val="accent1"/>
          </a:effectRef>
          <a:fontRef idx="minor">
            <a:schemeClr val="tx1"/>
          </a:fontRef>
        </p:style>
      </p:cxnSp>
      <p:sp>
        <p:nvSpPr>
          <p:cNvPr id="43" name="42 Cinta hacia abajo"/>
          <p:cNvSpPr/>
          <p:nvPr/>
        </p:nvSpPr>
        <p:spPr>
          <a:xfrm>
            <a:off x="1765113" y="764704"/>
            <a:ext cx="5724636" cy="864096"/>
          </a:xfrm>
          <a:prstGeom prst="ribb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L" sz="2800" b="1" dirty="0" smtClean="0"/>
              <a:t>La Familia </a:t>
            </a:r>
            <a:endParaRPr lang="es-CL" sz="2800" b="1" dirty="0"/>
          </a:p>
        </p:txBody>
      </p:sp>
    </p:spTree>
    <p:extLst>
      <p:ext uri="{BB962C8B-B14F-4D97-AF65-F5344CB8AC3E}">
        <p14:creationId xmlns:p14="http://schemas.microsoft.com/office/powerpoint/2010/main" val="2992154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5"/>
            <a:ext cx="9144000" cy="683352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Resultado de imagen para familia dibujo"/>
          <p:cNvPicPr>
            <a:picLocks noChangeAspect="1" noChangeArrowheads="1"/>
          </p:cNvPicPr>
          <p:nvPr/>
        </p:nvPicPr>
        <p:blipFill rotWithShape="1">
          <a:blip r:embed="rId3">
            <a:extLst>
              <a:ext uri="{28A0092B-C50C-407E-A947-70E740481C1C}">
                <a14:useLocalDpi xmlns:a14="http://schemas.microsoft.com/office/drawing/2010/main" val="0"/>
              </a:ext>
            </a:extLst>
          </a:blip>
          <a:srcRect b="6088"/>
          <a:stretch/>
        </p:blipFill>
        <p:spPr bwMode="auto">
          <a:xfrm>
            <a:off x="467544" y="1472010"/>
            <a:ext cx="8064896" cy="4769050"/>
          </a:xfrm>
          <a:prstGeom prst="rect">
            <a:avLst/>
          </a:prstGeom>
          <a:noFill/>
          <a:ln w="57150">
            <a:solidFill>
              <a:srgbClr val="0070C0"/>
            </a:solidFill>
          </a:ln>
          <a:extLst>
            <a:ext uri="{909E8E84-426E-40DD-AFC4-6F175D3DCCD1}">
              <a14:hiddenFill xmlns:a14="http://schemas.microsoft.com/office/drawing/2010/main">
                <a:solidFill>
                  <a:srgbClr val="FFFFFF"/>
                </a:solidFill>
              </a14:hiddenFill>
            </a:ext>
          </a:extLst>
        </p:spPr>
      </p:pic>
      <p:sp>
        <p:nvSpPr>
          <p:cNvPr id="5" name="4 Rectángulo"/>
          <p:cNvSpPr/>
          <p:nvPr/>
        </p:nvSpPr>
        <p:spPr>
          <a:xfrm>
            <a:off x="467544" y="598321"/>
            <a:ext cx="8064896" cy="830997"/>
          </a:xfrm>
          <a:prstGeom prst="rect">
            <a:avLst/>
          </a:prstGeom>
        </p:spPr>
        <p:style>
          <a:lnRef idx="1">
            <a:schemeClr val="accent4"/>
          </a:lnRef>
          <a:fillRef idx="2">
            <a:schemeClr val="accent4"/>
          </a:fillRef>
          <a:effectRef idx="1">
            <a:schemeClr val="accent4"/>
          </a:effectRef>
          <a:fontRef idx="minor">
            <a:schemeClr val="dk1"/>
          </a:fontRef>
        </p:style>
        <p:txBody>
          <a:bodyPr wrap="square" lIns="91440" tIns="45720" rIns="91440" bIns="45720">
            <a:spAutoFit/>
          </a:bodyPr>
          <a:lstStyle/>
          <a:p>
            <a:pPr algn="ctr"/>
            <a:r>
              <a:rPr lang="es-ES" sz="4800" b="1" cap="none" spc="0" dirty="0" smtClean="0">
                <a:ln w="1905"/>
                <a:effectLst>
                  <a:innerShdw blurRad="69850" dist="43180" dir="5400000">
                    <a:srgbClr val="000000">
                      <a:alpha val="65000"/>
                    </a:srgbClr>
                  </a:innerShdw>
                </a:effectLst>
              </a:rPr>
              <a:t>¿ Quién compone tu familia?</a:t>
            </a:r>
            <a:endParaRPr lang="es-ES" sz="4800" b="1" cap="none" spc="0" dirty="0">
              <a:ln w="1905"/>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9743828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TotalTime>
  <Words>277</Words>
  <Application>Microsoft Office PowerPoint</Application>
  <PresentationFormat>Presentación en pantalla (4:3)</PresentationFormat>
  <Paragraphs>30</Paragraphs>
  <Slides>11</Slides>
  <Notes>0</Notes>
  <HiddenSlides>0</HiddenSlides>
  <MMClips>0</MMClips>
  <ScaleCrop>false</ScaleCrop>
  <HeadingPairs>
    <vt:vector size="4" baseType="variant">
      <vt:variant>
        <vt:lpstr>Tema</vt:lpstr>
      </vt:variant>
      <vt:variant>
        <vt:i4>1</vt:i4>
      </vt:variant>
      <vt:variant>
        <vt:lpstr>Títulos de diapositiva</vt:lpstr>
      </vt:variant>
      <vt:variant>
        <vt:i4>11</vt:i4>
      </vt:variant>
    </vt:vector>
  </HeadingPairs>
  <TitlesOfParts>
    <vt:vector size="12"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Manuel Alvarado</dc:creator>
  <cp:lastModifiedBy>Manuel Alvarado</cp:lastModifiedBy>
  <cp:revision>12</cp:revision>
  <dcterms:created xsi:type="dcterms:W3CDTF">2019-03-12T14:28:05Z</dcterms:created>
  <dcterms:modified xsi:type="dcterms:W3CDTF">2019-03-12T17:58:19Z</dcterms:modified>
</cp:coreProperties>
</file>