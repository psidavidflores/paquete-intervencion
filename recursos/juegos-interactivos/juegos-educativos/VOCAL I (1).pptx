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17A4D-CFE6-4D40-B644-192C00CA781C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9EA6C-C26A-4BBF-9A99-DC8B2E8E7FC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98756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17A4D-CFE6-4D40-B644-192C00CA781C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9EA6C-C26A-4BBF-9A99-DC8B2E8E7FC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49280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17A4D-CFE6-4D40-B644-192C00CA781C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9EA6C-C26A-4BBF-9A99-DC8B2E8E7FC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85227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17A4D-CFE6-4D40-B644-192C00CA781C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9EA6C-C26A-4BBF-9A99-DC8B2E8E7FC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75706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17A4D-CFE6-4D40-B644-192C00CA781C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9EA6C-C26A-4BBF-9A99-DC8B2E8E7FC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57110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17A4D-CFE6-4D40-B644-192C00CA781C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9EA6C-C26A-4BBF-9A99-DC8B2E8E7FC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47963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17A4D-CFE6-4D40-B644-192C00CA781C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9EA6C-C26A-4BBF-9A99-DC8B2E8E7FC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64904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17A4D-CFE6-4D40-B644-192C00CA781C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9EA6C-C26A-4BBF-9A99-DC8B2E8E7FC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67164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17A4D-CFE6-4D40-B644-192C00CA781C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9EA6C-C26A-4BBF-9A99-DC8B2E8E7FC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06583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17A4D-CFE6-4D40-B644-192C00CA781C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9EA6C-C26A-4BBF-9A99-DC8B2E8E7FC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57703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17A4D-CFE6-4D40-B644-192C00CA781C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9EA6C-C26A-4BBF-9A99-DC8B2E8E7FC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31147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F17A4D-CFE6-4D40-B644-192C00CA781C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49EA6C-C26A-4BBF-9A99-DC8B2E8E7FC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74309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gi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jpeg"/><Relationship Id="rId7" Type="http://schemas.openxmlformats.org/officeDocument/2006/relationships/image" Target="../media/image17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3419872" y="692696"/>
            <a:ext cx="4207948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s-ES" sz="9600" b="1" cap="none" spc="0" dirty="0" smtClean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    Vocal</a:t>
            </a:r>
            <a:r>
              <a:rPr lang="es-ES" sz="5400" b="1" cap="none" spc="0" dirty="0" smtClean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 </a:t>
            </a:r>
            <a:endParaRPr lang="es-ES" sz="5400" b="1" cap="none" spc="0" dirty="0">
              <a:ln>
                <a:prstDash val="solid"/>
              </a:ln>
              <a:gradFill rotWithShape="1">
                <a:gsLst>
                  <a:gs pos="0">
                    <a:schemeClr val="accent4">
                      <a:tint val="70000"/>
                      <a:satMod val="200000"/>
                    </a:schemeClr>
                  </a:gs>
                  <a:gs pos="40000">
                    <a:schemeClr val="accent4">
                      <a:tint val="90000"/>
                      <a:satMod val="130000"/>
                    </a:schemeClr>
                  </a:gs>
                  <a:gs pos="50000">
                    <a:schemeClr val="accent4">
                      <a:tint val="90000"/>
                      <a:satMod val="130000"/>
                    </a:schemeClr>
                  </a:gs>
                  <a:gs pos="68000">
                    <a:schemeClr val="accent4">
                      <a:tint val="90000"/>
                      <a:satMod val="130000"/>
                    </a:schemeClr>
                  </a:gs>
                  <a:gs pos="100000">
                    <a:schemeClr val="accent4">
                      <a:tint val="70000"/>
                      <a:satMod val="200000"/>
                    </a:schemeClr>
                  </a:gs>
                </a:gsLst>
                <a:lin ang="5400000"/>
              </a:gra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</a:endParaRPr>
          </a:p>
        </p:txBody>
      </p:sp>
      <p:pic>
        <p:nvPicPr>
          <p:cNvPr id="1030" name="Picture 6" descr="Resultado de imagen para letra i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754"/>
          <a:stretch/>
        </p:blipFill>
        <p:spPr bwMode="auto">
          <a:xfrm>
            <a:off x="3563888" y="2564904"/>
            <a:ext cx="3553666" cy="3143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Resultado de imagen para dibujo iguan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2924944"/>
            <a:ext cx="1780844" cy="1838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Resultado de imagen para dibujo iglesi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7377" y="2011140"/>
            <a:ext cx="1554623" cy="1827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0544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Resultado de imagen para dibujo igles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661140"/>
            <a:ext cx="2520280" cy="2962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Resultado de imagen para dibujo indi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4447" y="1692507"/>
            <a:ext cx="2638425" cy="304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1115616" y="4589512"/>
            <a:ext cx="30963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 smtClean="0"/>
              <a:t>  </a:t>
            </a:r>
            <a:r>
              <a:rPr lang="es-CL" sz="6000" b="1" dirty="0" smtClean="0">
                <a:solidFill>
                  <a:srgbClr val="FF0000"/>
                </a:solidFill>
              </a:rPr>
              <a:t>I</a:t>
            </a:r>
            <a:r>
              <a:rPr lang="es-CL" sz="6000" b="1" dirty="0" smtClean="0"/>
              <a:t>glesia</a:t>
            </a:r>
            <a:r>
              <a:rPr lang="es-CL" dirty="0" smtClean="0"/>
              <a:t> </a:t>
            </a:r>
            <a:endParaRPr lang="es-CL" dirty="0"/>
          </a:p>
        </p:txBody>
      </p:sp>
      <p:sp>
        <p:nvSpPr>
          <p:cNvPr id="8" name="7 CuadroTexto"/>
          <p:cNvSpPr txBox="1"/>
          <p:nvPr/>
        </p:nvSpPr>
        <p:spPr>
          <a:xfrm>
            <a:off x="4716016" y="4709141"/>
            <a:ext cx="30963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b="1" dirty="0" smtClean="0">
                <a:solidFill>
                  <a:srgbClr val="FF0000"/>
                </a:solidFill>
              </a:rPr>
              <a:t>I</a:t>
            </a:r>
            <a:r>
              <a:rPr lang="es-CL" sz="6000" b="1" dirty="0" smtClean="0"/>
              <a:t>ndio</a:t>
            </a:r>
            <a:r>
              <a:rPr lang="es-CL" dirty="0" smtClean="0"/>
              <a:t> </a:t>
            </a:r>
            <a:endParaRPr lang="es-CL" dirty="0"/>
          </a:p>
        </p:txBody>
      </p:sp>
      <p:sp>
        <p:nvSpPr>
          <p:cNvPr id="7" name="6 Rectángulo"/>
          <p:cNvSpPr/>
          <p:nvPr/>
        </p:nvSpPr>
        <p:spPr>
          <a:xfrm>
            <a:off x="1905728" y="769177"/>
            <a:ext cx="533255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Comienza con i ….</a:t>
            </a:r>
            <a:endParaRPr lang="es-ES" sz="5400" b="1" cap="none" spc="0" dirty="0">
              <a:ln>
                <a:prstDash val="solid"/>
              </a:ln>
              <a:gradFill rotWithShape="1">
                <a:gsLst>
                  <a:gs pos="0">
                    <a:schemeClr val="accent4">
                      <a:tint val="70000"/>
                      <a:satMod val="200000"/>
                    </a:schemeClr>
                  </a:gs>
                  <a:gs pos="40000">
                    <a:schemeClr val="accent4">
                      <a:tint val="90000"/>
                      <a:satMod val="130000"/>
                    </a:schemeClr>
                  </a:gs>
                  <a:gs pos="50000">
                    <a:schemeClr val="accent4">
                      <a:tint val="90000"/>
                      <a:satMod val="130000"/>
                    </a:schemeClr>
                  </a:gs>
                  <a:gs pos="68000">
                    <a:schemeClr val="accent4">
                      <a:tint val="90000"/>
                      <a:satMod val="130000"/>
                    </a:schemeClr>
                  </a:gs>
                  <a:gs pos="100000">
                    <a:schemeClr val="accent4">
                      <a:tint val="70000"/>
                      <a:satMod val="200000"/>
                    </a:schemeClr>
                  </a:gs>
                </a:gsLst>
                <a:lin ang="5400000"/>
              </a:gra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87453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1115616" y="4437112"/>
            <a:ext cx="30963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 smtClean="0"/>
              <a:t>    </a:t>
            </a:r>
            <a:r>
              <a:rPr lang="es-CL" sz="6000" b="1" dirty="0" smtClean="0">
                <a:solidFill>
                  <a:srgbClr val="FF0000"/>
                </a:solidFill>
              </a:rPr>
              <a:t>I</a:t>
            </a:r>
            <a:r>
              <a:rPr lang="es-CL" sz="6000" b="1" dirty="0" smtClean="0"/>
              <a:t>guana</a:t>
            </a:r>
            <a:r>
              <a:rPr lang="es-CL" dirty="0" smtClean="0"/>
              <a:t> </a:t>
            </a:r>
            <a:endParaRPr lang="es-CL" dirty="0"/>
          </a:p>
        </p:txBody>
      </p:sp>
      <p:sp>
        <p:nvSpPr>
          <p:cNvPr id="6" name="5 CuadroTexto"/>
          <p:cNvSpPr txBox="1"/>
          <p:nvPr/>
        </p:nvSpPr>
        <p:spPr>
          <a:xfrm>
            <a:off x="4898926" y="4605198"/>
            <a:ext cx="30963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 smtClean="0"/>
              <a:t>     </a:t>
            </a:r>
            <a:r>
              <a:rPr lang="es-CL" sz="6000" b="1" dirty="0" smtClean="0">
                <a:solidFill>
                  <a:srgbClr val="FF0000"/>
                </a:solidFill>
              </a:rPr>
              <a:t>I</a:t>
            </a:r>
            <a:r>
              <a:rPr lang="es-CL" sz="6000" b="1" dirty="0" smtClean="0"/>
              <a:t>glú</a:t>
            </a:r>
            <a:r>
              <a:rPr lang="es-CL" dirty="0" smtClean="0"/>
              <a:t> </a:t>
            </a:r>
            <a:endParaRPr lang="es-CL" dirty="0"/>
          </a:p>
        </p:txBody>
      </p:sp>
      <p:pic>
        <p:nvPicPr>
          <p:cNvPr id="2052" name="Picture 4" descr="Resultado de imagen para dibujo iglu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1590013"/>
            <a:ext cx="2886100" cy="3193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Resultado de imagen para dibujo iguan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396175"/>
            <a:ext cx="3107904" cy="3209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8 Rectángulo"/>
          <p:cNvSpPr/>
          <p:nvPr/>
        </p:nvSpPr>
        <p:spPr>
          <a:xfrm>
            <a:off x="1905728" y="769177"/>
            <a:ext cx="533255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Comienza con i ….</a:t>
            </a:r>
            <a:endParaRPr lang="es-ES" sz="5400" b="1" cap="none" spc="0" dirty="0">
              <a:ln>
                <a:prstDash val="solid"/>
              </a:ln>
              <a:gradFill rotWithShape="1">
                <a:gsLst>
                  <a:gs pos="0">
                    <a:schemeClr val="accent4">
                      <a:tint val="70000"/>
                      <a:satMod val="200000"/>
                    </a:schemeClr>
                  </a:gs>
                  <a:gs pos="40000">
                    <a:schemeClr val="accent4">
                      <a:tint val="90000"/>
                      <a:satMod val="130000"/>
                    </a:schemeClr>
                  </a:gs>
                  <a:gs pos="50000">
                    <a:schemeClr val="accent4">
                      <a:tint val="90000"/>
                      <a:satMod val="130000"/>
                    </a:schemeClr>
                  </a:gs>
                  <a:gs pos="68000">
                    <a:schemeClr val="accent4">
                      <a:tint val="90000"/>
                      <a:satMod val="130000"/>
                    </a:schemeClr>
                  </a:gs>
                  <a:gs pos="100000">
                    <a:schemeClr val="accent4">
                      <a:tint val="70000"/>
                      <a:satMod val="200000"/>
                    </a:schemeClr>
                  </a:gs>
                </a:gsLst>
                <a:lin ang="5400000"/>
              </a:gra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59411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Resultado de imagen para dibujo isl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764231"/>
            <a:ext cx="3060183" cy="2535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CuadroTexto"/>
          <p:cNvSpPr txBox="1"/>
          <p:nvPr/>
        </p:nvSpPr>
        <p:spPr>
          <a:xfrm>
            <a:off x="1115616" y="4437112"/>
            <a:ext cx="30963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 smtClean="0"/>
              <a:t>     </a:t>
            </a:r>
            <a:r>
              <a:rPr lang="es-CL" sz="6000" b="1" dirty="0" smtClean="0">
                <a:solidFill>
                  <a:srgbClr val="FF0000"/>
                </a:solidFill>
              </a:rPr>
              <a:t>I</a:t>
            </a:r>
            <a:r>
              <a:rPr lang="es-CL" sz="6000" b="1" dirty="0" smtClean="0"/>
              <a:t>sla</a:t>
            </a:r>
            <a:r>
              <a:rPr lang="es-CL" dirty="0" smtClean="0"/>
              <a:t> </a:t>
            </a:r>
            <a:endParaRPr lang="es-CL" dirty="0"/>
          </a:p>
        </p:txBody>
      </p:sp>
      <p:pic>
        <p:nvPicPr>
          <p:cNvPr id="9222" name="Picture 6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3649" y="1696639"/>
            <a:ext cx="3037610" cy="2670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8 CuadroTexto"/>
          <p:cNvSpPr txBox="1"/>
          <p:nvPr/>
        </p:nvSpPr>
        <p:spPr>
          <a:xfrm>
            <a:off x="4599353" y="4437111"/>
            <a:ext cx="30963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 smtClean="0"/>
              <a:t>    </a:t>
            </a:r>
            <a:r>
              <a:rPr lang="es-CL" sz="6000" b="1" dirty="0" smtClean="0">
                <a:solidFill>
                  <a:srgbClr val="FF0000"/>
                </a:solidFill>
              </a:rPr>
              <a:t>I</a:t>
            </a:r>
            <a:r>
              <a:rPr lang="es-CL" sz="6000" b="1" dirty="0" smtClean="0"/>
              <a:t>mán</a:t>
            </a:r>
            <a:r>
              <a:rPr lang="es-CL" dirty="0" smtClean="0"/>
              <a:t> </a:t>
            </a:r>
            <a:endParaRPr lang="es-CL" dirty="0"/>
          </a:p>
        </p:txBody>
      </p:sp>
      <p:sp>
        <p:nvSpPr>
          <p:cNvPr id="10" name="9 Rectángulo"/>
          <p:cNvSpPr/>
          <p:nvPr/>
        </p:nvSpPr>
        <p:spPr>
          <a:xfrm>
            <a:off x="1905728" y="769177"/>
            <a:ext cx="533255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Comienza con i ….</a:t>
            </a:r>
            <a:endParaRPr lang="es-ES" sz="5400" b="1" cap="none" spc="0" dirty="0">
              <a:ln>
                <a:prstDash val="solid"/>
              </a:ln>
              <a:gradFill rotWithShape="1">
                <a:gsLst>
                  <a:gs pos="0">
                    <a:schemeClr val="accent4">
                      <a:tint val="70000"/>
                      <a:satMod val="200000"/>
                    </a:schemeClr>
                  </a:gs>
                  <a:gs pos="40000">
                    <a:schemeClr val="accent4">
                      <a:tint val="90000"/>
                      <a:satMod val="130000"/>
                    </a:schemeClr>
                  </a:gs>
                  <a:gs pos="50000">
                    <a:schemeClr val="accent4">
                      <a:tint val="90000"/>
                      <a:satMod val="130000"/>
                    </a:schemeClr>
                  </a:gs>
                  <a:gs pos="68000">
                    <a:schemeClr val="accent4">
                      <a:tint val="90000"/>
                      <a:satMod val="130000"/>
                    </a:schemeClr>
                  </a:gs>
                  <a:gs pos="100000">
                    <a:schemeClr val="accent4">
                      <a:tint val="70000"/>
                      <a:satMod val="200000"/>
                    </a:schemeClr>
                  </a:gs>
                </a:gsLst>
                <a:lin ang="5400000"/>
              </a:gra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43370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4720389" y="3456298"/>
            <a:ext cx="309634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 smtClean="0"/>
              <a:t>     </a:t>
            </a:r>
          </a:p>
          <a:p>
            <a:r>
              <a:rPr lang="es-CL" sz="6000" b="1" dirty="0" smtClean="0">
                <a:solidFill>
                  <a:srgbClr val="FF0000"/>
                </a:solidFill>
              </a:rPr>
              <a:t>I</a:t>
            </a:r>
            <a:r>
              <a:rPr lang="es-CL" sz="6000" b="1" dirty="0" smtClean="0"/>
              <a:t>nvierno</a:t>
            </a:r>
            <a:r>
              <a:rPr lang="es-CL" dirty="0" smtClean="0"/>
              <a:t> </a:t>
            </a:r>
            <a:endParaRPr lang="es-CL" dirty="0"/>
          </a:p>
        </p:txBody>
      </p:sp>
      <p:sp>
        <p:nvSpPr>
          <p:cNvPr id="6" name="5 CuadroTexto"/>
          <p:cNvSpPr txBox="1"/>
          <p:nvPr/>
        </p:nvSpPr>
        <p:spPr>
          <a:xfrm>
            <a:off x="899592" y="3550051"/>
            <a:ext cx="34563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 smtClean="0"/>
              <a:t>     </a:t>
            </a:r>
            <a:r>
              <a:rPr lang="es-CL" sz="6000" b="1" dirty="0" smtClean="0">
                <a:solidFill>
                  <a:srgbClr val="FF0000"/>
                </a:solidFill>
              </a:rPr>
              <a:t>I</a:t>
            </a:r>
            <a:r>
              <a:rPr lang="es-CL" sz="6000" b="1" dirty="0" smtClean="0"/>
              <a:t>mpresora</a:t>
            </a:r>
            <a:r>
              <a:rPr lang="es-CL" dirty="0" smtClean="0"/>
              <a:t> </a:t>
            </a:r>
            <a:endParaRPr lang="es-CL" dirty="0"/>
          </a:p>
        </p:txBody>
      </p:sp>
      <p:pic>
        <p:nvPicPr>
          <p:cNvPr id="8194" name="Picture 2" descr="Resultado de imagen para dibujo invierno colo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1338" y="1652153"/>
            <a:ext cx="3107006" cy="3023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076" y="1700808"/>
            <a:ext cx="2945416" cy="2945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8 Rectángulo"/>
          <p:cNvSpPr/>
          <p:nvPr/>
        </p:nvSpPr>
        <p:spPr>
          <a:xfrm>
            <a:off x="1905728" y="769177"/>
            <a:ext cx="533255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Comienza con i ….</a:t>
            </a:r>
            <a:endParaRPr lang="es-ES" sz="5400" b="1" cap="none" spc="0" dirty="0">
              <a:ln>
                <a:prstDash val="solid"/>
              </a:ln>
              <a:gradFill rotWithShape="1">
                <a:gsLst>
                  <a:gs pos="0">
                    <a:schemeClr val="accent4">
                      <a:tint val="70000"/>
                      <a:satMod val="200000"/>
                    </a:schemeClr>
                  </a:gs>
                  <a:gs pos="40000">
                    <a:schemeClr val="accent4">
                      <a:tint val="90000"/>
                      <a:satMod val="130000"/>
                    </a:schemeClr>
                  </a:gs>
                  <a:gs pos="50000">
                    <a:schemeClr val="accent4">
                      <a:tint val="90000"/>
                      <a:satMod val="130000"/>
                    </a:schemeClr>
                  </a:gs>
                  <a:gs pos="68000">
                    <a:schemeClr val="accent4">
                      <a:tint val="90000"/>
                      <a:satMod val="130000"/>
                    </a:schemeClr>
                  </a:gs>
                  <a:gs pos="100000">
                    <a:schemeClr val="accent4">
                      <a:tint val="70000"/>
                      <a:satMod val="200000"/>
                    </a:schemeClr>
                  </a:gs>
                </a:gsLst>
                <a:lin ang="5400000"/>
              </a:gra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40710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097068" y="908720"/>
            <a:ext cx="603402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s-ES" sz="4000" b="1" dirty="0">
                <a:ln>
                  <a:prstDash val="solid"/>
                </a:ln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A</a:t>
            </a:r>
            <a:r>
              <a:rPr lang="es-ES" sz="4000" b="1" cap="none" spc="0" dirty="0" smtClean="0">
                <a:ln>
                  <a:prstDash val="solid"/>
                </a:ln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ctividad: Busca todas las i </a:t>
            </a:r>
            <a:endParaRPr lang="es-ES" sz="4000" b="1" cap="none" spc="0" dirty="0">
              <a:ln>
                <a:prstDash val="solid"/>
              </a:ln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</a:endParaRPr>
          </a:p>
        </p:txBody>
      </p:sp>
      <p:sp>
        <p:nvSpPr>
          <p:cNvPr id="6" name="5 Elipse"/>
          <p:cNvSpPr/>
          <p:nvPr/>
        </p:nvSpPr>
        <p:spPr>
          <a:xfrm>
            <a:off x="1007604" y="2000851"/>
            <a:ext cx="1512168" cy="1368152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4000" dirty="0"/>
              <a:t>A</a:t>
            </a:r>
          </a:p>
        </p:txBody>
      </p:sp>
      <p:sp>
        <p:nvSpPr>
          <p:cNvPr id="8" name="7 Elipse"/>
          <p:cNvSpPr/>
          <p:nvPr/>
        </p:nvSpPr>
        <p:spPr>
          <a:xfrm>
            <a:off x="6618187" y="3615947"/>
            <a:ext cx="1512168" cy="1368152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4000" dirty="0" smtClean="0"/>
              <a:t>i</a:t>
            </a:r>
            <a:endParaRPr lang="es-CL" sz="4000" dirty="0"/>
          </a:p>
        </p:txBody>
      </p:sp>
      <p:sp>
        <p:nvSpPr>
          <p:cNvPr id="9" name="8 Elipse"/>
          <p:cNvSpPr/>
          <p:nvPr/>
        </p:nvSpPr>
        <p:spPr>
          <a:xfrm>
            <a:off x="5328084" y="4814219"/>
            <a:ext cx="1512168" cy="1368152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4000" dirty="0"/>
              <a:t>u</a:t>
            </a:r>
          </a:p>
        </p:txBody>
      </p:sp>
      <p:sp>
        <p:nvSpPr>
          <p:cNvPr id="10" name="9 Elipse"/>
          <p:cNvSpPr/>
          <p:nvPr/>
        </p:nvSpPr>
        <p:spPr>
          <a:xfrm>
            <a:off x="3635896" y="4814219"/>
            <a:ext cx="1512168" cy="1368152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4000" dirty="0" smtClean="0"/>
              <a:t>A</a:t>
            </a:r>
            <a:endParaRPr lang="es-CL" sz="4000" dirty="0"/>
          </a:p>
        </p:txBody>
      </p:sp>
      <p:sp>
        <p:nvSpPr>
          <p:cNvPr id="11" name="10 Elipse"/>
          <p:cNvSpPr/>
          <p:nvPr/>
        </p:nvSpPr>
        <p:spPr>
          <a:xfrm>
            <a:off x="1763688" y="4814219"/>
            <a:ext cx="1512168" cy="1368152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4000" dirty="0" smtClean="0"/>
              <a:t>i</a:t>
            </a:r>
            <a:endParaRPr lang="es-CL" sz="4000" dirty="0"/>
          </a:p>
        </p:txBody>
      </p:sp>
      <p:sp>
        <p:nvSpPr>
          <p:cNvPr id="12" name="11 Elipse"/>
          <p:cNvSpPr/>
          <p:nvPr/>
        </p:nvSpPr>
        <p:spPr>
          <a:xfrm>
            <a:off x="6372200" y="2059748"/>
            <a:ext cx="1512168" cy="1368152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4800" dirty="0" smtClean="0"/>
              <a:t>i</a:t>
            </a:r>
            <a:endParaRPr lang="es-CL" sz="4800" dirty="0"/>
          </a:p>
        </p:txBody>
      </p:sp>
      <p:sp>
        <p:nvSpPr>
          <p:cNvPr id="13" name="12 Elipse"/>
          <p:cNvSpPr/>
          <p:nvPr/>
        </p:nvSpPr>
        <p:spPr>
          <a:xfrm>
            <a:off x="844098" y="3534308"/>
            <a:ext cx="1512168" cy="1368152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4000" dirty="0" smtClean="0"/>
              <a:t>E</a:t>
            </a:r>
            <a:endParaRPr lang="es-CL" sz="4000" dirty="0"/>
          </a:p>
        </p:txBody>
      </p:sp>
      <p:sp>
        <p:nvSpPr>
          <p:cNvPr id="14" name="13 Elipse"/>
          <p:cNvSpPr/>
          <p:nvPr/>
        </p:nvSpPr>
        <p:spPr>
          <a:xfrm>
            <a:off x="2601908" y="3136687"/>
            <a:ext cx="1512168" cy="1368152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4000" dirty="0"/>
              <a:t>i</a:t>
            </a:r>
          </a:p>
        </p:txBody>
      </p:sp>
      <p:sp>
        <p:nvSpPr>
          <p:cNvPr id="15" name="14 Elipse"/>
          <p:cNvSpPr/>
          <p:nvPr/>
        </p:nvSpPr>
        <p:spPr>
          <a:xfrm>
            <a:off x="4607915" y="3136687"/>
            <a:ext cx="1512168" cy="1368152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4000" dirty="0" smtClean="0"/>
              <a:t>A</a:t>
            </a:r>
            <a:endParaRPr lang="es-CL" sz="4000" dirty="0"/>
          </a:p>
        </p:txBody>
      </p:sp>
    </p:spTree>
    <p:extLst>
      <p:ext uri="{BB962C8B-B14F-4D97-AF65-F5344CB8AC3E}">
        <p14:creationId xmlns:p14="http://schemas.microsoft.com/office/powerpoint/2010/main" val="182707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33" y="2047333"/>
            <a:ext cx="1872208" cy="2031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4785" y="4205600"/>
            <a:ext cx="2049142" cy="1907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6" descr="Resultado de imagen para dibujo de ABEJ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6152" name="Picture 8" descr="Resultado de imagen para dibujo de ABEJ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2780928"/>
            <a:ext cx="2223405" cy="158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Resultado de imagen para dibujo de UVA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36" t="15165" r="14552" b="16373"/>
          <a:stretch/>
        </p:blipFill>
        <p:spPr bwMode="auto">
          <a:xfrm>
            <a:off x="3633684" y="4205601"/>
            <a:ext cx="1730404" cy="1673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6" name="Picture 12" descr="Imagen relacionada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534" y="4496027"/>
            <a:ext cx="1851877" cy="1483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8" name="Picture 14" descr="Resultado de imagen para dibujo de OSO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66" t="4459" r="11780" b="4557"/>
          <a:stretch/>
        </p:blipFill>
        <p:spPr bwMode="auto">
          <a:xfrm>
            <a:off x="3275856" y="2312601"/>
            <a:ext cx="1872208" cy="1883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CuadroTexto"/>
          <p:cNvSpPr txBox="1"/>
          <p:nvPr/>
        </p:nvSpPr>
        <p:spPr>
          <a:xfrm>
            <a:off x="1403648" y="1196752"/>
            <a:ext cx="6192688" cy="70788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000" b="1" dirty="0" smtClean="0"/>
              <a:t>Actividad:  </a:t>
            </a:r>
            <a:r>
              <a:rPr lang="es-CL" sz="2000" dirty="0" smtClean="0"/>
              <a:t>Marca con una ( X) los dibujos que comience con la vocal i. </a:t>
            </a:r>
            <a:endParaRPr lang="es-CL" sz="2000" dirty="0"/>
          </a:p>
        </p:txBody>
      </p:sp>
    </p:spTree>
    <p:extLst>
      <p:ext uri="{BB962C8B-B14F-4D97-AF65-F5344CB8AC3E}">
        <p14:creationId xmlns:p14="http://schemas.microsoft.com/office/powerpoint/2010/main" val="3463507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Resultado de imagen para dibujo de igles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291" y="2071099"/>
            <a:ext cx="1770197" cy="18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Resultado de imagen para dibujo de ingeniero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73" t="4234" r="19278"/>
          <a:stretch/>
        </p:blipFill>
        <p:spPr bwMode="auto">
          <a:xfrm>
            <a:off x="1542549" y="3939267"/>
            <a:ext cx="1828801" cy="1839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3563888" y="2517430"/>
            <a:ext cx="3408883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7200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IGLESIA</a:t>
            </a:r>
            <a:r>
              <a:rPr lang="es-ES" sz="5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8" name="7 Rectángulo"/>
          <p:cNvSpPr/>
          <p:nvPr/>
        </p:nvSpPr>
        <p:spPr>
          <a:xfrm>
            <a:off x="3347864" y="4437112"/>
            <a:ext cx="4506106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6600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INGENIERO </a:t>
            </a:r>
            <a:r>
              <a:rPr lang="es-ES" sz="5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6" name="5 Pergamino horizontal"/>
          <p:cNvSpPr/>
          <p:nvPr/>
        </p:nvSpPr>
        <p:spPr>
          <a:xfrm>
            <a:off x="1128044" y="990979"/>
            <a:ext cx="6254111" cy="1080120"/>
          </a:xfrm>
          <a:prstGeom prst="horizontalScroll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2000" b="1" dirty="0" smtClean="0"/>
              <a:t>Actividad:  </a:t>
            </a:r>
            <a:r>
              <a:rPr lang="es-CL" sz="2000" dirty="0" smtClean="0"/>
              <a:t>Observa la palabra y encierra todas las i que encuentres.</a:t>
            </a:r>
            <a:endParaRPr lang="es-CL" sz="2000" dirty="0"/>
          </a:p>
        </p:txBody>
      </p:sp>
    </p:spTree>
    <p:extLst>
      <p:ext uri="{BB962C8B-B14F-4D97-AF65-F5344CB8AC3E}">
        <p14:creationId xmlns:p14="http://schemas.microsoft.com/office/powerpoint/2010/main" val="3545634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Imagen relacionad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18" t="19422" r="14435" b="23340"/>
          <a:stretch/>
        </p:blipFill>
        <p:spPr bwMode="auto">
          <a:xfrm>
            <a:off x="3576358" y="2071272"/>
            <a:ext cx="971737" cy="663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1488126" y="1150146"/>
            <a:ext cx="5532146" cy="4001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000" b="1" dirty="0" smtClean="0"/>
              <a:t>Actividad: </a:t>
            </a:r>
            <a:r>
              <a:rPr lang="es-CL" sz="2000" dirty="0" smtClean="0"/>
              <a:t>Dibuja muchas</a:t>
            </a:r>
            <a:r>
              <a:rPr lang="es-CL" sz="2000" b="1" dirty="0" smtClean="0"/>
              <a:t> i </a:t>
            </a:r>
            <a:r>
              <a:rPr lang="es-CL" sz="2000" dirty="0" smtClean="0"/>
              <a:t>al interior del Imán.  </a:t>
            </a:r>
            <a:endParaRPr lang="es-CL" sz="2000" dirty="0"/>
          </a:p>
        </p:txBody>
      </p:sp>
      <p:sp>
        <p:nvSpPr>
          <p:cNvPr id="6" name="AutoShape 6" descr="Imagen relacionad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7" name="AutoShape 8" descr="Imagen relacionada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8" name="AutoShape 10" descr="Imagen relacionad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4108" name="Picture 12" descr="Resultado de imagen para dibujo de iman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966"/>
          <a:stretch/>
        </p:blipFill>
        <p:spPr bwMode="auto">
          <a:xfrm>
            <a:off x="1907704" y="1772816"/>
            <a:ext cx="5505400" cy="4090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7953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90</Words>
  <Application>Microsoft Office PowerPoint</Application>
  <PresentationFormat>Presentación en pantalla (4:3)</PresentationFormat>
  <Paragraphs>29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0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9</cp:revision>
  <dcterms:created xsi:type="dcterms:W3CDTF">2019-03-01T22:42:16Z</dcterms:created>
  <dcterms:modified xsi:type="dcterms:W3CDTF">2019-03-16T23:31:21Z</dcterms:modified>
</cp:coreProperties>
</file>