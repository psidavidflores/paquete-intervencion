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256" r:id="rId2"/>
    <p:sldId id="263" r:id="rId3"/>
    <p:sldId id="264" r:id="rId4"/>
    <p:sldId id="265" r:id="rId5"/>
    <p:sldId id="258" r:id="rId6"/>
    <p:sldId id="259" r:id="rId7"/>
    <p:sldId id="260" r:id="rId8"/>
    <p:sldId id="261" r:id="rId9"/>
    <p:sldId id="262" r:id="rId10"/>
  </p:sldIdLst>
  <p:sldSz cx="9144000" cy="6858000" type="screen4x3"/>
  <p:notesSz cx="9144000" cy="6858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403CE8-22AA-4DF9-BBF6-3D0B7095503F}" type="datetimeFigureOut">
              <a:rPr lang="es-CL" smtClean="0"/>
              <a:t>04-06-2020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A4B0C-51EA-4D91-A715-C9A8DA3915A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7123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0167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404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801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7326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0866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388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668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1948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708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863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6666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66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183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10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 /><Relationship Id="rId2" Type="http://schemas.openxmlformats.org/officeDocument/2006/relationships/slide" Target="slide8.xml" /><Relationship Id="rId1" Type="http://schemas.openxmlformats.org/officeDocument/2006/relationships/slideLayout" Target="../slideLayouts/slideLayout2.xml" /><Relationship Id="rId5" Type="http://schemas.openxmlformats.org/officeDocument/2006/relationships/slide" Target="slide6.xml" /><Relationship Id="rId4" Type="http://schemas.openxmlformats.org/officeDocument/2006/relationships/slide" Target="slide9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3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3251010" y="457200"/>
            <a:ext cx="495300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000" b="1" cap="none" spc="0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Textos NORMATIVOS</a:t>
            </a:r>
          </a:p>
        </p:txBody>
      </p:sp>
      <p:sp>
        <p:nvSpPr>
          <p:cNvPr id="7" name="6 Botón de acción: Hacia delante o Siguiente">
            <a:hlinkClick r:id="" action="ppaction://hlinkshowjump?jump=nextslide" highlightClick="1"/>
          </p:cNvPr>
          <p:cNvSpPr/>
          <p:nvPr/>
        </p:nvSpPr>
        <p:spPr>
          <a:xfrm>
            <a:off x="7620000" y="5943600"/>
            <a:ext cx="1143000" cy="762000"/>
          </a:xfrm>
          <a:prstGeom prst="actionButtonForwardNex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6146" name="Picture 2" descr="Resultado de imagen para norma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24"/>
          <a:stretch/>
        </p:blipFill>
        <p:spPr bwMode="auto">
          <a:xfrm>
            <a:off x="2961564" y="2743200"/>
            <a:ext cx="3715461" cy="37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s-CL" dirty="0"/>
              <a:t>Texto Normativo </a:t>
            </a:r>
          </a:p>
        </p:txBody>
      </p:sp>
      <p:sp>
        <p:nvSpPr>
          <p:cNvPr id="6147" name="2 Marcador de contenido"/>
          <p:cNvSpPr>
            <a:spLocks noGrp="1"/>
          </p:cNvSpPr>
          <p:nvPr>
            <p:ph idx="1"/>
          </p:nvPr>
        </p:nvSpPr>
        <p:spPr>
          <a:xfrm>
            <a:off x="468313" y="2205038"/>
            <a:ext cx="8229600" cy="3052762"/>
          </a:xfrm>
        </p:spPr>
        <p:txBody>
          <a:bodyPr/>
          <a:lstStyle/>
          <a:p>
            <a:pPr algn="just"/>
            <a:r>
              <a:rPr lang="es-CL" dirty="0"/>
              <a:t>El texto normativo se utiliza para establecer un orden en ciertos procedimientos o asuntos. Existen muchos textos de este tipo que cumplen una función práctica y de orden, necesarios en la vida cotidiana.</a:t>
            </a:r>
          </a:p>
        </p:txBody>
      </p:sp>
      <p:sp>
        <p:nvSpPr>
          <p:cNvPr id="4" name="3 Botón de acción: Hacia delante o Siguiente">
            <a:hlinkClick r:id="" action="ppaction://hlinkshowjump?jump=nextslide" highlightClick="1"/>
          </p:cNvPr>
          <p:cNvSpPr/>
          <p:nvPr/>
        </p:nvSpPr>
        <p:spPr>
          <a:xfrm>
            <a:off x="7620000" y="5943600"/>
            <a:ext cx="1143000" cy="762000"/>
          </a:xfrm>
          <a:prstGeom prst="actionButtonForwardNex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180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s-CL" dirty="0"/>
              <a:t>Características 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298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>
            <a:normAutofit fontScale="77500" lnSpcReduction="20000"/>
          </a:bodyPr>
          <a:lstStyle/>
          <a:p>
            <a:pPr algn="just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CL" dirty="0"/>
              <a:t>- Las instrucciones deben ser claras y precisas.</a:t>
            </a:r>
          </a:p>
          <a:p>
            <a:pPr algn="just">
              <a:spcAft>
                <a:spcPts val="0"/>
              </a:spcAft>
              <a:buFont typeface="Arial" pitchFamily="34" charset="0"/>
              <a:buNone/>
              <a:defRPr/>
            </a:pPr>
            <a:endParaRPr lang="es-CL" dirty="0"/>
          </a:p>
          <a:p>
            <a:pPr algn="just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CL" dirty="0"/>
              <a:t>- Los enunciados deben ser cortos.</a:t>
            </a:r>
          </a:p>
          <a:p>
            <a:pPr algn="just">
              <a:spcAft>
                <a:spcPts val="0"/>
              </a:spcAft>
              <a:buFont typeface="Arial" pitchFamily="34" charset="0"/>
              <a:buNone/>
              <a:defRPr/>
            </a:pPr>
            <a:endParaRPr lang="es-CL" dirty="0"/>
          </a:p>
          <a:p>
            <a:pPr algn="just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CL" dirty="0"/>
              <a:t>- Es importante que las instrucciones se presenten secuencialmente, es decir, paso a paso para obtener un resultado.</a:t>
            </a:r>
          </a:p>
          <a:p>
            <a:pPr algn="just">
              <a:spcAft>
                <a:spcPts val="0"/>
              </a:spcAft>
              <a:buFont typeface="Arial" pitchFamily="34" charset="0"/>
              <a:buNone/>
              <a:defRPr/>
            </a:pPr>
            <a:endParaRPr lang="es-CL" dirty="0"/>
          </a:p>
          <a:p>
            <a:pPr algn="just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CL" dirty="0"/>
              <a:t>- Se deben definir los términos nuevos antes de utilizarlos.</a:t>
            </a:r>
          </a:p>
          <a:p>
            <a:pPr algn="just">
              <a:spcAft>
                <a:spcPts val="0"/>
              </a:spcAft>
              <a:buFont typeface="Arial" pitchFamily="34" charset="0"/>
              <a:buNone/>
              <a:defRPr/>
            </a:pPr>
            <a:endParaRPr lang="es-CL" dirty="0"/>
          </a:p>
          <a:p>
            <a:pPr algn="just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CL" dirty="0"/>
              <a:t>- El lenguaje utilizado debe ser atrayente para el receptor.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s-CL" dirty="0"/>
          </a:p>
        </p:txBody>
      </p:sp>
      <p:sp>
        <p:nvSpPr>
          <p:cNvPr id="4" name="3 Botón de acción: Hacia delante o Siguiente">
            <a:hlinkClick r:id="" action="ppaction://hlinkshowjump?jump=nextslide" highlightClick="1"/>
          </p:cNvPr>
          <p:cNvSpPr/>
          <p:nvPr/>
        </p:nvSpPr>
        <p:spPr>
          <a:xfrm>
            <a:off x="7620000" y="5943600"/>
            <a:ext cx="1143000" cy="762000"/>
          </a:xfrm>
          <a:prstGeom prst="actionButtonForwardNex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000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s-CL" dirty="0"/>
              <a:t>Ejemplos de Texto normativo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750" y="2492375"/>
            <a:ext cx="8229600" cy="298132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CL" i="1" dirty="0">
                <a:solidFill>
                  <a:schemeClr val="accent2"/>
                </a:solidFill>
              </a:rPr>
              <a:t>Se consideran dentro de los textos normativos: </a:t>
            </a:r>
            <a:r>
              <a:rPr lang="es-CL" dirty="0"/>
              <a:t>los reglamentos, las normas de  conducta, las reglas, las instrucciones de aparatos eléctricos, las leyes, los mandamientos, los manuales, recetas de cocina, entre otros. </a:t>
            </a:r>
          </a:p>
        </p:txBody>
      </p:sp>
      <p:sp>
        <p:nvSpPr>
          <p:cNvPr id="4" name="3 Botón de acción: Hacia delante o Siguiente">
            <a:hlinkClick r:id="" action="ppaction://hlinkshowjump?jump=nextslide" highlightClick="1"/>
          </p:cNvPr>
          <p:cNvSpPr/>
          <p:nvPr/>
        </p:nvSpPr>
        <p:spPr>
          <a:xfrm>
            <a:off x="7620000" y="5943600"/>
            <a:ext cx="1143000" cy="762000"/>
          </a:xfrm>
          <a:prstGeom prst="actionButtonForwardNex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145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010" y="1295400"/>
            <a:ext cx="8632190" cy="514243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10" dirty="0">
                <a:solidFill>
                  <a:srgbClr val="980033"/>
                </a:solidFill>
                <a:latin typeface="Arial"/>
                <a:cs typeface="Arial"/>
              </a:rPr>
              <a:t>Los </a:t>
            </a:r>
            <a:r>
              <a:rPr sz="2800" b="1" spc="-5" dirty="0">
                <a:solidFill>
                  <a:srgbClr val="980033"/>
                </a:solidFill>
                <a:latin typeface="Arial"/>
                <a:cs typeface="Arial"/>
              </a:rPr>
              <a:t>tipos</a:t>
            </a:r>
            <a:r>
              <a:rPr sz="2800" b="1" spc="25" dirty="0">
                <a:solidFill>
                  <a:srgbClr val="980033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980033"/>
                </a:solidFill>
                <a:latin typeface="Arial"/>
                <a:cs typeface="Arial"/>
              </a:rPr>
              <a:t>son: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1200" y="228600"/>
            <a:ext cx="5095240" cy="714298"/>
          </a:xfrm>
          <a:prstGeom prst="rect">
            <a:avLst/>
          </a:prstGeom>
          <a:solidFill>
            <a:srgbClr val="0066FF"/>
          </a:solidFill>
          <a:ln w="9344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227455" algn="l">
              <a:lnSpc>
                <a:spcPct val="100000"/>
              </a:lnSpc>
              <a:spcBef>
                <a:spcPts val="290"/>
              </a:spcBef>
            </a:pPr>
            <a:r>
              <a:rPr spc="-5" dirty="0">
                <a:solidFill>
                  <a:srgbClr val="1B1B1B"/>
                </a:solidFill>
              </a:rPr>
              <a:t>Normativos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4110" y="4350869"/>
            <a:ext cx="2016760" cy="827150"/>
          </a:xfrm>
          <a:prstGeom prst="rect">
            <a:avLst/>
          </a:prstGeom>
          <a:solidFill>
            <a:srgbClr val="FFC000"/>
          </a:solidFill>
          <a:ln w="9344">
            <a:solidFill>
              <a:srgbClr val="000000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sz="1800" b="1" spc="-5" dirty="0" err="1">
                <a:latin typeface="Arial"/>
                <a:cs typeface="Arial"/>
                <a:hlinkClick r:id="rId2" action="ppaction://hlinksldjump"/>
              </a:rPr>
              <a:t>Leyes</a:t>
            </a:r>
            <a:endParaRPr lang="es-CL"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70"/>
              </a:spcBef>
            </a:pPr>
            <a:endParaRPr lang="es-CL" sz="1100" b="1" spc="-5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669" y="2858251"/>
            <a:ext cx="2016760" cy="827150"/>
          </a:xfrm>
          <a:prstGeom prst="rect">
            <a:avLst/>
          </a:prstGeom>
          <a:solidFill>
            <a:srgbClr val="FFCC00"/>
          </a:solidFill>
          <a:ln w="9344">
            <a:solidFill>
              <a:srgbClr val="000000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 marL="487680">
              <a:lnSpc>
                <a:spcPct val="100000"/>
              </a:lnSpc>
              <a:spcBef>
                <a:spcPts val="1470"/>
              </a:spcBef>
            </a:pPr>
            <a:r>
              <a:rPr lang="es-CL" sz="1800" b="1" spc="-5" dirty="0">
                <a:latin typeface="Arial"/>
                <a:cs typeface="Arial"/>
                <a:hlinkClick r:id="rId3" action="ppaction://hlinksldjump"/>
              </a:rPr>
              <a:t>Manuales</a:t>
            </a:r>
            <a:endParaRPr lang="es-CL" sz="1800" b="1" spc="-5" dirty="0">
              <a:latin typeface="Arial"/>
              <a:cs typeface="Arial"/>
            </a:endParaRPr>
          </a:p>
          <a:p>
            <a:pPr marL="487680">
              <a:lnSpc>
                <a:spcPct val="100000"/>
              </a:lnSpc>
              <a:spcBef>
                <a:spcPts val="1470"/>
              </a:spcBef>
            </a:pPr>
            <a:endParaRPr sz="1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3049" y="4977205"/>
            <a:ext cx="2016760" cy="827150"/>
          </a:xfrm>
          <a:prstGeom prst="rect">
            <a:avLst/>
          </a:prstGeom>
          <a:solidFill>
            <a:srgbClr val="FFC000"/>
          </a:solidFill>
          <a:ln w="9344">
            <a:solidFill>
              <a:srgbClr val="000000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1470"/>
              </a:spcBef>
            </a:pPr>
            <a:r>
              <a:rPr sz="1800" b="1" spc="-5" dirty="0" err="1">
                <a:latin typeface="Arial"/>
                <a:cs typeface="Arial"/>
                <a:hlinkClick r:id="rId4" action="ppaction://hlinksldjump"/>
              </a:rPr>
              <a:t>Instructivos</a:t>
            </a:r>
            <a:endParaRPr lang="es-CL" sz="1800" b="1" spc="-5" dirty="0">
              <a:latin typeface="Arial"/>
              <a:cs typeface="Arial"/>
            </a:endParaRPr>
          </a:p>
          <a:p>
            <a:pPr marL="360680">
              <a:lnSpc>
                <a:spcPct val="100000"/>
              </a:lnSpc>
              <a:spcBef>
                <a:spcPts val="1470"/>
              </a:spcBef>
            </a:pPr>
            <a:endParaRPr sz="10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8200" y="1905000"/>
            <a:ext cx="2016760" cy="873316"/>
          </a:xfrm>
          <a:prstGeom prst="rect">
            <a:avLst/>
          </a:prstGeom>
          <a:solidFill>
            <a:srgbClr val="FFC000"/>
          </a:solidFill>
          <a:ln w="9344">
            <a:solidFill>
              <a:srgbClr val="000000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1470"/>
              </a:spcBef>
            </a:pPr>
            <a:r>
              <a:rPr sz="1800" b="1" spc="-10" dirty="0" err="1">
                <a:latin typeface="Arial"/>
                <a:cs typeface="Arial"/>
                <a:hlinkClick r:id="rId5" action="ppaction://hlinksldjump"/>
              </a:rPr>
              <a:t>Recetas</a:t>
            </a:r>
            <a:endParaRPr lang="es-CL" sz="1600" dirty="0">
              <a:latin typeface="Arial"/>
              <a:cs typeface="Arial"/>
            </a:endParaRPr>
          </a:p>
          <a:p>
            <a:pPr marL="571500">
              <a:lnSpc>
                <a:spcPct val="100000"/>
              </a:lnSpc>
              <a:spcBef>
                <a:spcPts val="1470"/>
              </a:spcBef>
            </a:pPr>
            <a:endParaRPr lang="es-CL" sz="1400" b="1" spc="-1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3961" y="152400"/>
            <a:ext cx="7056120" cy="923290"/>
          </a:xfrm>
          <a:prstGeom prst="rect">
            <a:avLst/>
          </a:prstGeom>
          <a:solidFill>
            <a:srgbClr val="FFC000"/>
          </a:solidFill>
          <a:ln w="9344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760"/>
              </a:spcBef>
            </a:pPr>
            <a:r>
              <a:rPr spc="-5" dirty="0">
                <a:solidFill>
                  <a:srgbClr val="1B1B1B"/>
                </a:solidFill>
              </a:rPr>
              <a:t>Recetas</a:t>
            </a:r>
          </a:p>
        </p:txBody>
      </p:sp>
      <p:sp>
        <p:nvSpPr>
          <p:cNvPr id="4" name="object 4"/>
          <p:cNvSpPr/>
          <p:nvPr/>
        </p:nvSpPr>
        <p:spPr>
          <a:xfrm>
            <a:off x="163828" y="1200359"/>
            <a:ext cx="5291455" cy="4895641"/>
          </a:xfrm>
          <a:custGeom>
            <a:avLst/>
            <a:gdLst/>
            <a:ahLst/>
            <a:cxnLst/>
            <a:rect l="l" t="t" r="r" b="b"/>
            <a:pathLst>
              <a:path w="5113020" h="5113020">
                <a:moveTo>
                  <a:pt x="2555240" y="5113020"/>
                </a:moveTo>
                <a:lnTo>
                  <a:pt x="0" y="5113020"/>
                </a:lnTo>
                <a:lnTo>
                  <a:pt x="0" y="0"/>
                </a:lnTo>
                <a:lnTo>
                  <a:pt x="5113020" y="0"/>
                </a:lnTo>
                <a:lnTo>
                  <a:pt x="5113020" y="5113020"/>
                </a:lnTo>
                <a:lnTo>
                  <a:pt x="2555240" y="5113020"/>
                </a:lnTo>
                <a:close/>
              </a:path>
            </a:pathLst>
          </a:custGeom>
          <a:ln w="283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5131" y="1507328"/>
            <a:ext cx="4959985" cy="4189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6875">
              <a:lnSpc>
                <a:spcPct val="100000"/>
              </a:lnSpc>
              <a:spcBef>
                <a:spcPts val="100"/>
              </a:spcBef>
            </a:pPr>
            <a:r>
              <a:rPr sz="2000" b="1" i="1" spc="-45" dirty="0">
                <a:latin typeface="Times New Roman"/>
                <a:cs typeface="Times New Roman"/>
              </a:rPr>
              <a:t>“Pescado</a:t>
            </a:r>
            <a:r>
              <a:rPr sz="2000" b="1" i="1" spc="285" dirty="0">
                <a:latin typeface="Times New Roman"/>
                <a:cs typeface="Times New Roman"/>
              </a:rPr>
              <a:t> </a:t>
            </a:r>
            <a:r>
              <a:rPr sz="2000" b="1" i="1" spc="25" dirty="0">
                <a:latin typeface="Times New Roman"/>
                <a:cs typeface="Times New Roman"/>
              </a:rPr>
              <a:t>frito”</a:t>
            </a:r>
            <a:endParaRPr sz="2000" dirty="0">
              <a:latin typeface="Times New Roman"/>
              <a:cs typeface="Times New Roman"/>
            </a:endParaRPr>
          </a:p>
          <a:p>
            <a:pPr marL="12700" algn="just">
              <a:lnSpc>
                <a:spcPts val="1850"/>
              </a:lnSpc>
              <a:spcBef>
                <a:spcPts val="1810"/>
              </a:spcBef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Ingredientes</a:t>
            </a:r>
            <a:r>
              <a:rPr sz="1600" b="1" spc="-5" dirty="0">
                <a:latin typeface="Times New Roman"/>
                <a:cs typeface="Times New Roman"/>
              </a:rPr>
              <a:t>:</a:t>
            </a:r>
            <a:endParaRPr sz="1600" dirty="0">
              <a:latin typeface="Times New Roman"/>
              <a:cs typeface="Times New Roman"/>
            </a:endParaRPr>
          </a:p>
          <a:p>
            <a:pPr marL="12700" algn="just">
              <a:lnSpc>
                <a:spcPts val="1780"/>
              </a:lnSpc>
            </a:pPr>
            <a:r>
              <a:rPr sz="1600" b="1" spc="-5" dirty="0">
                <a:latin typeface="Times New Roman"/>
                <a:cs typeface="Times New Roman"/>
              </a:rPr>
              <a:t>-.4 filetes de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reineta.</a:t>
            </a:r>
            <a:endParaRPr sz="1600" dirty="0">
              <a:latin typeface="Times New Roman"/>
              <a:cs typeface="Times New Roman"/>
            </a:endParaRPr>
          </a:p>
          <a:p>
            <a:pPr marL="12700" algn="just">
              <a:lnSpc>
                <a:spcPts val="1780"/>
              </a:lnSpc>
            </a:pPr>
            <a:r>
              <a:rPr sz="1600" b="1" spc="-5" dirty="0">
                <a:latin typeface="Times New Roman"/>
                <a:cs typeface="Times New Roman"/>
              </a:rPr>
              <a:t>-.Cilantro.</a:t>
            </a:r>
            <a:endParaRPr sz="1600" dirty="0">
              <a:latin typeface="Times New Roman"/>
              <a:cs typeface="Times New Roman"/>
            </a:endParaRPr>
          </a:p>
          <a:p>
            <a:pPr marL="12700" algn="just">
              <a:lnSpc>
                <a:spcPts val="1775"/>
              </a:lnSpc>
            </a:pPr>
            <a:r>
              <a:rPr sz="1600" b="1" spc="-5" dirty="0">
                <a:latin typeface="Times New Roman"/>
                <a:cs typeface="Times New Roman"/>
              </a:rPr>
              <a:t>-.1/2 taza de harina.</a:t>
            </a:r>
            <a:endParaRPr sz="1600" dirty="0">
              <a:latin typeface="Times New Roman"/>
              <a:cs typeface="Times New Roman"/>
            </a:endParaRPr>
          </a:p>
          <a:p>
            <a:pPr marL="12700" algn="just">
              <a:lnSpc>
                <a:spcPts val="1775"/>
              </a:lnSpc>
            </a:pPr>
            <a:r>
              <a:rPr sz="1600" b="1" spc="-5" dirty="0">
                <a:latin typeface="Times New Roman"/>
                <a:cs typeface="Times New Roman"/>
              </a:rPr>
              <a:t>-.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4Huevos.</a:t>
            </a:r>
            <a:endParaRPr sz="1600" dirty="0">
              <a:latin typeface="Times New Roman"/>
              <a:cs typeface="Times New Roman"/>
            </a:endParaRPr>
          </a:p>
          <a:p>
            <a:pPr marL="12700" algn="just">
              <a:lnSpc>
                <a:spcPts val="1780"/>
              </a:lnSpc>
            </a:pPr>
            <a:r>
              <a:rPr sz="1600" b="1" spc="-5" dirty="0">
                <a:latin typeface="Times New Roman"/>
                <a:cs typeface="Times New Roman"/>
              </a:rPr>
              <a:t>-.Orégano, pimienta, ajo </a:t>
            </a:r>
            <a:r>
              <a:rPr sz="1600" b="1" dirty="0">
                <a:latin typeface="Times New Roman"/>
                <a:cs typeface="Times New Roman"/>
              </a:rPr>
              <a:t>y sal.</a:t>
            </a:r>
            <a:endParaRPr sz="1600" dirty="0">
              <a:latin typeface="Times New Roman"/>
              <a:cs typeface="Times New Roman"/>
            </a:endParaRPr>
          </a:p>
          <a:p>
            <a:pPr marL="12700" algn="just">
              <a:lnSpc>
                <a:spcPts val="1850"/>
              </a:lnSpc>
            </a:pPr>
            <a:r>
              <a:rPr sz="1600" b="1" spc="-5" dirty="0">
                <a:latin typeface="Times New Roman"/>
                <a:cs typeface="Times New Roman"/>
              </a:rPr>
              <a:t>-.Aceite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92600"/>
              </a:lnSpc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Preparación</a:t>
            </a:r>
            <a:r>
              <a:rPr sz="1600" b="1" spc="-5" dirty="0">
                <a:latin typeface="Times New Roman"/>
                <a:cs typeface="Times New Roman"/>
              </a:rPr>
              <a:t>: Quiebre </a:t>
            </a:r>
            <a:r>
              <a:rPr sz="1600" b="1" dirty="0">
                <a:latin typeface="Times New Roman"/>
                <a:cs typeface="Times New Roman"/>
              </a:rPr>
              <a:t>los </a:t>
            </a:r>
            <a:r>
              <a:rPr sz="1600" b="1" spc="-5" dirty="0">
                <a:latin typeface="Times New Roman"/>
                <a:cs typeface="Times New Roman"/>
              </a:rPr>
              <a:t>huevos en un bowl </a:t>
            </a:r>
            <a:r>
              <a:rPr sz="1600" b="1" dirty="0">
                <a:latin typeface="Times New Roman"/>
                <a:cs typeface="Times New Roman"/>
              </a:rPr>
              <a:t>y </a:t>
            </a:r>
            <a:r>
              <a:rPr sz="1600" b="1" spc="-5" dirty="0">
                <a:latin typeface="Times New Roman"/>
                <a:cs typeface="Times New Roman"/>
              </a:rPr>
              <a:t>agregue  una cucharada de </a:t>
            </a:r>
            <a:r>
              <a:rPr sz="1600" b="1" dirty="0">
                <a:latin typeface="Times New Roman"/>
                <a:cs typeface="Times New Roman"/>
              </a:rPr>
              <a:t>orégano, </a:t>
            </a:r>
            <a:r>
              <a:rPr sz="1600" b="1" spc="-5" dirty="0">
                <a:latin typeface="Times New Roman"/>
                <a:cs typeface="Times New Roman"/>
              </a:rPr>
              <a:t>un diente de ajo picado, </a:t>
            </a:r>
            <a:r>
              <a:rPr sz="1600" b="1" spc="-10" dirty="0">
                <a:latin typeface="Times New Roman"/>
                <a:cs typeface="Times New Roman"/>
              </a:rPr>
              <a:t>una  </a:t>
            </a:r>
            <a:r>
              <a:rPr sz="1600" b="1" spc="-5" dirty="0">
                <a:latin typeface="Times New Roman"/>
                <a:cs typeface="Times New Roman"/>
              </a:rPr>
              <a:t>pizca de orégano </a:t>
            </a:r>
            <a:r>
              <a:rPr sz="1600" b="1" dirty="0">
                <a:latin typeface="Times New Roman"/>
                <a:cs typeface="Times New Roman"/>
              </a:rPr>
              <a:t>y sal, </a:t>
            </a:r>
            <a:r>
              <a:rPr sz="1600" b="1" spc="-5" dirty="0">
                <a:latin typeface="Times New Roman"/>
                <a:cs typeface="Times New Roman"/>
              </a:rPr>
              <a:t>luego bata </a:t>
            </a:r>
            <a:r>
              <a:rPr sz="1600" b="1" dirty="0">
                <a:latin typeface="Times New Roman"/>
                <a:cs typeface="Times New Roman"/>
              </a:rPr>
              <a:t>el </a:t>
            </a:r>
            <a:r>
              <a:rPr sz="1600" b="1" spc="-5" dirty="0">
                <a:latin typeface="Times New Roman"/>
                <a:cs typeface="Times New Roman"/>
              </a:rPr>
              <a:t>contenido </a:t>
            </a:r>
            <a:r>
              <a:rPr sz="1600" b="1" dirty="0">
                <a:latin typeface="Times New Roman"/>
                <a:cs typeface="Times New Roman"/>
              </a:rPr>
              <a:t>con </a:t>
            </a:r>
            <a:r>
              <a:rPr sz="1600" b="1" spc="-5" dirty="0">
                <a:latin typeface="Times New Roman"/>
                <a:cs typeface="Times New Roman"/>
              </a:rPr>
              <a:t>una  batidora </a:t>
            </a:r>
            <a:r>
              <a:rPr sz="1600" b="1" dirty="0">
                <a:latin typeface="Times New Roman"/>
                <a:cs typeface="Times New Roman"/>
              </a:rPr>
              <a:t>y vaya agregando </a:t>
            </a:r>
            <a:r>
              <a:rPr sz="1600" b="1" spc="-5" dirty="0">
                <a:latin typeface="Times New Roman"/>
                <a:cs typeface="Times New Roman"/>
              </a:rPr>
              <a:t>lentamente la </a:t>
            </a:r>
            <a:r>
              <a:rPr sz="1600" b="1" dirty="0">
                <a:latin typeface="Times New Roman"/>
                <a:cs typeface="Times New Roman"/>
              </a:rPr>
              <a:t>½ </a:t>
            </a:r>
            <a:r>
              <a:rPr sz="1600" b="1" spc="-5" dirty="0">
                <a:latin typeface="Times New Roman"/>
                <a:cs typeface="Times New Roman"/>
              </a:rPr>
              <a:t>taza de  harina para obtener una mezcla homogénea. Por esta  mezcla pase cada uno de </a:t>
            </a:r>
            <a:r>
              <a:rPr sz="1600" b="1" dirty="0">
                <a:latin typeface="Times New Roman"/>
                <a:cs typeface="Times New Roman"/>
              </a:rPr>
              <a:t>los </a:t>
            </a:r>
            <a:r>
              <a:rPr sz="1600" b="1" spc="-5" dirty="0">
                <a:latin typeface="Times New Roman"/>
                <a:cs typeface="Times New Roman"/>
              </a:rPr>
              <a:t>filetes </a:t>
            </a:r>
            <a:r>
              <a:rPr sz="1600" b="1" dirty="0">
                <a:latin typeface="Times New Roman"/>
                <a:cs typeface="Times New Roman"/>
              </a:rPr>
              <a:t>y </a:t>
            </a:r>
            <a:r>
              <a:rPr sz="1600" b="1" spc="-5" dirty="0">
                <a:latin typeface="Times New Roman"/>
                <a:cs typeface="Times New Roman"/>
              </a:rPr>
              <a:t>fríalos en </a:t>
            </a:r>
            <a:r>
              <a:rPr sz="1600" b="1" spc="-10" dirty="0">
                <a:latin typeface="Times New Roman"/>
                <a:cs typeface="Times New Roman"/>
              </a:rPr>
              <a:t>una  </a:t>
            </a:r>
            <a:r>
              <a:rPr sz="1600" b="1" spc="-5" dirty="0">
                <a:latin typeface="Times New Roman"/>
                <a:cs typeface="Times New Roman"/>
              </a:rPr>
              <a:t>sartén con aceite bien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caliente.</a:t>
            </a:r>
            <a:endParaRPr sz="1600" dirty="0">
              <a:latin typeface="Times New Roman"/>
              <a:cs typeface="Times New Roman"/>
            </a:endParaRPr>
          </a:p>
          <a:p>
            <a:pPr marL="12700" algn="just">
              <a:lnSpc>
                <a:spcPts val="1770"/>
              </a:lnSpc>
            </a:pPr>
            <a:r>
              <a:rPr sz="1600" b="1" spc="-5" dirty="0">
                <a:latin typeface="Times New Roman"/>
                <a:cs typeface="Times New Roman"/>
              </a:rPr>
              <a:t>Acompañe </a:t>
            </a:r>
            <a:r>
              <a:rPr sz="1600" b="1" dirty="0">
                <a:latin typeface="Times New Roman"/>
                <a:cs typeface="Times New Roman"/>
              </a:rPr>
              <a:t>el </a:t>
            </a:r>
            <a:r>
              <a:rPr sz="1600" b="1" spc="-5" dirty="0">
                <a:latin typeface="Times New Roman"/>
                <a:cs typeface="Times New Roman"/>
              </a:rPr>
              <a:t>pescado frito con ensalada, </a:t>
            </a:r>
            <a:r>
              <a:rPr sz="1600" b="1" dirty="0">
                <a:latin typeface="Times New Roman"/>
                <a:cs typeface="Times New Roman"/>
              </a:rPr>
              <a:t>arroz,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etc.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1026" name="Picture 2" descr="Resultado de imagen para pescado fri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452" y="1134716"/>
            <a:ext cx="3972266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12 Botón de acción: Comienzo">
            <a:hlinkClick r:id="rId3" action="ppaction://hlinksldjump" highlightClick="1"/>
          </p:cNvPr>
          <p:cNvSpPr/>
          <p:nvPr/>
        </p:nvSpPr>
        <p:spPr>
          <a:xfrm>
            <a:off x="7747718" y="6096000"/>
            <a:ext cx="1143000" cy="595048"/>
          </a:xfrm>
          <a:prstGeom prst="actionButtonBeginning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52400"/>
            <a:ext cx="6625590" cy="737381"/>
          </a:xfrm>
          <a:prstGeom prst="rect">
            <a:avLst/>
          </a:prstGeom>
          <a:solidFill>
            <a:srgbClr val="FFCC00"/>
          </a:solidFill>
          <a:ln w="9344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2038350" algn="l">
              <a:lnSpc>
                <a:spcPct val="100000"/>
              </a:lnSpc>
              <a:spcBef>
                <a:spcPts val="470"/>
              </a:spcBef>
            </a:pPr>
            <a:r>
              <a:rPr spc="-5" dirty="0">
                <a:solidFill>
                  <a:srgbClr val="1B1B1B"/>
                </a:solidFill>
              </a:rPr>
              <a:t>Manuales</a:t>
            </a:r>
          </a:p>
        </p:txBody>
      </p:sp>
      <p:pic>
        <p:nvPicPr>
          <p:cNvPr id="2052" name="Picture 4" descr="Resultado de imagen para manual armado mue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8573136" cy="577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Botón de acción: Comienzo">
            <a:hlinkClick r:id="rId3" action="ppaction://hlinksldjump" highlightClick="1"/>
          </p:cNvPr>
          <p:cNvSpPr/>
          <p:nvPr/>
        </p:nvSpPr>
        <p:spPr>
          <a:xfrm>
            <a:off x="90417" y="152400"/>
            <a:ext cx="1143000" cy="595048"/>
          </a:xfrm>
          <a:prstGeom prst="actionButtonBeginning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356360" y="152400"/>
            <a:ext cx="6625590" cy="774571"/>
          </a:xfrm>
          <a:prstGeom prst="rect">
            <a:avLst/>
          </a:prstGeom>
          <a:solidFill>
            <a:srgbClr val="FFC000"/>
          </a:solidFill>
          <a:ln w="9344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60"/>
              </a:spcBef>
            </a:pPr>
            <a:r>
              <a:rPr spc="-5" dirty="0">
                <a:solidFill>
                  <a:srgbClr val="1B1B1B"/>
                </a:solidFill>
              </a:rPr>
              <a:t>Leyes</a:t>
            </a:r>
          </a:p>
        </p:txBody>
      </p:sp>
      <p:pic>
        <p:nvPicPr>
          <p:cNvPr id="3074" name="Picture 2" descr="Resultado de imagen para ley antigua en ch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033247"/>
            <a:ext cx="5870369" cy="572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30 Botón de acción: Comienzo">
            <a:hlinkClick r:id="rId3" action="ppaction://hlinksldjump" highlightClick="1"/>
          </p:cNvPr>
          <p:cNvSpPr/>
          <p:nvPr/>
        </p:nvSpPr>
        <p:spPr>
          <a:xfrm>
            <a:off x="90417" y="152400"/>
            <a:ext cx="1143000" cy="595048"/>
          </a:xfrm>
          <a:prstGeom prst="actionButtonBeginning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0340" y="0"/>
            <a:ext cx="6220461" cy="700192"/>
          </a:xfrm>
          <a:prstGeom prst="rect">
            <a:avLst/>
          </a:prstGeom>
          <a:solidFill>
            <a:srgbClr val="FFC000"/>
          </a:solidFill>
          <a:ln w="9344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836420" algn="l">
              <a:lnSpc>
                <a:spcPct val="100000"/>
              </a:lnSpc>
              <a:spcBef>
                <a:spcPts val="180"/>
              </a:spcBef>
            </a:pPr>
            <a:r>
              <a:rPr spc="-5" dirty="0">
                <a:solidFill>
                  <a:srgbClr val="1B1B1B"/>
                </a:solidFill>
              </a:rPr>
              <a:t>Instructivos</a:t>
            </a:r>
          </a:p>
        </p:txBody>
      </p:sp>
      <p:pic>
        <p:nvPicPr>
          <p:cNvPr id="4098" name="Picture 2" descr="Resultado de imagen para instructiv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24" y="779780"/>
            <a:ext cx="9126855" cy="6078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12 Botón de acción: Comienzo">
            <a:hlinkClick r:id="rId3" action="ppaction://hlinksldjump" highlightClick="1"/>
          </p:cNvPr>
          <p:cNvSpPr/>
          <p:nvPr/>
        </p:nvSpPr>
        <p:spPr>
          <a:xfrm>
            <a:off x="60847" y="122865"/>
            <a:ext cx="1143000" cy="595048"/>
          </a:xfrm>
          <a:prstGeom prst="actionButtonBeginning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273</Words>
  <Application>Microsoft Office PowerPoint</Application>
  <PresentationFormat>Presentación en pantalla (4:3)</PresentationFormat>
  <Paragraphs>36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Texto Normativo </vt:lpstr>
      <vt:lpstr>Características </vt:lpstr>
      <vt:lpstr>Ejemplos de Texto normativo</vt:lpstr>
      <vt:lpstr>Normativos</vt:lpstr>
      <vt:lpstr>Recetas</vt:lpstr>
      <vt:lpstr>Manuales</vt:lpstr>
      <vt:lpstr>Leyes</vt:lpstr>
      <vt:lpstr>Instructivos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jaime</dc:creator>
  <cp:lastModifiedBy>marianahh muños robles</cp:lastModifiedBy>
  <cp:revision>7</cp:revision>
  <dcterms:created xsi:type="dcterms:W3CDTF">2019-06-18T01:39:33Z</dcterms:created>
  <dcterms:modified xsi:type="dcterms:W3CDTF">2020-06-04T06:25:42Z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2009-06-16T00:00:00Z</vt:filetime>
  </property>
  <property fmtid="{D5CDD505-2E9C-101B-9397-08002B2CF9AE}" pid="3" name="Creator">
    <vt:lpwstr>Impress</vt:lpwstr>
  </property>
  <property fmtid="{D5CDD505-2E9C-101B-9397-08002B2CF9AE}" pid="4" name="LastSaved">
    <vt:filetime>2019-06-18T00:00:00Z</vt:filetime>
  </property>
</Properties>
</file>