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6858000" cx="9144000"/>
  <p:notesSz cx="6858000" cy="9144000"/>
  <p:embeddedFontLst>
    <p:embeddedFont>
      <p:font typeface="Corben"/>
      <p:bold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http://customooxmlschemas.google.com/">
      <go:slidesCustomData xmlns:go="http://customooxmlschemas.google.com/" r:id="rId23" roundtripDataSignature="AMtx7mija4uVlAny8RQTWDJ4T5pqgl1I4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font" Target="fonts/Corben-bold.fntdata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2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2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5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5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5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4" name="Google Shape;64;p2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7"/>
          <p:cNvSpPr txBox="1"/>
          <p:nvPr>
            <p:ph idx="1" type="body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8"/>
          <p:cNvSpPr txBox="1"/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8"/>
          <p:cNvSpPr txBox="1"/>
          <p:nvPr>
            <p:ph idx="1" type="body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772275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/>
          <p:nvPr/>
        </p:nvSpPr>
        <p:spPr>
          <a:xfrm rot="-234352">
            <a:off x="2409424" y="3272811"/>
            <a:ext cx="5150000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4400" u="none" cap="none" strike="noStrike">
                <a:solidFill>
                  <a:srgbClr val="3A1A62"/>
                </a:solidFill>
                <a:latin typeface="Corben"/>
                <a:ea typeface="Corben"/>
                <a:cs typeface="Corben"/>
                <a:sym typeface="Corben"/>
              </a:rPr>
              <a:t>LAS EMOCIONES</a:t>
            </a:r>
            <a:endParaRPr b="0" i="0" sz="4400" u="none" cap="none" strike="noStrike">
              <a:solidFill>
                <a:srgbClr val="3A1A62"/>
              </a:solidFill>
              <a:latin typeface="Corben"/>
              <a:ea typeface="Corben"/>
              <a:cs typeface="Corben"/>
              <a:sym typeface="Corben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674542" y="5652315"/>
            <a:ext cx="71289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Ámbito: </a:t>
            </a:r>
            <a:r>
              <a:rPr b="0" i="0" lang="es-CL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Desarrollo personal y social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Núcleo: </a:t>
            </a:r>
            <a:r>
              <a:rPr b="0" i="0" lang="es-CL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Identidad y Autonomía. 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/>
          <p:nvPr/>
        </p:nvSpPr>
        <p:spPr>
          <a:xfrm rot="-173655">
            <a:off x="1634221" y="823764"/>
            <a:ext cx="5209439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4000" u="none" cap="none" strike="noStrike">
                <a:solidFill>
                  <a:srgbClr val="A04400"/>
                </a:solidFill>
                <a:latin typeface="Corben"/>
                <a:ea typeface="Corben"/>
                <a:cs typeface="Corben"/>
                <a:sym typeface="Corben"/>
              </a:rPr>
              <a:t>Hoy aprenderemos:</a:t>
            </a:r>
            <a:endParaRPr b="1" i="0" sz="4000" u="none" cap="none" strike="noStrike">
              <a:solidFill>
                <a:srgbClr val="A04400"/>
              </a:solidFill>
              <a:latin typeface="Corben"/>
              <a:ea typeface="Corben"/>
              <a:cs typeface="Corben"/>
              <a:sym typeface="Corbe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2843808" y="964882"/>
            <a:ext cx="5544616" cy="2592288"/>
          </a:xfrm>
          <a:prstGeom prst="wedgeEllipseCallout">
            <a:avLst>
              <a:gd fmla="val -54248" name="adj1"/>
              <a:gd fmla="val 46796" name="adj2"/>
            </a:avLst>
          </a:prstGeom>
          <a:solidFill>
            <a:srgbClr val="FFFF00"/>
          </a:solidFill>
          <a:ln cap="flat" cmpd="sng" w="38100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 de aprendizaje: </a:t>
            </a:r>
            <a:r>
              <a:rPr b="0" i="0" lang="es-CL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Reconocer emociones y sentimientos en otras personas, observadas en forma directa o a través de las tics 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"/>
          <p:cNvSpPr/>
          <p:nvPr/>
        </p:nvSpPr>
        <p:spPr>
          <a:xfrm>
            <a:off x="2915816" y="836712"/>
            <a:ext cx="5328592" cy="1152128"/>
          </a:xfrm>
          <a:prstGeom prst="wedgeEllipseCallout">
            <a:avLst>
              <a:gd fmla="val -52033" name="adj1"/>
              <a:gd fmla="val 64905" name="adj2"/>
            </a:avLst>
          </a:prstGeom>
          <a:gradFill>
            <a:gsLst>
              <a:gs pos="0">
                <a:srgbClr val="9FC3FF"/>
              </a:gs>
              <a:gs pos="35000">
                <a:srgbClr val="BDD5FF"/>
              </a:gs>
              <a:gs pos="100000">
                <a:srgbClr val="E4EEFF"/>
              </a:gs>
            </a:gsLst>
            <a:lin ang="16200000" scaled="0"/>
          </a:gradFill>
          <a:ln cap="flat" cmpd="sng" w="57150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 Qué emoción representa la imagen?</a:t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n relacionada" id="98" name="Google Shape;9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59832" y="2348880"/>
            <a:ext cx="4896544" cy="36004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"/>
          <p:cNvSpPr/>
          <p:nvPr/>
        </p:nvSpPr>
        <p:spPr>
          <a:xfrm>
            <a:off x="2915816" y="836712"/>
            <a:ext cx="5328592" cy="1152128"/>
          </a:xfrm>
          <a:prstGeom prst="wedgeEllipseCallout">
            <a:avLst>
              <a:gd fmla="val -52033" name="adj1"/>
              <a:gd fmla="val 64905" name="adj2"/>
            </a:avLst>
          </a:prstGeom>
          <a:gradFill>
            <a:gsLst>
              <a:gs pos="0">
                <a:srgbClr val="9FC3FF"/>
              </a:gs>
              <a:gs pos="35000">
                <a:srgbClr val="BDD5FF"/>
              </a:gs>
              <a:gs pos="100000">
                <a:srgbClr val="E4EEFF"/>
              </a:gs>
            </a:gsLst>
            <a:lin ang="16200000" scaled="0"/>
          </a:gradFill>
          <a:ln cap="flat" cmpd="sng" w="57150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 Qué emoción representa la imagen?</a:t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esultado de imagen para imagen de emociones en personas" id="104" name="Google Shape;10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15816" y="2276872"/>
            <a:ext cx="5328592" cy="36004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"/>
          <p:cNvSpPr/>
          <p:nvPr/>
        </p:nvSpPr>
        <p:spPr>
          <a:xfrm>
            <a:off x="2915816" y="836712"/>
            <a:ext cx="5328592" cy="1152128"/>
          </a:xfrm>
          <a:prstGeom prst="wedgeEllipseCallout">
            <a:avLst>
              <a:gd fmla="val -52033" name="adj1"/>
              <a:gd fmla="val 64905" name="adj2"/>
            </a:avLst>
          </a:prstGeom>
          <a:gradFill>
            <a:gsLst>
              <a:gs pos="0">
                <a:srgbClr val="9FC3FF"/>
              </a:gs>
              <a:gs pos="35000">
                <a:srgbClr val="BDD5FF"/>
              </a:gs>
              <a:gs pos="100000">
                <a:srgbClr val="E4EEFF"/>
              </a:gs>
            </a:gsLst>
            <a:lin ang="16200000" scaled="0"/>
          </a:gradFill>
          <a:ln cap="flat" cmpd="sng" w="57150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 Qué emoción representa la imagen?</a:t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esultado de imagen para rabia persona" id="110" name="Google Shape;11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53607" y="2276872"/>
            <a:ext cx="5202769" cy="396813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"/>
          <p:cNvSpPr/>
          <p:nvPr/>
        </p:nvSpPr>
        <p:spPr>
          <a:xfrm>
            <a:off x="2915816" y="836712"/>
            <a:ext cx="5328592" cy="1152128"/>
          </a:xfrm>
          <a:prstGeom prst="wedgeEllipseCallout">
            <a:avLst>
              <a:gd fmla="val -52033" name="adj1"/>
              <a:gd fmla="val 64905" name="adj2"/>
            </a:avLst>
          </a:prstGeom>
          <a:gradFill>
            <a:gsLst>
              <a:gs pos="0">
                <a:srgbClr val="9FC3FF"/>
              </a:gs>
              <a:gs pos="35000">
                <a:srgbClr val="BDD5FF"/>
              </a:gs>
              <a:gs pos="100000">
                <a:srgbClr val="E4EEFF"/>
              </a:gs>
            </a:gsLst>
            <a:lin ang="16200000" scaled="0"/>
          </a:gradFill>
          <a:ln cap="flat" cmpd="sng" w="57150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 Qué emoción representa la imagen?</a:t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esultado de imagen para persona contenta" id="116" name="Google Shape;11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83768" y="2564904"/>
            <a:ext cx="5905500" cy="3076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"/>
          <p:cNvSpPr/>
          <p:nvPr/>
        </p:nvSpPr>
        <p:spPr>
          <a:xfrm>
            <a:off x="2915816" y="836712"/>
            <a:ext cx="5328592" cy="1152128"/>
          </a:xfrm>
          <a:prstGeom prst="wedgeEllipseCallout">
            <a:avLst>
              <a:gd fmla="val -52033" name="adj1"/>
              <a:gd fmla="val 64905" name="adj2"/>
            </a:avLst>
          </a:prstGeom>
          <a:gradFill>
            <a:gsLst>
              <a:gs pos="0">
                <a:srgbClr val="9FC3FF"/>
              </a:gs>
              <a:gs pos="35000">
                <a:srgbClr val="BDD5FF"/>
              </a:gs>
              <a:gs pos="100000">
                <a:srgbClr val="E4EEFF"/>
              </a:gs>
            </a:gsLst>
            <a:lin ang="16200000" scaled="0"/>
          </a:gradFill>
          <a:ln cap="flat" cmpd="sng" w="57150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 Qué emoción representa la imagen?</a:t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esultado de imagen para persona triste" id="122" name="Google Shape;12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26215" y="2348880"/>
            <a:ext cx="5907794" cy="3611167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8"/>
          <p:cNvSpPr/>
          <p:nvPr/>
        </p:nvSpPr>
        <p:spPr>
          <a:xfrm>
            <a:off x="2915816" y="836712"/>
            <a:ext cx="5328592" cy="1152128"/>
          </a:xfrm>
          <a:prstGeom prst="wedgeEllipseCallout">
            <a:avLst>
              <a:gd fmla="val -52033" name="adj1"/>
              <a:gd fmla="val 64905" name="adj2"/>
            </a:avLst>
          </a:prstGeom>
          <a:gradFill>
            <a:gsLst>
              <a:gs pos="0">
                <a:srgbClr val="9FC3FF"/>
              </a:gs>
              <a:gs pos="35000">
                <a:srgbClr val="BDD5FF"/>
              </a:gs>
              <a:gs pos="100000">
                <a:srgbClr val="E4EEFF"/>
              </a:gs>
            </a:gsLst>
            <a:lin ang="16200000" scaled="0"/>
          </a:gradFill>
          <a:ln cap="flat" cmpd="sng" w="57150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 Qué emoción representa la imagen?</a:t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esultado de imagen para persona asustada" id="128" name="Google Shape;12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36629" y="2317293"/>
            <a:ext cx="5480355" cy="3653571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9"/>
          <p:cNvSpPr/>
          <p:nvPr/>
        </p:nvSpPr>
        <p:spPr>
          <a:xfrm>
            <a:off x="2915816" y="836712"/>
            <a:ext cx="5328592" cy="1152128"/>
          </a:xfrm>
          <a:prstGeom prst="wedgeEllipseCallout">
            <a:avLst>
              <a:gd fmla="val -52033" name="adj1"/>
              <a:gd fmla="val 64905" name="adj2"/>
            </a:avLst>
          </a:prstGeom>
          <a:gradFill>
            <a:gsLst>
              <a:gs pos="0">
                <a:srgbClr val="9FC3FF"/>
              </a:gs>
              <a:gs pos="35000">
                <a:srgbClr val="BDD5FF"/>
              </a:gs>
              <a:gs pos="100000">
                <a:srgbClr val="E4EEFF"/>
              </a:gs>
            </a:gsLst>
            <a:lin ang="16200000" scaled="0"/>
          </a:gradFill>
          <a:ln cap="flat" cmpd="sng" w="57150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 Qué emoción representa la imagen?</a:t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esultado de imagen para persona enamorada" id="134" name="Google Shape;13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29408" y="2636912"/>
            <a:ext cx="5715000" cy="3171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0"/>
          <p:cNvSpPr/>
          <p:nvPr/>
        </p:nvSpPr>
        <p:spPr>
          <a:xfrm>
            <a:off x="2915816" y="836712"/>
            <a:ext cx="5328592" cy="1152128"/>
          </a:xfrm>
          <a:prstGeom prst="wedgeEllipseCallout">
            <a:avLst>
              <a:gd fmla="val -52033" name="adj1"/>
              <a:gd fmla="val 64905" name="adj2"/>
            </a:avLst>
          </a:prstGeom>
          <a:gradFill>
            <a:gsLst>
              <a:gs pos="0">
                <a:srgbClr val="9FC3FF"/>
              </a:gs>
              <a:gs pos="35000">
                <a:srgbClr val="BDD5FF"/>
              </a:gs>
              <a:gs pos="100000">
                <a:srgbClr val="E4EEFF"/>
              </a:gs>
            </a:gsLst>
            <a:lin ang="16200000" scaled="0"/>
          </a:gradFill>
          <a:ln cap="flat" cmpd="sng" w="57150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 Qué emoción representa la imagen?</a:t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Resultado de imagen para persona verguenza" id="140" name="Google Shape;140;p10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n relacionada" id="141" name="Google Shape;14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0081" y="2348880"/>
            <a:ext cx="5080062" cy="3816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1"/>
          <p:cNvSpPr/>
          <p:nvPr/>
        </p:nvSpPr>
        <p:spPr>
          <a:xfrm>
            <a:off x="2915816" y="836712"/>
            <a:ext cx="5328592" cy="1152128"/>
          </a:xfrm>
          <a:prstGeom prst="wedgeEllipseCallout">
            <a:avLst>
              <a:gd fmla="val -52033" name="adj1"/>
              <a:gd fmla="val 64905" name="adj2"/>
            </a:avLst>
          </a:prstGeom>
          <a:gradFill>
            <a:gsLst>
              <a:gs pos="0">
                <a:srgbClr val="9FC3FF"/>
              </a:gs>
              <a:gs pos="35000">
                <a:srgbClr val="BDD5FF"/>
              </a:gs>
              <a:gs pos="100000">
                <a:srgbClr val="E4EEFF"/>
              </a:gs>
            </a:gsLst>
            <a:lin ang="16200000" scaled="0"/>
          </a:gradFill>
          <a:ln cap="flat" cmpd="sng" w="57150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 Qué emoción representa la imagen?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esultado de imagen para asco" id="147" name="Google Shape;14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45548" y="2420888"/>
            <a:ext cx="5415001" cy="3744416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2"/>
          <p:cNvSpPr/>
          <p:nvPr/>
        </p:nvSpPr>
        <p:spPr>
          <a:xfrm>
            <a:off x="2915816" y="836712"/>
            <a:ext cx="5328592" cy="1152128"/>
          </a:xfrm>
          <a:prstGeom prst="wedgeEllipseCallout">
            <a:avLst>
              <a:gd fmla="val -52033" name="adj1"/>
              <a:gd fmla="val 64905" name="adj2"/>
            </a:avLst>
          </a:prstGeom>
          <a:gradFill>
            <a:gsLst>
              <a:gs pos="0">
                <a:srgbClr val="9FC3FF"/>
              </a:gs>
              <a:gs pos="35000">
                <a:srgbClr val="BDD5FF"/>
              </a:gs>
              <a:gs pos="100000">
                <a:srgbClr val="E4EEFF"/>
              </a:gs>
            </a:gsLst>
            <a:lin ang="16200000" scaled="0"/>
          </a:gradFill>
          <a:ln cap="flat" cmpd="sng" w="57150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 Qué emoción representa la imagen?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esultado de imagen para culpa" id="153" name="Google Shape;15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99792" y="2420888"/>
            <a:ext cx="5760640" cy="360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3"/>
          <p:cNvSpPr/>
          <p:nvPr/>
        </p:nvSpPr>
        <p:spPr>
          <a:xfrm>
            <a:off x="2915816" y="836712"/>
            <a:ext cx="5328592" cy="1152128"/>
          </a:xfrm>
          <a:prstGeom prst="wedgeEllipseCallout">
            <a:avLst>
              <a:gd fmla="val -52033" name="adj1"/>
              <a:gd fmla="val 64905" name="adj2"/>
            </a:avLst>
          </a:prstGeom>
          <a:gradFill>
            <a:gsLst>
              <a:gs pos="0">
                <a:srgbClr val="9FC3FF"/>
              </a:gs>
              <a:gs pos="35000">
                <a:srgbClr val="BDD5FF"/>
              </a:gs>
              <a:gs pos="100000">
                <a:srgbClr val="E4EEFF"/>
              </a:gs>
            </a:gsLst>
            <a:lin ang="16200000" scaled="0"/>
          </a:gradFill>
          <a:ln cap="flat" cmpd="sng" w="57150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 Qué emoción representa la imagen?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esultado de imagen para aburrida" id="159" name="Google Shape;15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25807" y="2348880"/>
            <a:ext cx="5418601" cy="3816424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4"/>
          <p:cNvSpPr/>
          <p:nvPr/>
        </p:nvSpPr>
        <p:spPr>
          <a:xfrm>
            <a:off x="2915816" y="836712"/>
            <a:ext cx="5328592" cy="1152128"/>
          </a:xfrm>
          <a:prstGeom prst="wedgeEllipseCallout">
            <a:avLst>
              <a:gd fmla="val -52033" name="adj1"/>
              <a:gd fmla="val 64905" name="adj2"/>
            </a:avLst>
          </a:prstGeom>
          <a:gradFill>
            <a:gsLst>
              <a:gs pos="0">
                <a:srgbClr val="9FC3FF"/>
              </a:gs>
              <a:gs pos="35000">
                <a:srgbClr val="BDD5FF"/>
              </a:gs>
              <a:gs pos="100000">
                <a:srgbClr val="E4EEFF"/>
              </a:gs>
            </a:gsLst>
            <a:lin ang="16200000" scaled="0"/>
          </a:gradFill>
          <a:ln cap="flat" cmpd="sng" w="57150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 Qué emoción representa la imagen?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esultado de imagen para cansado" id="165" name="Google Shape;16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01353" y="2420888"/>
            <a:ext cx="5450726" cy="350597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5"/>
          <p:cNvSpPr/>
          <p:nvPr/>
        </p:nvSpPr>
        <p:spPr>
          <a:xfrm>
            <a:off x="2915816" y="836712"/>
            <a:ext cx="5328592" cy="1152128"/>
          </a:xfrm>
          <a:prstGeom prst="wedgeEllipseCallout">
            <a:avLst>
              <a:gd fmla="val -52033" name="adj1"/>
              <a:gd fmla="val 64905" name="adj2"/>
            </a:avLst>
          </a:prstGeom>
          <a:gradFill>
            <a:gsLst>
              <a:gs pos="0">
                <a:srgbClr val="9FC3FF"/>
              </a:gs>
              <a:gs pos="35000">
                <a:srgbClr val="BDD5FF"/>
              </a:gs>
              <a:gs pos="100000">
                <a:srgbClr val="E4EEFF"/>
              </a:gs>
            </a:gsLst>
            <a:lin ang="16200000" scaled="0"/>
          </a:gradFill>
          <a:ln cap="flat" cmpd="sng" w="57150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 Qué emoción representa la imagen?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n relacionada" id="171" name="Google Shape;17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31180" y="2564904"/>
            <a:ext cx="5097863" cy="33958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6"/>
          <p:cNvSpPr/>
          <p:nvPr/>
        </p:nvSpPr>
        <p:spPr>
          <a:xfrm>
            <a:off x="2915816" y="836712"/>
            <a:ext cx="5328592" cy="1152128"/>
          </a:xfrm>
          <a:prstGeom prst="wedgeEllipseCallout">
            <a:avLst>
              <a:gd fmla="val -52033" name="adj1"/>
              <a:gd fmla="val 64905" name="adj2"/>
            </a:avLst>
          </a:prstGeom>
          <a:gradFill>
            <a:gsLst>
              <a:gs pos="0">
                <a:srgbClr val="9FC3FF"/>
              </a:gs>
              <a:gs pos="35000">
                <a:srgbClr val="BDD5FF"/>
              </a:gs>
              <a:gs pos="100000">
                <a:srgbClr val="E4EEFF"/>
              </a:gs>
            </a:gsLst>
            <a:lin ang="16200000" scaled="0"/>
          </a:gradFill>
          <a:ln cap="flat" cmpd="sng" w="57150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 Qué emoción representa la imagen?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esultado de imagen para nervioso" id="177" name="Google Shape;177;p16"/>
          <p:cNvPicPr preferRelativeResize="0"/>
          <p:nvPr/>
        </p:nvPicPr>
        <p:blipFill rotWithShape="1">
          <a:blip r:embed="rId3">
            <a:alphaModFix/>
          </a:blip>
          <a:srcRect b="0" l="26696" r="0" t="0"/>
          <a:stretch/>
        </p:blipFill>
        <p:spPr>
          <a:xfrm>
            <a:off x="2705000" y="2276872"/>
            <a:ext cx="5323384" cy="3876611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2019-12-17T19:52:42Z</dcterms:created>
  <dc:creator>Manuel Alvarado</dc:creator>
</cp:coreProperties>
</file>