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57" r:id="rId4"/>
    <p:sldId id="272" r:id="rId5"/>
    <p:sldId id="277" r:id="rId6"/>
    <p:sldId id="273" r:id="rId7"/>
    <p:sldId id="274" r:id="rId8"/>
    <p:sldId id="275" r:id="rId9"/>
    <p:sldId id="276" r:id="rId10"/>
    <p:sldId id="278" r:id="rId11"/>
    <p:sldId id="285" r:id="rId12"/>
    <p:sldId id="279" r:id="rId13"/>
    <p:sldId id="280" r:id="rId14"/>
    <p:sldId id="281" r:id="rId15"/>
    <p:sldId id="282" r:id="rId16"/>
    <p:sldId id="283" r:id="rId17"/>
    <p:sldId id="28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2278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3480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372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062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386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299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533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1091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503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608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640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B3857-B76E-4D53-9B51-4DD30DEC4355}" type="datetimeFigureOut">
              <a:rPr lang="es-CL" smtClean="0"/>
              <a:t>08-02-2020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FB75D-4812-46DF-8B49-39575EB9648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25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A58321E-8D90-4FF7-BE2D-7A6690B164F1}"/>
              </a:ext>
            </a:extLst>
          </p:cNvPr>
          <p:cNvSpPr/>
          <p:nvPr/>
        </p:nvSpPr>
        <p:spPr>
          <a:xfrm>
            <a:off x="1494232" y="2967335"/>
            <a:ext cx="65265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s-E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Berlin Sans FB Demi" panose="020E0802020502020306" pitchFamily="34" charset="0"/>
              </a:rPr>
              <a:t>Segmentación silábica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260FD64-A9FF-4A90-BE65-DB2BAB5D36B7}"/>
              </a:ext>
            </a:extLst>
          </p:cNvPr>
          <p:cNvSpPr/>
          <p:nvPr/>
        </p:nvSpPr>
        <p:spPr>
          <a:xfrm>
            <a:off x="2370980" y="1403579"/>
            <a:ext cx="440203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400" b="1" cap="none" spc="0" dirty="0">
                <a:ln/>
                <a:solidFill>
                  <a:schemeClr val="accent4"/>
                </a:solidFill>
                <a:effectLst/>
                <a:latin typeface="Bernard MT Condensed" panose="02050806060905020404" pitchFamily="18" charset="0"/>
              </a:rPr>
              <a:t>Hoy aprenderemos:</a:t>
            </a:r>
          </a:p>
        </p:txBody>
      </p:sp>
    </p:spTree>
    <p:extLst>
      <p:ext uri="{BB962C8B-B14F-4D97-AF65-F5344CB8AC3E}">
        <p14:creationId xmlns:p14="http://schemas.microsoft.com/office/powerpoint/2010/main" val="2703080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CAE22A-7B96-407E-A481-542D1A39B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485" y="2113970"/>
            <a:ext cx="2147571" cy="294836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7BD145E-D807-41F3-A199-071B38992666}"/>
              </a:ext>
            </a:extLst>
          </p:cNvPr>
          <p:cNvSpPr txBox="1"/>
          <p:nvPr/>
        </p:nvSpPr>
        <p:spPr>
          <a:xfrm>
            <a:off x="861391" y="1126435"/>
            <a:ext cx="7527235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sz="2400" b="1" dirty="0"/>
              <a:t>Actividad:  </a:t>
            </a:r>
            <a:r>
              <a:rPr lang="es-ES" sz="2400" dirty="0"/>
              <a:t>Cuenta cuantas sílabas tiene cada imagen y pinta la cantidad de círculos que corresponda.</a:t>
            </a:r>
            <a:endParaRPr lang="es-CL" sz="24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F4A0C5-8D2B-4C8C-8700-EDAF46E8C3B1}"/>
              </a:ext>
            </a:extLst>
          </p:cNvPr>
          <p:cNvSpPr/>
          <p:nvPr/>
        </p:nvSpPr>
        <p:spPr>
          <a:xfrm rot="20976076">
            <a:off x="1834845" y="4875648"/>
            <a:ext cx="65265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s-ES" sz="4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Berlin Sans FB Demi" panose="020E0802020502020306" pitchFamily="34" charset="0"/>
              </a:rPr>
              <a:t>Segmentación silábica</a:t>
            </a:r>
          </a:p>
        </p:txBody>
      </p:sp>
      <p:pic>
        <p:nvPicPr>
          <p:cNvPr id="15362" name="Picture 2" descr="Resultado de imagen de dibujo de  MANOS APLAIDIENDO">
            <a:extLst>
              <a:ext uri="{FF2B5EF4-FFF2-40B4-BE49-F238E27FC236}">
                <a16:creationId xmlns:a16="http://schemas.microsoft.com/office/drawing/2014/main" id="{C58F1803-E5AB-4925-A860-6D9007E9FB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5" r="8688" b="10497"/>
          <a:stretch/>
        </p:blipFill>
        <p:spPr bwMode="auto">
          <a:xfrm>
            <a:off x="4220818" y="2376059"/>
            <a:ext cx="1802296" cy="191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290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F144B8D-086E-46FB-B820-54843C30A1D1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AD83D4-71C4-4971-B04D-817557C4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705" y="1891539"/>
            <a:ext cx="2588729" cy="261672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2678BC8-9148-403D-B140-D170BBF83E60}"/>
              </a:ext>
            </a:extLst>
          </p:cNvPr>
          <p:cNvSpPr/>
          <p:nvPr/>
        </p:nvSpPr>
        <p:spPr>
          <a:xfrm>
            <a:off x="4390995" y="2415070"/>
            <a:ext cx="298831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Gato</a:t>
            </a:r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49349C70-4598-4BD2-A42F-2529DB9F1F0F}"/>
              </a:ext>
            </a:extLst>
          </p:cNvPr>
          <p:cNvSpPr/>
          <p:nvPr/>
        </p:nvSpPr>
        <p:spPr>
          <a:xfrm>
            <a:off x="2907749" y="467801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Diagrama de flujo: conector 10">
            <a:extLst>
              <a:ext uri="{FF2B5EF4-FFF2-40B4-BE49-F238E27FC236}">
                <a16:creationId xmlns:a16="http://schemas.microsoft.com/office/drawing/2014/main" id="{2E5E4A52-BC7F-4BAC-86E6-77F71AFDCF54}"/>
              </a:ext>
            </a:extLst>
          </p:cNvPr>
          <p:cNvSpPr/>
          <p:nvPr/>
        </p:nvSpPr>
        <p:spPr>
          <a:xfrm>
            <a:off x="6379739" y="467801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735DBED5-CF6C-4580-9C59-80BD1D9B57D9}"/>
              </a:ext>
            </a:extLst>
          </p:cNvPr>
          <p:cNvSpPr/>
          <p:nvPr/>
        </p:nvSpPr>
        <p:spPr>
          <a:xfrm>
            <a:off x="4572000" y="467801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B901D5E7-3BD2-469D-AA12-E5CBD485FBE5}"/>
              </a:ext>
            </a:extLst>
          </p:cNvPr>
          <p:cNvSpPr/>
          <p:nvPr/>
        </p:nvSpPr>
        <p:spPr>
          <a:xfrm>
            <a:off x="1145949" y="467801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24456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524FC75-89F8-49A1-A978-4261C8F3BF3E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pic>
        <p:nvPicPr>
          <p:cNvPr id="1026" name="Picture 2" descr="Resultado de imagen de dibujo de elefante">
            <a:extLst>
              <a:ext uri="{FF2B5EF4-FFF2-40B4-BE49-F238E27FC236}">
                <a16:creationId xmlns:a16="http://schemas.microsoft.com/office/drawing/2014/main" id="{46D09FEE-F0C8-4177-BD71-07B4E79B4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606" y="1889587"/>
            <a:ext cx="2739679" cy="253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2A647B2-DE56-4352-967E-5EA702B7DD37}"/>
              </a:ext>
            </a:extLst>
          </p:cNvPr>
          <p:cNvSpPr/>
          <p:nvPr/>
        </p:nvSpPr>
        <p:spPr>
          <a:xfrm>
            <a:off x="4179757" y="2828835"/>
            <a:ext cx="377539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Elefante</a:t>
            </a:r>
            <a:endParaRPr lang="es-ES" sz="7200" b="1" cap="none" spc="0" dirty="0">
              <a:ln w="12700" cmpd="sng">
                <a:solidFill>
                  <a:schemeClr val="accent4"/>
                </a:solidFill>
                <a:prstDash val="solid"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BE026F4B-9C4B-4F0E-9C0A-832C955AEC3D}"/>
              </a:ext>
            </a:extLst>
          </p:cNvPr>
          <p:cNvSpPr/>
          <p:nvPr/>
        </p:nvSpPr>
        <p:spPr>
          <a:xfrm>
            <a:off x="3049815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E0030B5C-2DCA-4F8D-8B82-6860E3F7CB04}"/>
              </a:ext>
            </a:extLst>
          </p:cNvPr>
          <p:cNvSpPr/>
          <p:nvPr/>
        </p:nvSpPr>
        <p:spPr>
          <a:xfrm>
            <a:off x="1476529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92E05A1F-2609-4744-AADE-9B12AC92BBA7}"/>
              </a:ext>
            </a:extLst>
          </p:cNvPr>
          <p:cNvSpPr/>
          <p:nvPr/>
        </p:nvSpPr>
        <p:spPr>
          <a:xfrm>
            <a:off x="6196387" y="456852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5AC13F56-401A-41A7-AF62-9D6E2500DAF9}"/>
              </a:ext>
            </a:extLst>
          </p:cNvPr>
          <p:cNvSpPr/>
          <p:nvPr/>
        </p:nvSpPr>
        <p:spPr>
          <a:xfrm>
            <a:off x="4623101" y="460827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9825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B552BB6-A7B7-4584-BEB8-79693BE0D98A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66A46BB0-A12F-4A6F-B683-214A4572C8C1}"/>
              </a:ext>
            </a:extLst>
          </p:cNvPr>
          <p:cNvSpPr/>
          <p:nvPr/>
        </p:nvSpPr>
        <p:spPr>
          <a:xfrm>
            <a:off x="1291299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FB2F8DBC-C0F2-44C0-AFED-93DB7381F67C}"/>
              </a:ext>
            </a:extLst>
          </p:cNvPr>
          <p:cNvSpPr/>
          <p:nvPr/>
        </p:nvSpPr>
        <p:spPr>
          <a:xfrm>
            <a:off x="2724695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4364430-BF23-442D-8ADE-44E72D348750}"/>
              </a:ext>
            </a:extLst>
          </p:cNvPr>
          <p:cNvSpPr/>
          <p:nvPr/>
        </p:nvSpPr>
        <p:spPr>
          <a:xfrm>
            <a:off x="4158091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EF49E642-7598-49C9-A736-D952F86E88B0}"/>
              </a:ext>
            </a:extLst>
          </p:cNvPr>
          <p:cNvSpPr/>
          <p:nvPr/>
        </p:nvSpPr>
        <p:spPr>
          <a:xfrm>
            <a:off x="5591487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DEE94694-8391-4730-80A4-DBF056C34FB7}"/>
              </a:ext>
            </a:extLst>
          </p:cNvPr>
          <p:cNvSpPr/>
          <p:nvPr/>
        </p:nvSpPr>
        <p:spPr>
          <a:xfrm>
            <a:off x="7024883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2050" name="Picture 2" descr="Resultado de imagen de dibujo de avestruz">
            <a:extLst>
              <a:ext uri="{FF2B5EF4-FFF2-40B4-BE49-F238E27FC236}">
                <a16:creationId xmlns:a16="http://schemas.microsoft.com/office/drawing/2014/main" id="{D4432AF4-8928-4646-8AE0-E8F88A760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92" y="1889587"/>
            <a:ext cx="2268899" cy="258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D5A75F2-8097-43C3-B632-EBE9983BA645}"/>
              </a:ext>
            </a:extLst>
          </p:cNvPr>
          <p:cNvSpPr/>
          <p:nvPr/>
        </p:nvSpPr>
        <p:spPr>
          <a:xfrm>
            <a:off x="3958892" y="2828835"/>
            <a:ext cx="404893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Avestruz</a:t>
            </a:r>
            <a:endParaRPr lang="es-ES" sz="7200" b="1" cap="none" spc="0" dirty="0">
              <a:ln w="12700" cmpd="sng">
                <a:solidFill>
                  <a:schemeClr val="accent4"/>
                </a:solidFill>
                <a:prstDash val="solid"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9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B7791ED-504A-48F0-97B1-3A78CE406AEA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F9CB87-78DC-4285-B4DE-CCCF2A0BE6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62"/>
          <a:stretch/>
        </p:blipFill>
        <p:spPr>
          <a:xfrm>
            <a:off x="1659212" y="1749162"/>
            <a:ext cx="2488719" cy="289572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858CC77-2AB8-4FAC-B8E2-56D66AD93071}"/>
              </a:ext>
            </a:extLst>
          </p:cNvPr>
          <p:cNvSpPr/>
          <p:nvPr/>
        </p:nvSpPr>
        <p:spPr>
          <a:xfrm>
            <a:off x="5065450" y="2828835"/>
            <a:ext cx="200401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Tigre</a:t>
            </a:r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EF11BB47-3B80-479E-8B1A-820D5012428A}"/>
              </a:ext>
            </a:extLst>
          </p:cNvPr>
          <p:cNvSpPr/>
          <p:nvPr/>
        </p:nvSpPr>
        <p:spPr>
          <a:xfrm>
            <a:off x="1291299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6729A50B-D609-44B8-9D07-3459E0336949}"/>
              </a:ext>
            </a:extLst>
          </p:cNvPr>
          <p:cNvSpPr/>
          <p:nvPr/>
        </p:nvSpPr>
        <p:spPr>
          <a:xfrm>
            <a:off x="2951764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B4205744-B71E-4F62-A1E7-64C791E3590E}"/>
              </a:ext>
            </a:extLst>
          </p:cNvPr>
          <p:cNvSpPr/>
          <p:nvPr/>
        </p:nvSpPr>
        <p:spPr>
          <a:xfrm>
            <a:off x="4620382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91A4A04A-2052-4010-9A6B-5CC898416E28}"/>
              </a:ext>
            </a:extLst>
          </p:cNvPr>
          <p:cNvSpPr/>
          <p:nvPr/>
        </p:nvSpPr>
        <p:spPr>
          <a:xfrm>
            <a:off x="6289000" y="464488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677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617AADA-2A41-4A34-A540-089A08453B5A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13F87F8-FA72-463E-9ED3-B78757F5AC28}"/>
              </a:ext>
            </a:extLst>
          </p:cNvPr>
          <p:cNvSpPr/>
          <p:nvPr/>
        </p:nvSpPr>
        <p:spPr>
          <a:xfrm>
            <a:off x="2731113" y="3441497"/>
            <a:ext cx="453201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2700" cmpd="sng">
                  <a:solidFill>
                    <a:schemeClr val="accent4"/>
                  </a:solidFill>
                  <a:prstDash val="solid"/>
                </a:ln>
                <a:latin typeface="Bernard MT Condensed" panose="02050806060905020404" pitchFamily="18" charset="0"/>
                <a:cs typeface="Arial" panose="020B0604020202020204" pitchFamily="34" charset="0"/>
              </a:rPr>
              <a:t>Hipopótamo</a:t>
            </a:r>
            <a:endParaRPr lang="es-ES" sz="7200" b="1" cap="none" spc="0" dirty="0">
              <a:ln w="12700" cmpd="sng">
                <a:solidFill>
                  <a:schemeClr val="accent4"/>
                </a:solidFill>
                <a:prstDash val="solid"/>
              </a:ln>
              <a:effectLst/>
              <a:latin typeface="Bernard MT Condensed" panose="02050806060905020404" pitchFamily="18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Resultado de imagen de dibujo de  hipopotamo">
            <a:extLst>
              <a:ext uri="{FF2B5EF4-FFF2-40B4-BE49-F238E27FC236}">
                <a16:creationId xmlns:a16="http://schemas.microsoft.com/office/drawing/2014/main" id="{B72A9934-18FC-49A3-A565-B336EDD14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212" y="174161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5A9E2982-5BEC-4049-9C62-AAEB733ED858}"/>
              </a:ext>
            </a:extLst>
          </p:cNvPr>
          <p:cNvSpPr/>
          <p:nvPr/>
        </p:nvSpPr>
        <p:spPr>
          <a:xfrm>
            <a:off x="789553" y="4641826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DB6342EF-1387-42E0-9307-A6DFF836E050}"/>
              </a:ext>
            </a:extLst>
          </p:cNvPr>
          <p:cNvSpPr/>
          <p:nvPr/>
        </p:nvSpPr>
        <p:spPr>
          <a:xfrm>
            <a:off x="3801330" y="4641826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C6858CF7-4ECB-471F-80E9-3B2EA328DCB9}"/>
              </a:ext>
            </a:extLst>
          </p:cNvPr>
          <p:cNvSpPr/>
          <p:nvPr/>
        </p:nvSpPr>
        <p:spPr>
          <a:xfrm>
            <a:off x="5286201" y="4616330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14DB87A0-6440-4472-AC29-A8378E19B61C}"/>
              </a:ext>
            </a:extLst>
          </p:cNvPr>
          <p:cNvSpPr/>
          <p:nvPr/>
        </p:nvSpPr>
        <p:spPr>
          <a:xfrm>
            <a:off x="6813107" y="4616330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0407AFEF-7E72-400E-A241-50350AA265DD}"/>
              </a:ext>
            </a:extLst>
          </p:cNvPr>
          <p:cNvSpPr/>
          <p:nvPr/>
        </p:nvSpPr>
        <p:spPr>
          <a:xfrm>
            <a:off x="2274424" y="4641826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0705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09BC659-585E-4CD3-B069-E8AE427B790C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A59156-3F7D-4C7C-94B5-E2013F25E4FC}"/>
              </a:ext>
            </a:extLst>
          </p:cNvPr>
          <p:cNvSpPr/>
          <p:nvPr/>
        </p:nvSpPr>
        <p:spPr>
          <a:xfrm>
            <a:off x="5241955" y="2683061"/>
            <a:ext cx="217636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Perro</a:t>
            </a:r>
          </a:p>
        </p:txBody>
      </p:sp>
      <p:pic>
        <p:nvPicPr>
          <p:cNvPr id="5122" name="Picture 2" descr="Resultado de imagen de dibujo de  PERRO">
            <a:extLst>
              <a:ext uri="{FF2B5EF4-FFF2-40B4-BE49-F238E27FC236}">
                <a16:creationId xmlns:a16="http://schemas.microsoft.com/office/drawing/2014/main" id="{6E26B443-9E6B-4227-B8BD-E776B9353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80" y="2171566"/>
            <a:ext cx="3018597" cy="185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5FEED766-78B4-46B3-80B0-85861C7936EC}"/>
              </a:ext>
            </a:extLst>
          </p:cNvPr>
          <p:cNvSpPr/>
          <p:nvPr/>
        </p:nvSpPr>
        <p:spPr>
          <a:xfrm>
            <a:off x="1335377" y="4481255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E5256157-C1CD-4714-AA39-7123200470ED}"/>
              </a:ext>
            </a:extLst>
          </p:cNvPr>
          <p:cNvSpPr/>
          <p:nvPr/>
        </p:nvSpPr>
        <p:spPr>
          <a:xfrm>
            <a:off x="3030616" y="441482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30D391-8E02-4C1D-A6D5-B94BB311D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658" y="4374908"/>
            <a:ext cx="1231499" cy="963251"/>
          </a:xfrm>
          <a:prstGeom prst="rect">
            <a:avLst/>
          </a:prstGeom>
        </p:spPr>
      </p:pic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1E16B9E6-0742-41F7-A94F-6C87B219C0A8}"/>
              </a:ext>
            </a:extLst>
          </p:cNvPr>
          <p:cNvSpPr/>
          <p:nvPr/>
        </p:nvSpPr>
        <p:spPr>
          <a:xfrm>
            <a:off x="6612835" y="441482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6431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461EA69-1AB1-4DCD-AABF-7DADD44DD9D9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067A1A5E-1885-465A-9C12-14977F9581F7}"/>
              </a:ext>
            </a:extLst>
          </p:cNvPr>
          <p:cNvSpPr/>
          <p:nvPr/>
        </p:nvSpPr>
        <p:spPr>
          <a:xfrm>
            <a:off x="1592072" y="457912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682E4AD3-C85B-4EAB-9344-33FEFD394B59}"/>
              </a:ext>
            </a:extLst>
          </p:cNvPr>
          <p:cNvSpPr/>
          <p:nvPr/>
        </p:nvSpPr>
        <p:spPr>
          <a:xfrm>
            <a:off x="3358834" y="457912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D092683A-48E2-4A1B-88FC-C2D9F4095450}"/>
              </a:ext>
            </a:extLst>
          </p:cNvPr>
          <p:cNvSpPr/>
          <p:nvPr/>
        </p:nvSpPr>
        <p:spPr>
          <a:xfrm>
            <a:off x="5027185" y="457912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308A7A78-C25D-4807-8F9E-F16279466F2A}"/>
              </a:ext>
            </a:extLst>
          </p:cNvPr>
          <p:cNvSpPr/>
          <p:nvPr/>
        </p:nvSpPr>
        <p:spPr>
          <a:xfrm>
            <a:off x="6695536" y="4559754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146" name="Picture 2" descr="Resultado de imagen de dibujo de GALLINA">
            <a:extLst>
              <a:ext uri="{FF2B5EF4-FFF2-40B4-BE49-F238E27FC236}">
                <a16:creationId xmlns:a16="http://schemas.microsoft.com/office/drawing/2014/main" id="{193C71D4-414D-4C34-AC57-32399D62D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175" y="1889587"/>
            <a:ext cx="193357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B9B718A-1EE7-4B1A-91FF-8F4979E3A686}"/>
              </a:ext>
            </a:extLst>
          </p:cNvPr>
          <p:cNvSpPr/>
          <p:nvPr/>
        </p:nvSpPr>
        <p:spPr>
          <a:xfrm>
            <a:off x="4360005" y="2828835"/>
            <a:ext cx="301236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2700" cmpd="sng">
                  <a:solidFill>
                    <a:schemeClr val="accent4"/>
                  </a:solidFill>
                  <a:prstDash val="solid"/>
                </a:ln>
                <a:latin typeface="Bernard MT Condensed" panose="02050806060905020404" pitchFamily="18" charset="0"/>
                <a:cs typeface="Arial" panose="020B0604020202020204" pitchFamily="34" charset="0"/>
              </a:rPr>
              <a:t>GALLINA</a:t>
            </a:r>
            <a:endParaRPr lang="es-ES" sz="7200" b="1" cap="none" spc="0" dirty="0">
              <a:ln w="12700" cmpd="sng">
                <a:solidFill>
                  <a:schemeClr val="accent4"/>
                </a:solidFill>
                <a:prstDash val="solid"/>
              </a:ln>
              <a:effectLst/>
              <a:latin typeface="Bernard MT Condensed" panose="020508060609050204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530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2E20ABF-6041-4E8E-B1F0-EC56DB06F1B0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2850D25-1D9A-4EEB-A123-668CC43B59A5}"/>
              </a:ext>
            </a:extLst>
          </p:cNvPr>
          <p:cNvSpPr/>
          <p:nvPr/>
        </p:nvSpPr>
        <p:spPr>
          <a:xfrm>
            <a:off x="4723086" y="2828835"/>
            <a:ext cx="228620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Mono 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65B77DE6-3F82-4513-BD89-8ABC8635CFED}"/>
              </a:ext>
            </a:extLst>
          </p:cNvPr>
          <p:cNvSpPr/>
          <p:nvPr/>
        </p:nvSpPr>
        <p:spPr>
          <a:xfrm>
            <a:off x="6132664" y="4481255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B01B902-9C19-4108-A064-9B0E3B42C0D1}"/>
              </a:ext>
            </a:extLst>
          </p:cNvPr>
          <p:cNvSpPr/>
          <p:nvPr/>
        </p:nvSpPr>
        <p:spPr>
          <a:xfrm>
            <a:off x="3011336" y="452201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00D6963B-13BC-4FC9-B750-52D7C426872E}"/>
              </a:ext>
            </a:extLst>
          </p:cNvPr>
          <p:cNvSpPr/>
          <p:nvPr/>
        </p:nvSpPr>
        <p:spPr>
          <a:xfrm>
            <a:off x="4572000" y="4506747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DC728CC4-D18B-4CED-8895-92DFDE62DFB8}"/>
              </a:ext>
            </a:extLst>
          </p:cNvPr>
          <p:cNvSpPr/>
          <p:nvPr/>
        </p:nvSpPr>
        <p:spPr>
          <a:xfrm>
            <a:off x="1450672" y="4530665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7170" name="Picture 2" descr="Resultado de imagen de dibujo de mono">
            <a:extLst>
              <a:ext uri="{FF2B5EF4-FFF2-40B4-BE49-F238E27FC236}">
                <a16:creationId xmlns:a16="http://schemas.microsoft.com/office/drawing/2014/main" id="{A35A675E-939A-4B24-B541-BF2877D11F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7"/>
          <a:stretch/>
        </p:blipFill>
        <p:spPr bwMode="auto">
          <a:xfrm>
            <a:off x="1855528" y="1889587"/>
            <a:ext cx="2311615" cy="225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12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FED7779-174B-4076-BAF0-6F1129BEF21E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pic>
        <p:nvPicPr>
          <p:cNvPr id="8194" name="Picture 2" descr="Resultado de imagen de dibujo de leopardo">
            <a:extLst>
              <a:ext uri="{FF2B5EF4-FFF2-40B4-BE49-F238E27FC236}">
                <a16:creationId xmlns:a16="http://schemas.microsoft.com/office/drawing/2014/main" id="{161D4406-6126-4211-A476-718D6CE86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04" b="18191"/>
          <a:stretch/>
        </p:blipFill>
        <p:spPr bwMode="auto">
          <a:xfrm>
            <a:off x="3078268" y="1923728"/>
            <a:ext cx="3349476" cy="184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39F2A6B-2D30-4BE6-9A2E-DEE3445BBDD3}"/>
              </a:ext>
            </a:extLst>
          </p:cNvPr>
          <p:cNvSpPr/>
          <p:nvPr/>
        </p:nvSpPr>
        <p:spPr>
          <a:xfrm>
            <a:off x="2878646" y="3582554"/>
            <a:ext cx="374871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2700" cmpd="sng">
                  <a:solidFill>
                    <a:schemeClr val="accent4"/>
                  </a:solidFill>
                  <a:prstDash val="solid"/>
                </a:ln>
                <a:latin typeface="Bernard MT Condensed" panose="02050806060905020404" pitchFamily="18" charset="0"/>
                <a:cs typeface="Arial" panose="020B0604020202020204" pitchFamily="34" charset="0"/>
              </a:rPr>
              <a:t>Leopardo</a:t>
            </a:r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4DBF4D5A-DEE1-45C8-8BA7-21A8E4DB9EAA}"/>
              </a:ext>
            </a:extLst>
          </p:cNvPr>
          <p:cNvSpPr/>
          <p:nvPr/>
        </p:nvSpPr>
        <p:spPr>
          <a:xfrm>
            <a:off x="3204849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A4595B1F-D98E-4736-8080-549D3F471030}"/>
              </a:ext>
            </a:extLst>
          </p:cNvPr>
          <p:cNvSpPr/>
          <p:nvPr/>
        </p:nvSpPr>
        <p:spPr>
          <a:xfrm>
            <a:off x="6573611" y="4715470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74261B97-5827-4FE4-AF58-09250E0C30B9}"/>
              </a:ext>
            </a:extLst>
          </p:cNvPr>
          <p:cNvSpPr/>
          <p:nvPr/>
        </p:nvSpPr>
        <p:spPr>
          <a:xfrm>
            <a:off x="4889230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11D8C3D2-CE33-47B5-9FB4-7AA71CD6BDD1}"/>
              </a:ext>
            </a:extLst>
          </p:cNvPr>
          <p:cNvSpPr/>
          <p:nvPr/>
        </p:nvSpPr>
        <p:spPr>
          <a:xfrm>
            <a:off x="1520468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69197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B3FBC3D-FF6C-43AE-8793-24EA6CBDE034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E991AAE-0C6A-4355-A555-AF1EB46CDA88}"/>
              </a:ext>
            </a:extLst>
          </p:cNvPr>
          <p:cNvSpPr/>
          <p:nvPr/>
        </p:nvSpPr>
        <p:spPr>
          <a:xfrm>
            <a:off x="3364644" y="3582554"/>
            <a:ext cx="27767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Conejo 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1BA1F935-0571-4794-95F0-6A68602DD87A}"/>
              </a:ext>
            </a:extLst>
          </p:cNvPr>
          <p:cNvSpPr/>
          <p:nvPr/>
        </p:nvSpPr>
        <p:spPr>
          <a:xfrm>
            <a:off x="1520468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4DE841D6-CD0D-421D-BC51-F228EF567359}"/>
              </a:ext>
            </a:extLst>
          </p:cNvPr>
          <p:cNvSpPr/>
          <p:nvPr/>
        </p:nvSpPr>
        <p:spPr>
          <a:xfrm>
            <a:off x="3113382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19B8F73F-CC2A-4B2F-9F92-04828E643F63}"/>
              </a:ext>
            </a:extLst>
          </p:cNvPr>
          <p:cNvSpPr/>
          <p:nvPr/>
        </p:nvSpPr>
        <p:spPr>
          <a:xfrm>
            <a:off x="4753005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FD8CC024-BA9C-4931-B227-97F21A8B09F6}"/>
              </a:ext>
            </a:extLst>
          </p:cNvPr>
          <p:cNvSpPr/>
          <p:nvPr/>
        </p:nvSpPr>
        <p:spPr>
          <a:xfrm>
            <a:off x="6392628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0063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E162826-90F1-4DE4-9D1E-5906696841A6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03C2196-ECED-4F18-9987-2A93DFFADD1C}"/>
              </a:ext>
            </a:extLst>
          </p:cNvPr>
          <p:cNvSpPr/>
          <p:nvPr/>
        </p:nvSpPr>
        <p:spPr>
          <a:xfrm>
            <a:off x="4811028" y="3010270"/>
            <a:ext cx="244971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2700" cmpd="sng">
                  <a:solidFill>
                    <a:schemeClr val="accent4"/>
                  </a:solidFill>
                  <a:prstDash val="solid"/>
                </a:ln>
                <a:latin typeface="Bernard MT Condensed" panose="02050806060905020404" pitchFamily="18" charset="0"/>
                <a:cs typeface="Arial" panose="020B0604020202020204" pitchFamily="34" charset="0"/>
              </a:rPr>
              <a:t>C</a:t>
            </a:r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abra 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1FDF0B82-85CF-4BDD-BC66-43BB43EBC1F7}"/>
              </a:ext>
            </a:extLst>
          </p:cNvPr>
          <p:cNvSpPr/>
          <p:nvPr/>
        </p:nvSpPr>
        <p:spPr>
          <a:xfrm>
            <a:off x="1335377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ABD66179-D9C8-40CC-A266-16402556F2EB}"/>
              </a:ext>
            </a:extLst>
          </p:cNvPr>
          <p:cNvSpPr/>
          <p:nvPr/>
        </p:nvSpPr>
        <p:spPr>
          <a:xfrm>
            <a:off x="2930256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ED620EA1-ABC4-4F07-AA9E-162197711BF7}"/>
              </a:ext>
            </a:extLst>
          </p:cNvPr>
          <p:cNvSpPr/>
          <p:nvPr/>
        </p:nvSpPr>
        <p:spPr>
          <a:xfrm>
            <a:off x="4454058" y="4768480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EC7945B4-01AE-4B85-83E0-4ACB684C4F7C}"/>
              </a:ext>
            </a:extLst>
          </p:cNvPr>
          <p:cNvSpPr/>
          <p:nvPr/>
        </p:nvSpPr>
        <p:spPr>
          <a:xfrm>
            <a:off x="6191860" y="4768480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13314" name="Picture 2" descr="Resultado de imagen de dibujo de CABRA">
            <a:extLst>
              <a:ext uri="{FF2B5EF4-FFF2-40B4-BE49-F238E27FC236}">
                <a16:creationId xmlns:a16="http://schemas.microsoft.com/office/drawing/2014/main" id="{3E985DC2-BD50-4544-BFC8-BBDB655D2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1" r="23181"/>
          <a:stretch/>
        </p:blipFill>
        <p:spPr bwMode="auto">
          <a:xfrm>
            <a:off x="1540323" y="1889586"/>
            <a:ext cx="3164199" cy="2587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483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2E83CC5-F424-47E0-9F73-CB1DBAC8E2FE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D7419D6-3C12-4649-92B1-DE5B860B59EE}"/>
              </a:ext>
            </a:extLst>
          </p:cNvPr>
          <p:cNvSpPr/>
          <p:nvPr/>
        </p:nvSpPr>
        <p:spPr>
          <a:xfrm>
            <a:off x="5431875" y="2999459"/>
            <a:ext cx="267092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CERDO </a:t>
            </a:r>
          </a:p>
        </p:txBody>
      </p:sp>
      <p:pic>
        <p:nvPicPr>
          <p:cNvPr id="12290" name="Picture 2" descr="Resultado de imagen de dibujo de CERDO">
            <a:extLst>
              <a:ext uri="{FF2B5EF4-FFF2-40B4-BE49-F238E27FC236}">
                <a16:creationId xmlns:a16="http://schemas.microsoft.com/office/drawing/2014/main" id="{654C742A-F197-42C9-BA0F-BA03C2975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r="11053" b="10845"/>
          <a:stretch/>
        </p:blipFill>
        <p:spPr bwMode="auto">
          <a:xfrm>
            <a:off x="2082456" y="2065411"/>
            <a:ext cx="2873857" cy="255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8575C4D7-32E0-488A-A066-95AE56AA436B}"/>
              </a:ext>
            </a:extLst>
          </p:cNvPr>
          <p:cNvSpPr/>
          <p:nvPr/>
        </p:nvSpPr>
        <p:spPr>
          <a:xfrm>
            <a:off x="1195991" y="480045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02FFE94F-BE9D-43DC-932C-9EA8076A47D2}"/>
              </a:ext>
            </a:extLst>
          </p:cNvPr>
          <p:cNvSpPr/>
          <p:nvPr/>
        </p:nvSpPr>
        <p:spPr>
          <a:xfrm>
            <a:off x="2876437" y="480045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FE3B7F47-9648-4469-ABB9-A39952768674}"/>
              </a:ext>
            </a:extLst>
          </p:cNvPr>
          <p:cNvSpPr/>
          <p:nvPr/>
        </p:nvSpPr>
        <p:spPr>
          <a:xfrm>
            <a:off x="4572000" y="480045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60330FED-8612-4F14-A3F7-FEA41FBD8451}"/>
              </a:ext>
            </a:extLst>
          </p:cNvPr>
          <p:cNvSpPr/>
          <p:nvPr/>
        </p:nvSpPr>
        <p:spPr>
          <a:xfrm>
            <a:off x="6419742" y="4800459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91073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5A2326F-98AD-40C1-B5D8-2397C95CEC8E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060DBA3-8613-4C5E-BC0E-7DC32C2D66A4}"/>
              </a:ext>
            </a:extLst>
          </p:cNvPr>
          <p:cNvSpPr/>
          <p:nvPr/>
        </p:nvSpPr>
        <p:spPr>
          <a:xfrm>
            <a:off x="4572000" y="3275474"/>
            <a:ext cx="268201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JIRAFA 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603F5E67-7BA5-490A-88B5-6D3A548792C2}"/>
              </a:ext>
            </a:extLst>
          </p:cNvPr>
          <p:cNvSpPr/>
          <p:nvPr/>
        </p:nvSpPr>
        <p:spPr>
          <a:xfrm>
            <a:off x="1335377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D1A8DC91-C263-4C8D-AB27-D6E2FDC1965B}"/>
              </a:ext>
            </a:extLst>
          </p:cNvPr>
          <p:cNvSpPr/>
          <p:nvPr/>
        </p:nvSpPr>
        <p:spPr>
          <a:xfrm>
            <a:off x="2935797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1E8F57E7-CC01-41D9-942F-B9B522CEEC75}"/>
              </a:ext>
            </a:extLst>
          </p:cNvPr>
          <p:cNvSpPr/>
          <p:nvPr/>
        </p:nvSpPr>
        <p:spPr>
          <a:xfrm>
            <a:off x="4536217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F15EF29-7AA9-4D6F-A28A-2EBDB0EEB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020" y="4749058"/>
            <a:ext cx="1231499" cy="957155"/>
          </a:xfrm>
          <a:prstGeom prst="rect">
            <a:avLst/>
          </a:prstGeom>
        </p:spPr>
      </p:pic>
      <p:pic>
        <p:nvPicPr>
          <p:cNvPr id="11266" name="Picture 2" descr="Resultado de imagen de dibujo de JIRAFA">
            <a:extLst>
              <a:ext uri="{FF2B5EF4-FFF2-40B4-BE49-F238E27FC236}">
                <a16:creationId xmlns:a16="http://schemas.microsoft.com/office/drawing/2014/main" id="{483100FA-49C6-4252-BFB4-8B08EE35C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884" y="1889587"/>
            <a:ext cx="2019701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309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928994-7D57-4E1F-A207-D9AD4132A572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25321BF-5892-411A-BAF7-4224C1E67EDF}"/>
              </a:ext>
            </a:extLst>
          </p:cNvPr>
          <p:cNvSpPr/>
          <p:nvPr/>
        </p:nvSpPr>
        <p:spPr>
          <a:xfrm>
            <a:off x="4922481" y="3092224"/>
            <a:ext cx="231986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>
                <a:ln w="12700" cmpd="sng">
                  <a:solidFill>
                    <a:schemeClr val="accent4"/>
                  </a:solidFill>
                  <a:prstDash val="solid"/>
                </a:ln>
                <a:latin typeface="Bernard MT Condensed" panose="02050806060905020404" pitchFamily="18" charset="0"/>
                <a:cs typeface="Arial" panose="020B0604020202020204" pitchFamily="34" charset="0"/>
              </a:rPr>
              <a:t>LEÓN </a:t>
            </a:r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77202FCF-4CEF-4A54-ABEF-DA0AA8EB9832}"/>
              </a:ext>
            </a:extLst>
          </p:cNvPr>
          <p:cNvSpPr/>
          <p:nvPr/>
        </p:nvSpPr>
        <p:spPr>
          <a:xfrm>
            <a:off x="1335377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2F8B34C1-08B3-428D-8A41-1BDBC1E97941}"/>
              </a:ext>
            </a:extLst>
          </p:cNvPr>
          <p:cNvSpPr/>
          <p:nvPr/>
        </p:nvSpPr>
        <p:spPr>
          <a:xfrm>
            <a:off x="2898123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D712D0C8-9443-4668-8907-EDF01D0EB0EE}"/>
              </a:ext>
            </a:extLst>
          </p:cNvPr>
          <p:cNvSpPr/>
          <p:nvPr/>
        </p:nvSpPr>
        <p:spPr>
          <a:xfrm>
            <a:off x="4454058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6948B306-D9E7-44C8-94F0-0207EFF5566E}"/>
              </a:ext>
            </a:extLst>
          </p:cNvPr>
          <p:cNvSpPr/>
          <p:nvPr/>
        </p:nvSpPr>
        <p:spPr>
          <a:xfrm>
            <a:off x="6148131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10242" name="Picture 2" descr="Resultado de imagen de dibujo de LEON">
            <a:extLst>
              <a:ext uri="{FF2B5EF4-FFF2-40B4-BE49-F238E27FC236}">
                <a16:creationId xmlns:a16="http://schemas.microsoft.com/office/drawing/2014/main" id="{1BB86058-1F0E-41F1-A23B-9FC61D080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560" y="1889587"/>
            <a:ext cx="2745440" cy="274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822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1EC6181-B8DD-48DC-8D02-0319DAE5E94E}"/>
              </a:ext>
            </a:extLst>
          </p:cNvPr>
          <p:cNvSpPr/>
          <p:nvPr/>
        </p:nvSpPr>
        <p:spPr>
          <a:xfrm>
            <a:off x="1335377" y="966257"/>
            <a:ext cx="6473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dirty="0">
                <a:ln/>
                <a:solidFill>
                  <a:srgbClr val="7030A0"/>
                </a:solidFill>
                <a:latin typeface="Bernard MT Condensed" panose="02050806060905020404" pitchFamily="18" charset="0"/>
              </a:rPr>
              <a:t>¿ Cuántas sílabas tiene?</a:t>
            </a:r>
            <a:endParaRPr lang="es-ES" sz="5400" b="1" cap="none" spc="0" dirty="0">
              <a:ln/>
              <a:solidFill>
                <a:srgbClr val="7030A0"/>
              </a:solidFill>
              <a:effectLst/>
              <a:latin typeface="Bernard MT Condensed" panose="020508060609050204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FCDE5BD-89F3-4020-91A6-CE82ECE48852}"/>
              </a:ext>
            </a:extLst>
          </p:cNvPr>
          <p:cNvSpPr/>
          <p:nvPr/>
        </p:nvSpPr>
        <p:spPr>
          <a:xfrm>
            <a:off x="4988889" y="3429000"/>
            <a:ext cx="234391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Bernard MT Condensed" panose="02050806060905020404" pitchFamily="18" charset="0"/>
                <a:cs typeface="Arial" panose="020B0604020202020204" pitchFamily="34" charset="0"/>
              </a:rPr>
              <a:t>TORO 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3AC50CE2-D159-46FB-A55D-8DD73DEA2976}"/>
              </a:ext>
            </a:extLst>
          </p:cNvPr>
          <p:cNvSpPr/>
          <p:nvPr/>
        </p:nvSpPr>
        <p:spPr>
          <a:xfrm>
            <a:off x="1335377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9BACD3F1-DF59-4B64-AA63-E90383AD1A05}"/>
              </a:ext>
            </a:extLst>
          </p:cNvPr>
          <p:cNvSpPr/>
          <p:nvPr/>
        </p:nvSpPr>
        <p:spPr>
          <a:xfrm>
            <a:off x="2983155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0AF44407-4408-40C8-B738-8B2B9A063093}"/>
              </a:ext>
            </a:extLst>
          </p:cNvPr>
          <p:cNvSpPr/>
          <p:nvPr/>
        </p:nvSpPr>
        <p:spPr>
          <a:xfrm>
            <a:off x="4572000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2B872AD4-9591-4D35-8E4E-A3AA024A728C}"/>
              </a:ext>
            </a:extLst>
          </p:cNvPr>
          <p:cNvSpPr/>
          <p:nvPr/>
        </p:nvSpPr>
        <p:spPr>
          <a:xfrm>
            <a:off x="6160845" y="4782883"/>
            <a:ext cx="1195788" cy="923330"/>
          </a:xfrm>
          <a:prstGeom prst="flowChartConnector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9218" name="Picture 2" descr="Resultado de imagen de dibujo de TORO">
            <a:extLst>
              <a:ext uri="{FF2B5EF4-FFF2-40B4-BE49-F238E27FC236}">
                <a16:creationId xmlns:a16="http://schemas.microsoft.com/office/drawing/2014/main" id="{F35F97E3-589F-453E-8FBF-EA0B7EC70C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" t="5691" b="8024"/>
          <a:stretch/>
        </p:blipFill>
        <p:spPr bwMode="auto">
          <a:xfrm>
            <a:off x="1933271" y="1974824"/>
            <a:ext cx="2809461" cy="249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8794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114</Words>
  <Application>Microsoft Office PowerPoint</Application>
  <PresentationFormat>Presentación en pantalla (4:3)</PresentationFormat>
  <Paragraphs>34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Berlin Sans FB Demi</vt:lpstr>
      <vt:lpstr>Bernard MT Condensed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</dc:creator>
  <cp:lastModifiedBy>Manuel</cp:lastModifiedBy>
  <cp:revision>8</cp:revision>
  <dcterms:created xsi:type="dcterms:W3CDTF">2020-02-08T16:51:10Z</dcterms:created>
  <dcterms:modified xsi:type="dcterms:W3CDTF">2020-02-08T18:35:09Z</dcterms:modified>
</cp:coreProperties>
</file>