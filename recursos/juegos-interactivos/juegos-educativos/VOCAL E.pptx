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3" r:id="rId4"/>
    <p:sldId id="264" r:id="rId5"/>
    <p:sldId id="265" r:id="rId6"/>
    <p:sldId id="266" r:id="rId7"/>
    <p:sldId id="267" r:id="rId8"/>
    <p:sldId id="268" r:id="rId9"/>
    <p:sldId id="269" r:id="rId10"/>
    <p:sldId id="271" r:id="rId11"/>
    <p:sldId id="270" r:id="rId12"/>
    <p:sldId id="272" r:id="rId13"/>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5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11"/>
          </p:nvPr>
        </p:nvSpPr>
        <p:spPr/>
        <p:txBody>
          <a:bodyPr/>
          <a:lstStyle/>
          <a:p>
            <a:endParaRPr lang="es-CL" dirty="0"/>
          </a:p>
        </p:txBody>
      </p:sp>
      <p:sp>
        <p:nvSpPr>
          <p:cNvPr id="6" name="5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1859731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11"/>
          </p:nvPr>
        </p:nvSpPr>
        <p:spPr/>
        <p:txBody>
          <a:bodyPr/>
          <a:lstStyle/>
          <a:p>
            <a:endParaRPr lang="es-CL" dirty="0"/>
          </a:p>
        </p:txBody>
      </p:sp>
      <p:sp>
        <p:nvSpPr>
          <p:cNvPr id="6" name="5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308159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11"/>
          </p:nvPr>
        </p:nvSpPr>
        <p:spPr/>
        <p:txBody>
          <a:bodyPr/>
          <a:lstStyle/>
          <a:p>
            <a:endParaRPr lang="es-CL" dirty="0"/>
          </a:p>
        </p:txBody>
      </p:sp>
      <p:sp>
        <p:nvSpPr>
          <p:cNvPr id="6" name="5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2570713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6" name="5 Marcador de pie de página"/>
          <p:cNvSpPr>
            <a:spLocks noGrp="1"/>
          </p:cNvSpPr>
          <p:nvPr>
            <p:ph type="ftr" sz="quarter" idx="11"/>
          </p:nvPr>
        </p:nvSpPr>
        <p:spPr/>
        <p:txBody>
          <a:bodyPr/>
          <a:lstStyle/>
          <a:p>
            <a:endParaRPr lang="es-CL" dirty="0"/>
          </a:p>
        </p:txBody>
      </p:sp>
      <p:sp>
        <p:nvSpPr>
          <p:cNvPr id="7" name="6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2654281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8" name="7 Marcador de pie de página"/>
          <p:cNvSpPr>
            <a:spLocks noGrp="1"/>
          </p:cNvSpPr>
          <p:nvPr>
            <p:ph type="ftr" sz="quarter" idx="11"/>
          </p:nvPr>
        </p:nvSpPr>
        <p:spPr/>
        <p:txBody>
          <a:bodyPr/>
          <a:lstStyle/>
          <a:p>
            <a:endParaRPr lang="es-CL" dirty="0"/>
          </a:p>
        </p:txBody>
      </p:sp>
      <p:sp>
        <p:nvSpPr>
          <p:cNvPr id="9" name="8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2336152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4" name="3 Marcador de pie de página"/>
          <p:cNvSpPr>
            <a:spLocks noGrp="1"/>
          </p:cNvSpPr>
          <p:nvPr>
            <p:ph type="ftr" sz="quarter" idx="11"/>
          </p:nvPr>
        </p:nvSpPr>
        <p:spPr/>
        <p:txBody>
          <a:bodyPr/>
          <a:lstStyle/>
          <a:p>
            <a:endParaRPr lang="es-CL" dirty="0"/>
          </a:p>
        </p:txBody>
      </p:sp>
      <p:sp>
        <p:nvSpPr>
          <p:cNvPr id="5" name="4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4096448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3" name="2 Marcador de pie de página"/>
          <p:cNvSpPr>
            <a:spLocks noGrp="1"/>
          </p:cNvSpPr>
          <p:nvPr>
            <p:ph type="ftr" sz="quarter" idx="11"/>
          </p:nvPr>
        </p:nvSpPr>
        <p:spPr/>
        <p:txBody>
          <a:bodyPr/>
          <a:lstStyle/>
          <a:p>
            <a:endParaRPr lang="es-CL" dirty="0"/>
          </a:p>
        </p:txBody>
      </p:sp>
      <p:sp>
        <p:nvSpPr>
          <p:cNvPr id="4" name="3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408012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6" name="5 Marcador de pie de página"/>
          <p:cNvSpPr>
            <a:spLocks noGrp="1"/>
          </p:cNvSpPr>
          <p:nvPr>
            <p:ph type="ftr" sz="quarter" idx="11"/>
          </p:nvPr>
        </p:nvSpPr>
        <p:spPr/>
        <p:txBody>
          <a:bodyPr/>
          <a:lstStyle/>
          <a:p>
            <a:endParaRPr lang="es-CL" dirty="0"/>
          </a:p>
        </p:txBody>
      </p:sp>
      <p:sp>
        <p:nvSpPr>
          <p:cNvPr id="7" name="6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179543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6" name="5 Marcador de pie de página"/>
          <p:cNvSpPr>
            <a:spLocks noGrp="1"/>
          </p:cNvSpPr>
          <p:nvPr>
            <p:ph type="ftr" sz="quarter" idx="11"/>
          </p:nvPr>
        </p:nvSpPr>
        <p:spPr/>
        <p:txBody>
          <a:bodyPr/>
          <a:lstStyle/>
          <a:p>
            <a:endParaRPr lang="es-CL" dirty="0"/>
          </a:p>
        </p:txBody>
      </p:sp>
      <p:sp>
        <p:nvSpPr>
          <p:cNvPr id="7" name="6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1994070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11"/>
          </p:nvPr>
        </p:nvSpPr>
        <p:spPr/>
        <p:txBody>
          <a:bodyPr/>
          <a:lstStyle/>
          <a:p>
            <a:endParaRPr lang="es-CL" dirty="0"/>
          </a:p>
        </p:txBody>
      </p:sp>
      <p:sp>
        <p:nvSpPr>
          <p:cNvPr id="6" name="5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97851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11"/>
          </p:nvPr>
        </p:nvSpPr>
        <p:spPr/>
        <p:txBody>
          <a:bodyPr/>
          <a:lstStyle/>
          <a:p>
            <a:endParaRPr lang="es-CL" dirty="0"/>
          </a:p>
        </p:txBody>
      </p:sp>
      <p:sp>
        <p:nvSpPr>
          <p:cNvPr id="6" name="5 Marcador de número de diapositiva"/>
          <p:cNvSpPr>
            <a:spLocks noGrp="1"/>
          </p:cNvSpPr>
          <p:nvPr>
            <p:ph type="sldNum" sz="quarter" idx="12"/>
          </p:nvPr>
        </p:nvSpPr>
        <p:spPr/>
        <p:txBody>
          <a:bodyPr/>
          <a:lstStyle/>
          <a:p>
            <a:fld id="{AF6F3CFF-A2CD-47E6-9D94-DC3467B798D5}" type="slidenum">
              <a:rPr lang="es-CL" smtClean="0"/>
              <a:t>‹Nº›</a:t>
            </a:fld>
            <a:endParaRPr lang="es-CL" dirty="0"/>
          </a:p>
        </p:txBody>
      </p:sp>
    </p:spTree>
    <p:extLst>
      <p:ext uri="{BB962C8B-B14F-4D97-AF65-F5344CB8AC3E}">
        <p14:creationId xmlns:p14="http://schemas.microsoft.com/office/powerpoint/2010/main" val="342607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2000" b="-2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BF6C82-1FC2-4E6C-AC5B-7D38AC53E75F}" type="datetimeFigureOut">
              <a:rPr lang="es-CL" smtClean="0"/>
              <a:t>26-12-2019</a:t>
            </a:fld>
            <a:endParaRPr lang="es-CL"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F3CFF-A2CD-47E6-9D94-DC3467B798D5}" type="slidenum">
              <a:rPr lang="es-CL" smtClean="0"/>
              <a:t>‹Nº›</a:t>
            </a:fld>
            <a:endParaRPr lang="es-CL" dirty="0"/>
          </a:p>
        </p:txBody>
      </p:sp>
    </p:spTree>
    <p:extLst>
      <p:ext uri="{BB962C8B-B14F-4D97-AF65-F5344CB8AC3E}">
        <p14:creationId xmlns:p14="http://schemas.microsoft.com/office/powerpoint/2010/main" val="1487816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7.pn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23.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 "/>
          <p:cNvPicPr>
            <a:picLocks noChangeAspect="1" noChangeArrowheads="1"/>
          </p:cNvPicPr>
          <p:nvPr/>
        </p:nvPicPr>
        <p:blipFill rotWithShape="1">
          <a:blip r:embed="rId2">
            <a:extLst>
              <a:ext uri="{28A0092B-C50C-407E-A947-70E740481C1C}">
                <a14:useLocalDpi xmlns:a14="http://schemas.microsoft.com/office/drawing/2010/main" val="0"/>
              </a:ext>
            </a:extLst>
          </a:blip>
          <a:srcRect b="10466"/>
          <a:stretch/>
        </p:blipFill>
        <p:spPr bwMode="auto">
          <a:xfrm>
            <a:off x="0" y="0"/>
            <a:ext cx="9144000" cy="6828352"/>
          </a:xfrm>
          <a:prstGeom prst="rect">
            <a:avLst/>
          </a:prstGeom>
          <a:noFill/>
          <a:ln w="76200">
            <a:solidFill>
              <a:srgbClr val="0070C0"/>
            </a:solidFill>
            <a:prstDash val="sysDash"/>
          </a:ln>
          <a:extLst>
            <a:ext uri="{909E8E84-426E-40DD-AFC4-6F175D3DCCD1}">
              <a14:hiddenFill xmlns:a14="http://schemas.microsoft.com/office/drawing/2010/main">
                <a:solidFill>
                  <a:srgbClr val="FFFFFF"/>
                </a:solidFill>
              </a14:hiddenFill>
            </a:ext>
          </a:extLst>
        </p:spPr>
      </p:pic>
      <p:sp>
        <p:nvSpPr>
          <p:cNvPr id="5" name="4 Rectángulo"/>
          <p:cNvSpPr/>
          <p:nvPr/>
        </p:nvSpPr>
        <p:spPr>
          <a:xfrm>
            <a:off x="925721" y="620688"/>
            <a:ext cx="7491154" cy="3293209"/>
          </a:xfrm>
          <a:prstGeom prst="rect">
            <a:avLst/>
          </a:prstGeom>
          <a:noFill/>
        </p:spPr>
        <p:txBody>
          <a:bodyPr wrap="none" lIns="91440" tIns="45720" rIns="91440" bIns="45720">
            <a:spAutoFit/>
          </a:bodyPr>
          <a:lstStyle/>
          <a:p>
            <a:pPr algn="ctr"/>
            <a:r>
              <a:rPr lang="es-ES" sz="8800" b="1" cap="none" spc="0" dirty="0" smtClean="0">
                <a:ln w="1905"/>
                <a:solidFill>
                  <a:srgbClr val="7030A0"/>
                </a:solidFill>
                <a:effectLst>
                  <a:innerShdw blurRad="69850" dist="43180" dir="5400000">
                    <a:srgbClr val="000000">
                      <a:alpha val="65000"/>
                    </a:srgbClr>
                  </a:innerShdw>
                </a:effectLst>
                <a:latin typeface="Brush Script MT" pitchFamily="66" charset="0"/>
              </a:rPr>
              <a:t>Hoy jugaremos con</a:t>
            </a:r>
            <a:r>
              <a:rPr lang="es-ES" sz="6000" b="1" cap="none" spc="0" dirty="0" smtClean="0">
                <a:ln w="1905"/>
                <a:solidFill>
                  <a:srgbClr val="7030A0"/>
                </a:solidFill>
                <a:effectLst>
                  <a:innerShdw blurRad="69850" dist="43180" dir="5400000">
                    <a:srgbClr val="000000">
                      <a:alpha val="65000"/>
                    </a:srgbClr>
                  </a:innerShdw>
                </a:effectLst>
                <a:latin typeface="Elephant" pitchFamily="18" charset="0"/>
              </a:rPr>
              <a:t>: </a:t>
            </a:r>
          </a:p>
          <a:p>
            <a:pPr algn="ctr"/>
            <a:r>
              <a:rPr lang="es-ES" sz="6000" b="1" dirty="0" smtClean="0">
                <a:ln w="1905"/>
                <a:solidFill>
                  <a:srgbClr val="7030A0"/>
                </a:solidFill>
                <a:effectLst>
                  <a:innerShdw blurRad="69850" dist="43180" dir="5400000">
                    <a:srgbClr val="000000">
                      <a:alpha val="65000"/>
                    </a:srgbClr>
                  </a:innerShdw>
                </a:effectLst>
                <a:latin typeface="Elephant" pitchFamily="18" charset="0"/>
              </a:rPr>
              <a:t>VOCAL </a:t>
            </a:r>
          </a:p>
          <a:p>
            <a:pPr algn="ctr"/>
            <a:r>
              <a:rPr lang="es-ES" sz="60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Elephant" pitchFamily="18" charset="0"/>
              </a:rPr>
              <a:t> </a:t>
            </a:r>
            <a:endParaRPr lang="es-ES" sz="60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Elephant" pitchFamily="18" charset="0"/>
            </a:endParaRPr>
          </a:p>
        </p:txBody>
      </p:sp>
      <p:pic>
        <p:nvPicPr>
          <p:cNvPr id="6" name="Picture 6" descr="Imagen relacionada"/>
          <p:cNvPicPr>
            <a:picLocks noChangeAspect="1" noChangeArrowheads="1"/>
          </p:cNvPicPr>
          <p:nvPr/>
        </p:nvPicPr>
        <p:blipFill rotWithShape="1">
          <a:blip r:embed="rId3">
            <a:extLst>
              <a:ext uri="{28A0092B-C50C-407E-A947-70E740481C1C}">
                <a14:useLocalDpi xmlns:a14="http://schemas.microsoft.com/office/drawing/2010/main" val="0"/>
              </a:ext>
            </a:extLst>
          </a:blip>
          <a:srcRect l="9218" t="14801" r="5934" b="12730"/>
          <a:stretch/>
        </p:blipFill>
        <p:spPr bwMode="auto">
          <a:xfrm>
            <a:off x="1826591" y="2244844"/>
            <a:ext cx="1052243" cy="14029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Resultado de imagen para vocal 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217" y="2267292"/>
            <a:ext cx="1152128" cy="10566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n relacionada"/>
          <p:cNvPicPr>
            <a:picLocks noChangeAspect="1" noChangeArrowheads="1"/>
          </p:cNvPicPr>
          <p:nvPr/>
        </p:nvPicPr>
        <p:blipFill rotWithShape="1">
          <a:blip r:embed="rId5">
            <a:extLst>
              <a:ext uri="{28A0092B-C50C-407E-A947-70E740481C1C}">
                <a14:useLocalDpi xmlns:a14="http://schemas.microsoft.com/office/drawing/2010/main" val="0"/>
              </a:ext>
            </a:extLst>
          </a:blip>
          <a:srcRect l="11855" t="3527" r="9671" b="7267"/>
          <a:stretch/>
        </p:blipFill>
        <p:spPr bwMode="auto">
          <a:xfrm>
            <a:off x="3491880" y="3108701"/>
            <a:ext cx="951709" cy="15254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ultado de imagen para vocal e"/>
          <p:cNvPicPr>
            <a:picLocks noChangeAspect="1" noChangeArrowheads="1"/>
          </p:cNvPicPr>
          <p:nvPr/>
        </p:nvPicPr>
        <p:blipFill rotWithShape="1">
          <a:blip r:embed="rId6">
            <a:extLst>
              <a:ext uri="{28A0092B-C50C-407E-A947-70E740481C1C}">
                <a14:useLocalDpi xmlns:a14="http://schemas.microsoft.com/office/drawing/2010/main" val="0"/>
              </a:ext>
            </a:extLst>
          </a:blip>
          <a:srcRect l="36707" t="55531" r="43247" b="26428"/>
          <a:stretch/>
        </p:blipFill>
        <p:spPr bwMode="auto">
          <a:xfrm>
            <a:off x="5364088" y="3323977"/>
            <a:ext cx="859757" cy="1094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776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12564" r="6907" b="12319"/>
          <a:stretch/>
        </p:blipFill>
        <p:spPr bwMode="auto">
          <a:xfrm>
            <a:off x="1373382" y="2852936"/>
            <a:ext cx="3967872" cy="295232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n relacionada"/>
          <p:cNvPicPr>
            <a:picLocks noChangeAspect="1" noChangeArrowheads="1"/>
          </p:cNvPicPr>
          <p:nvPr/>
        </p:nvPicPr>
        <p:blipFill rotWithShape="1">
          <a:blip r:embed="rId3">
            <a:extLst>
              <a:ext uri="{28A0092B-C50C-407E-A947-70E740481C1C}">
                <a14:useLocalDpi xmlns:a14="http://schemas.microsoft.com/office/drawing/2010/main" val="0"/>
              </a:ext>
            </a:extLst>
          </a:blip>
          <a:srcRect l="11855" t="3527" r="9671" b="7267"/>
          <a:stretch/>
        </p:blipFill>
        <p:spPr bwMode="auto">
          <a:xfrm>
            <a:off x="6876254" y="4181432"/>
            <a:ext cx="1195357" cy="19160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n relacionada"/>
          <p:cNvPicPr>
            <a:picLocks noChangeAspect="1" noChangeArrowheads="1"/>
          </p:cNvPicPr>
          <p:nvPr/>
        </p:nvPicPr>
        <p:blipFill rotWithShape="1">
          <a:blip r:embed="rId4">
            <a:extLst>
              <a:ext uri="{28A0092B-C50C-407E-A947-70E740481C1C}">
                <a14:useLocalDpi xmlns:a14="http://schemas.microsoft.com/office/drawing/2010/main" val="0"/>
              </a:ext>
            </a:extLst>
          </a:blip>
          <a:srcRect l="9218" t="14801" r="5934" b="12730"/>
          <a:stretch/>
        </p:blipFill>
        <p:spPr bwMode="auto">
          <a:xfrm>
            <a:off x="3357318" y="1701932"/>
            <a:ext cx="1052243" cy="140299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esultado de imagen para vocal 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368324"/>
            <a:ext cx="1609725" cy="147637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sultado de imagen para articulacion vocal e"/>
          <p:cNvPicPr>
            <a:picLocks noChangeAspect="1" noChangeArrowheads="1"/>
          </p:cNvPicPr>
          <p:nvPr/>
        </p:nvPicPr>
        <p:blipFill rotWithShape="1">
          <a:blip r:embed="rId6">
            <a:extLst>
              <a:ext uri="{28A0092B-C50C-407E-A947-70E740481C1C}">
                <a14:useLocalDpi xmlns:a14="http://schemas.microsoft.com/office/drawing/2010/main" val="0"/>
              </a:ext>
            </a:extLst>
          </a:blip>
          <a:srcRect l="2153" t="14588" r="48907" b="18585"/>
          <a:stretch/>
        </p:blipFill>
        <p:spPr bwMode="auto">
          <a:xfrm>
            <a:off x="5148064" y="1098616"/>
            <a:ext cx="2548167" cy="260962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esultado de imagen para vocal e"/>
          <p:cNvPicPr>
            <a:picLocks noChangeAspect="1" noChangeArrowheads="1"/>
          </p:cNvPicPr>
          <p:nvPr/>
        </p:nvPicPr>
        <p:blipFill rotWithShape="1">
          <a:blip r:embed="rId7">
            <a:extLst>
              <a:ext uri="{28A0092B-C50C-407E-A947-70E740481C1C}">
                <a14:useLocalDpi xmlns:a14="http://schemas.microsoft.com/office/drawing/2010/main" val="0"/>
              </a:ext>
            </a:extLst>
          </a:blip>
          <a:srcRect l="36707" t="55531" r="43247" b="26428"/>
          <a:stretch/>
        </p:blipFill>
        <p:spPr bwMode="auto">
          <a:xfrm>
            <a:off x="5289880" y="4184489"/>
            <a:ext cx="1272657" cy="162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5683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3995936" y="2547180"/>
            <a:ext cx="1584176" cy="253502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Sesión de elefante lindo bebé aislada sobre fondo blanco Cute Baby Elephant, Baby Elephant Nursery, Baby Nursery Diy, Baby Elephants, Cute Cartoon Animals, Baby Animals, Elephant Illustration, Baby Shawer, Digital Sta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042526"/>
            <a:ext cx="1800200" cy="189173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esultado de imagen para dibujo de esquelet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076" y="1740519"/>
            <a:ext cx="1669626" cy="24315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sultado de imagen para dibujo de estrell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8320" y="411118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Resultado de imagen para dibujo de espada"/>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684" r="32633"/>
          <a:stretch/>
        </p:blipFill>
        <p:spPr bwMode="auto">
          <a:xfrm rot="2979435">
            <a:off x="6386304" y="4287986"/>
            <a:ext cx="1187407" cy="1909045"/>
          </a:xfrm>
          <a:prstGeom prst="rect">
            <a:avLst/>
          </a:prstGeom>
          <a:noFill/>
          <a:extLst>
            <a:ext uri="{909E8E84-426E-40DD-AFC4-6F175D3DCCD1}">
              <a14:hiddenFill xmlns:a14="http://schemas.microsoft.com/office/drawing/2010/main">
                <a:solidFill>
                  <a:srgbClr val="FFFFFF"/>
                </a:solidFill>
              </a14:hiddenFill>
            </a:ext>
          </a:extLst>
        </p:spPr>
      </p:pic>
      <p:sp>
        <p:nvSpPr>
          <p:cNvPr id="7" name="6 Rectángulo"/>
          <p:cNvSpPr/>
          <p:nvPr/>
        </p:nvSpPr>
        <p:spPr>
          <a:xfrm>
            <a:off x="725946" y="1128862"/>
            <a:ext cx="7548092" cy="584775"/>
          </a:xfrm>
          <a:prstGeom prst="rect">
            <a:avLst/>
          </a:prstGeom>
          <a:noFill/>
        </p:spPr>
        <p:txBody>
          <a:bodyPr wrap="none" lIns="91440" tIns="45720" rIns="91440" bIns="45720">
            <a:spAutoFit/>
          </a:bodyPr>
          <a:lstStyle/>
          <a:p>
            <a:pPr algn="ctr"/>
            <a:r>
              <a:rPr lang="es-ES" sz="3200" b="1" cap="none" spc="0" dirty="0" smtClean="0">
                <a:ln w="1905"/>
                <a:solidFill>
                  <a:srgbClr val="7030A0"/>
                </a:solidFill>
                <a:effectLst>
                  <a:innerShdw blurRad="69850" dist="43180" dir="5400000">
                    <a:srgbClr val="000000">
                      <a:alpha val="65000"/>
                    </a:srgbClr>
                  </a:innerShdw>
                </a:effectLst>
              </a:rPr>
              <a:t>¿ Qué elementos comienzan con la vocal E?</a:t>
            </a:r>
            <a:endParaRPr lang="es-ES" sz="3200" b="1" cap="none" spc="0" dirty="0">
              <a:ln w="1905"/>
              <a:solidFill>
                <a:srgbClr val="7030A0"/>
              </a:soli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7375048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Resultado de imagen para dibujo de escaler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sp>
        <p:nvSpPr>
          <p:cNvPr id="5" name="AutoShape 4" descr="Resultado de imagen para dibujo de escaler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sp>
        <p:nvSpPr>
          <p:cNvPr id="6" name="AutoShape 6" descr="Resultado de imagen para dibujo de escaler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sp>
        <p:nvSpPr>
          <p:cNvPr id="7" name="AutoShape 8" descr="Resultado de imagen para dibujo de escaler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pic>
        <p:nvPicPr>
          <p:cNvPr id="5130" name="Picture 10" descr="Resultado de imagen para dibujo de escalera"/>
          <p:cNvPicPr>
            <a:picLocks noChangeAspect="1" noChangeArrowheads="1"/>
          </p:cNvPicPr>
          <p:nvPr/>
        </p:nvPicPr>
        <p:blipFill rotWithShape="1">
          <a:blip r:embed="rId2">
            <a:extLst>
              <a:ext uri="{28A0092B-C50C-407E-A947-70E740481C1C}">
                <a14:useLocalDpi xmlns:a14="http://schemas.microsoft.com/office/drawing/2010/main" val="0"/>
              </a:ext>
            </a:extLst>
          </a:blip>
          <a:srcRect b="10044"/>
          <a:stretch/>
        </p:blipFill>
        <p:spPr bwMode="auto">
          <a:xfrm>
            <a:off x="1259632" y="3729073"/>
            <a:ext cx="2592288" cy="2200672"/>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Resultado de imagen para dibujo de eriz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127691"/>
            <a:ext cx="3003095" cy="21209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n relacionada"/>
          <p:cNvPicPr>
            <a:picLocks noChangeAspect="1" noChangeArrowheads="1"/>
          </p:cNvPicPr>
          <p:nvPr/>
        </p:nvPicPr>
        <p:blipFill rotWithShape="1">
          <a:blip r:embed="rId4">
            <a:extLst>
              <a:ext uri="{28A0092B-C50C-407E-A947-70E740481C1C}">
                <a14:useLocalDpi xmlns:a14="http://schemas.microsoft.com/office/drawing/2010/main" val="0"/>
              </a:ext>
            </a:extLst>
          </a:blip>
          <a:srcRect l="9243" t="33038" r="62395" b="12319"/>
          <a:stretch/>
        </p:blipFill>
        <p:spPr bwMode="auto">
          <a:xfrm>
            <a:off x="3851920" y="2847467"/>
            <a:ext cx="1224184" cy="1958959"/>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Resultado de imagen para dibujo de enfermer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12160" y="3488850"/>
            <a:ext cx="1980921" cy="2681118"/>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Resultado de imagen para dibujo de espinaca"/>
          <p:cNvPicPr>
            <a:picLocks noChangeAspect="1" noChangeArrowheads="1"/>
          </p:cNvPicPr>
          <p:nvPr/>
        </p:nvPicPr>
        <p:blipFill rotWithShape="1">
          <a:blip r:embed="rId6">
            <a:extLst>
              <a:ext uri="{28A0092B-C50C-407E-A947-70E740481C1C}">
                <a14:useLocalDpi xmlns:a14="http://schemas.microsoft.com/office/drawing/2010/main" val="0"/>
              </a:ext>
            </a:extLst>
          </a:blip>
          <a:srcRect l="22223" t="5709" r="30504" b="5780"/>
          <a:stretch/>
        </p:blipFill>
        <p:spPr bwMode="auto">
          <a:xfrm>
            <a:off x="1547664" y="1016350"/>
            <a:ext cx="1597922" cy="2343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3476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777" y="1700808"/>
            <a:ext cx="2258194" cy="186885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Resultado de imagen para dibujo de escue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pic>
        <p:nvPicPr>
          <p:cNvPr id="6150" name="Picture 6" descr="Resultado de imagen para dibujo de escue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365104"/>
            <a:ext cx="2784382" cy="1424122"/>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Resultado de imagen para dibujo de espej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702" y="1745241"/>
            <a:ext cx="1800200" cy="213497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n relacionada"/>
          <p:cNvPicPr>
            <a:picLocks noChangeAspect="1" noChangeArrowheads="1"/>
          </p:cNvPicPr>
          <p:nvPr/>
        </p:nvPicPr>
        <p:blipFill rotWithShape="1">
          <a:blip r:embed="rId5">
            <a:extLst>
              <a:ext uri="{28A0092B-C50C-407E-A947-70E740481C1C}">
                <a14:useLocalDpi xmlns:a14="http://schemas.microsoft.com/office/drawing/2010/main" val="0"/>
              </a:ext>
            </a:extLst>
          </a:blip>
          <a:srcRect l="9243" t="33038" r="62395" b="12319"/>
          <a:stretch/>
        </p:blipFill>
        <p:spPr bwMode="auto">
          <a:xfrm>
            <a:off x="4283968" y="2839438"/>
            <a:ext cx="1368152" cy="2189338"/>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Imagen relacionada"/>
          <p:cNvPicPr>
            <a:picLocks noChangeAspect="1" noChangeArrowheads="1"/>
          </p:cNvPicPr>
          <p:nvPr/>
        </p:nvPicPr>
        <p:blipFill rotWithShape="1">
          <a:blip r:embed="rId6">
            <a:extLst>
              <a:ext uri="{28A0092B-C50C-407E-A947-70E740481C1C}">
                <a14:useLocalDpi xmlns:a14="http://schemas.microsoft.com/office/drawing/2010/main" val="0"/>
              </a:ext>
            </a:extLst>
          </a:blip>
          <a:srcRect l="23671" t="11484" r="21539" b="14508"/>
          <a:stretch/>
        </p:blipFill>
        <p:spPr bwMode="auto">
          <a:xfrm>
            <a:off x="6588224" y="4370125"/>
            <a:ext cx="1296678" cy="1767196"/>
          </a:xfrm>
          <a:prstGeom prst="rect">
            <a:avLst/>
          </a:prstGeom>
          <a:noFill/>
          <a:extLst>
            <a:ext uri="{909E8E84-426E-40DD-AFC4-6F175D3DCCD1}">
              <a14:hiddenFill xmlns:a14="http://schemas.microsoft.com/office/drawing/2010/main">
                <a:solidFill>
                  <a:srgbClr val="FFFFFF"/>
                </a:solidFill>
              </a14:hiddenFill>
            </a:ext>
          </a:extLst>
        </p:spPr>
      </p:pic>
      <p:sp>
        <p:nvSpPr>
          <p:cNvPr id="11" name="10 Rectángulo"/>
          <p:cNvSpPr/>
          <p:nvPr/>
        </p:nvSpPr>
        <p:spPr>
          <a:xfrm>
            <a:off x="827584" y="1128862"/>
            <a:ext cx="7548092" cy="584775"/>
          </a:xfrm>
          <a:prstGeom prst="rect">
            <a:avLst/>
          </a:prstGeom>
          <a:noFill/>
        </p:spPr>
        <p:txBody>
          <a:bodyPr wrap="none" lIns="91440" tIns="45720" rIns="91440" bIns="45720">
            <a:spAutoFit/>
          </a:bodyPr>
          <a:lstStyle/>
          <a:p>
            <a:pPr algn="ctr"/>
            <a:r>
              <a:rPr lang="es-ES" sz="3200" b="1" cap="none" spc="0" dirty="0" smtClean="0">
                <a:ln w="1905"/>
                <a:solidFill>
                  <a:srgbClr val="7030A0"/>
                </a:solidFill>
                <a:effectLst>
                  <a:innerShdw blurRad="69850" dist="43180" dir="5400000">
                    <a:srgbClr val="000000">
                      <a:alpha val="65000"/>
                    </a:srgbClr>
                  </a:innerShdw>
                </a:effectLst>
              </a:rPr>
              <a:t>¿Qué elementos comienzan con la vocal E?</a:t>
            </a:r>
            <a:endParaRPr lang="es-ES" sz="3200" b="1" cap="none" spc="0" dirty="0">
              <a:ln w="1905"/>
              <a:solidFill>
                <a:srgbClr val="7030A0"/>
              </a:soli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1338838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777" y="1700808"/>
            <a:ext cx="2258194" cy="18688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esión de elefante lindo bebé aislada sobre fondo blanco Cute Baby Elephant, Baby Elephant Nursery, Baby Nursery Diy, Baby Elephants, Cute Cartoon Animals, Baby Animals, Elephant Illustration, Baby Shawer, Digital Sta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774" y="4005064"/>
            <a:ext cx="1800200" cy="18917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descr="Resultado de imagen para dibujo de enfermer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2160" y="3481856"/>
            <a:ext cx="1980921" cy="2681118"/>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2" descr="Resultado de imagen para dibujo de arbo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dirty="0"/>
          </a:p>
        </p:txBody>
      </p:sp>
      <p:pic>
        <p:nvPicPr>
          <p:cNvPr id="7172" name="Picture 4" descr="Resultado de imagen para dibujo de arbol"/>
          <p:cNvPicPr>
            <a:picLocks noChangeAspect="1" noChangeArrowheads="1"/>
          </p:cNvPicPr>
          <p:nvPr/>
        </p:nvPicPr>
        <p:blipFill rotWithShape="1">
          <a:blip r:embed="rId5">
            <a:extLst>
              <a:ext uri="{28A0092B-C50C-407E-A947-70E740481C1C}">
                <a14:useLocalDpi xmlns:a14="http://schemas.microsoft.com/office/drawing/2010/main" val="0"/>
              </a:ext>
            </a:extLst>
          </a:blip>
          <a:srcRect t="8085" b="9490"/>
          <a:stretch/>
        </p:blipFill>
        <p:spPr bwMode="auto">
          <a:xfrm>
            <a:off x="3551090" y="4228426"/>
            <a:ext cx="2244085" cy="184967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Resultado de imagen para dibujo de enan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57962" y="1881567"/>
            <a:ext cx="2337608" cy="245352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Resultado de imagen para dibujo de arcoiri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54857" y="1913112"/>
            <a:ext cx="2295525" cy="1571626"/>
          </a:xfrm>
          <a:prstGeom prst="rect">
            <a:avLst/>
          </a:prstGeom>
          <a:noFill/>
          <a:extLst>
            <a:ext uri="{909E8E84-426E-40DD-AFC4-6F175D3DCCD1}">
              <a14:hiddenFill xmlns:a14="http://schemas.microsoft.com/office/drawing/2010/main">
                <a:solidFill>
                  <a:srgbClr val="FFFFFF"/>
                </a:solidFill>
              </a14:hiddenFill>
            </a:ext>
          </a:extLst>
        </p:spPr>
      </p:pic>
      <p:sp>
        <p:nvSpPr>
          <p:cNvPr id="8" name="7 CuadroTexto"/>
          <p:cNvSpPr txBox="1"/>
          <p:nvPr/>
        </p:nvSpPr>
        <p:spPr>
          <a:xfrm>
            <a:off x="827584" y="1230407"/>
            <a:ext cx="742594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L" dirty="0" smtClean="0">
                <a:latin typeface="Arial" pitchFamily="34" charset="0"/>
                <a:cs typeface="Arial" pitchFamily="34" charset="0"/>
              </a:rPr>
              <a:t>Actividad: Encierra todos los elementos que comience con la vocal E</a:t>
            </a:r>
            <a:endParaRPr lang="es-CL" dirty="0">
              <a:latin typeface="Arial" pitchFamily="34" charset="0"/>
              <a:cs typeface="Arial" pitchFamily="34" charset="0"/>
            </a:endParaRPr>
          </a:p>
        </p:txBody>
      </p:sp>
    </p:spTree>
    <p:extLst>
      <p:ext uri="{BB962C8B-B14F-4D97-AF65-F5344CB8AC3E}">
        <p14:creationId xmlns:p14="http://schemas.microsoft.com/office/powerpoint/2010/main" val="3345557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Resultado de imagen para actividad con vocal 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sp>
        <p:nvSpPr>
          <p:cNvPr id="5" name="AutoShape 4" descr="Resultado de imagen para actividad con vocal 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pic>
        <p:nvPicPr>
          <p:cNvPr id="7"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1231834" y="2486969"/>
            <a:ext cx="684076" cy="10946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1232841" y="3993744"/>
            <a:ext cx="792088" cy="12675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7574262" y="4791857"/>
            <a:ext cx="684076" cy="1094669"/>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Resultado de imagen para vocal 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4218472"/>
            <a:ext cx="1352376" cy="1652164"/>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Resultado de imagen para vocal 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8822" y="2640538"/>
            <a:ext cx="1141487" cy="1394526"/>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descr="Resultado de imagen para vocal 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391" y="4670704"/>
            <a:ext cx="966788" cy="1181101"/>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Resultado de imagen para vocal 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954" y="1762715"/>
            <a:ext cx="1800225" cy="2543175"/>
          </a:xfrm>
          <a:prstGeom prst="rect">
            <a:avLst/>
          </a:prstGeom>
          <a:noFill/>
          <a:extLst>
            <a:ext uri="{909E8E84-426E-40DD-AFC4-6F175D3DCCD1}">
              <a14:hiddenFill xmlns:a14="http://schemas.microsoft.com/office/drawing/2010/main">
                <a:solidFill>
                  <a:srgbClr val="FFFFFF"/>
                </a:solidFill>
              </a14:hiddenFill>
            </a:ext>
          </a:extLst>
        </p:spPr>
      </p:pic>
      <p:pic>
        <p:nvPicPr>
          <p:cNvPr id="8208" name="Picture 16" descr="Resultado de imagen para vocal 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1331" y="1599739"/>
            <a:ext cx="1204054" cy="170096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6427543" y="4722718"/>
            <a:ext cx="684076" cy="1094669"/>
          </a:xfrm>
          <a:prstGeom prst="rect">
            <a:avLst/>
          </a:prstGeom>
          <a:noFill/>
          <a:extLst>
            <a:ext uri="{909E8E84-426E-40DD-AFC4-6F175D3DCCD1}">
              <a14:hiddenFill xmlns:a14="http://schemas.microsoft.com/office/drawing/2010/main">
                <a:solidFill>
                  <a:srgbClr val="FFFFFF"/>
                </a:solidFill>
              </a14:hiddenFill>
            </a:ext>
          </a:extLst>
        </p:spPr>
      </p:pic>
      <p:sp>
        <p:nvSpPr>
          <p:cNvPr id="23" name="22 CuadroTexto"/>
          <p:cNvSpPr txBox="1"/>
          <p:nvPr/>
        </p:nvSpPr>
        <p:spPr>
          <a:xfrm>
            <a:off x="827584" y="1230407"/>
            <a:ext cx="742594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L" dirty="0" smtClean="0">
                <a:latin typeface="Arial" pitchFamily="34" charset="0"/>
                <a:cs typeface="Arial" pitchFamily="34" charset="0"/>
              </a:rPr>
              <a:t>Actividad: Encierra todos las vocales E.</a:t>
            </a:r>
            <a:endParaRPr lang="es-CL" dirty="0">
              <a:latin typeface="Arial" pitchFamily="34" charset="0"/>
              <a:cs typeface="Arial" pitchFamily="34" charset="0"/>
            </a:endParaRPr>
          </a:p>
        </p:txBody>
      </p:sp>
      <p:pic>
        <p:nvPicPr>
          <p:cNvPr id="24"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4198520" y="2786826"/>
            <a:ext cx="684076" cy="109466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5895867" y="3469862"/>
            <a:ext cx="684076" cy="109466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descr="Resultado de imagen para vocal 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5798" y="5377449"/>
            <a:ext cx="720221" cy="87987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4" descr="Resultado de imagen para vocal 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1226" y="4218472"/>
            <a:ext cx="1007992" cy="142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3761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1249671" y="2270122"/>
            <a:ext cx="1179926" cy="18881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4391979" y="2270122"/>
            <a:ext cx="936104" cy="17353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rot="10800000">
            <a:off x="5831680" y="2459774"/>
            <a:ext cx="972568" cy="15563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7105775" y="2507503"/>
            <a:ext cx="995660" cy="15932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1219405" y="4340119"/>
            <a:ext cx="1089916" cy="17441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5831679" y="4340119"/>
            <a:ext cx="864096" cy="13827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2578227" y="4404384"/>
            <a:ext cx="1009596" cy="161557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a:off x="7219752" y="4509120"/>
            <a:ext cx="881684" cy="141088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rot="10800000">
            <a:off x="2843807" y="2160303"/>
            <a:ext cx="1212630" cy="194046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43" t="33038" r="62395" b="12319"/>
          <a:stretch/>
        </p:blipFill>
        <p:spPr bwMode="auto">
          <a:xfrm rot="10800000">
            <a:off x="4288160" y="4226961"/>
            <a:ext cx="1143744" cy="1830236"/>
          </a:xfrm>
          <a:prstGeom prst="rect">
            <a:avLst/>
          </a:prstGeom>
          <a:noFill/>
          <a:extLst>
            <a:ext uri="{909E8E84-426E-40DD-AFC4-6F175D3DCCD1}">
              <a14:hiddenFill xmlns:a14="http://schemas.microsoft.com/office/drawing/2010/main">
                <a:solidFill>
                  <a:srgbClr val="FFFFFF"/>
                </a:solidFill>
              </a14:hiddenFill>
            </a:ext>
          </a:extLst>
        </p:spPr>
      </p:pic>
      <p:sp>
        <p:nvSpPr>
          <p:cNvPr id="14" name="13 CuadroTexto"/>
          <p:cNvSpPr txBox="1"/>
          <p:nvPr/>
        </p:nvSpPr>
        <p:spPr>
          <a:xfrm>
            <a:off x="827584" y="1230407"/>
            <a:ext cx="677602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L" dirty="0" smtClean="0">
                <a:latin typeface="Arial" pitchFamily="34" charset="0"/>
                <a:cs typeface="Arial" pitchFamily="34" charset="0"/>
              </a:rPr>
              <a:t>Actividad: Marca con una (x) todas las E en la posición correcta.  </a:t>
            </a:r>
            <a:endParaRPr lang="es-CL" dirty="0">
              <a:latin typeface="Arial" pitchFamily="34" charset="0"/>
              <a:cs typeface="Arial" pitchFamily="34" charset="0"/>
            </a:endParaRPr>
          </a:p>
        </p:txBody>
      </p:sp>
    </p:spTree>
    <p:extLst>
      <p:ext uri="{BB962C8B-B14F-4D97-AF65-F5344CB8AC3E}">
        <p14:creationId xmlns:p14="http://schemas.microsoft.com/office/powerpoint/2010/main" val="41739163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Resultado de imagen para articulacion vocal e"/>
          <p:cNvPicPr>
            <a:picLocks noChangeAspect="1" noChangeArrowheads="1"/>
          </p:cNvPicPr>
          <p:nvPr/>
        </p:nvPicPr>
        <p:blipFill rotWithShape="1">
          <a:blip r:embed="rId2">
            <a:extLst>
              <a:ext uri="{28A0092B-C50C-407E-A947-70E740481C1C}">
                <a14:useLocalDpi xmlns:a14="http://schemas.microsoft.com/office/drawing/2010/main" val="0"/>
              </a:ext>
            </a:extLst>
          </a:blip>
          <a:srcRect l="7695" t="18942" r="54520" b="24293"/>
          <a:stretch/>
        </p:blipFill>
        <p:spPr bwMode="auto">
          <a:xfrm>
            <a:off x="6012160" y="2060848"/>
            <a:ext cx="1967346" cy="2216727"/>
          </a:xfrm>
          <a:prstGeom prst="rect">
            <a:avLst/>
          </a:prstGeom>
          <a:noFill/>
          <a:extLst>
            <a:ext uri="{909E8E84-426E-40DD-AFC4-6F175D3DCCD1}">
              <a14:hiddenFill xmlns:a14="http://schemas.microsoft.com/office/drawing/2010/main">
                <a:solidFill>
                  <a:srgbClr val="FFFFFF"/>
                </a:solidFill>
              </a14:hiddenFill>
            </a:ext>
          </a:extLst>
        </p:spPr>
      </p:pic>
      <p:sp>
        <p:nvSpPr>
          <p:cNvPr id="6" name="5 CuadroTexto"/>
          <p:cNvSpPr txBox="1"/>
          <p:nvPr/>
        </p:nvSpPr>
        <p:spPr>
          <a:xfrm>
            <a:off x="851489" y="1045741"/>
            <a:ext cx="677602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L" dirty="0" smtClean="0">
                <a:latin typeface="Arial" pitchFamily="34" charset="0"/>
                <a:cs typeface="Arial" pitchFamily="34" charset="0"/>
              </a:rPr>
              <a:t>Actividad: Dibuja MUCHAS E al interior de la estrella. </a:t>
            </a:r>
            <a:endParaRPr lang="es-CL" dirty="0">
              <a:latin typeface="Arial" pitchFamily="34" charset="0"/>
              <a:cs typeface="Arial" pitchFamily="34" charset="0"/>
            </a:endParaRPr>
          </a:p>
        </p:txBody>
      </p:sp>
      <p:sp>
        <p:nvSpPr>
          <p:cNvPr id="8" name="7 Estrella de 7 puntas"/>
          <p:cNvSpPr/>
          <p:nvPr/>
        </p:nvSpPr>
        <p:spPr>
          <a:xfrm>
            <a:off x="1043608" y="1628800"/>
            <a:ext cx="5328592" cy="4320480"/>
          </a:xfrm>
          <a:prstGeom prst="star7">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endParaRPr lang="es-CL"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17536054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Resultado de imagen para caminos de grafomotricidad"/>
          <p:cNvPicPr>
            <a:picLocks noChangeAspect="1" noChangeArrowheads="1"/>
          </p:cNvPicPr>
          <p:nvPr/>
        </p:nvPicPr>
        <p:blipFill rotWithShape="1">
          <a:blip r:embed="rId2">
            <a:extLst>
              <a:ext uri="{28A0092B-C50C-407E-A947-70E740481C1C}">
                <a14:useLocalDpi xmlns:a14="http://schemas.microsoft.com/office/drawing/2010/main" val="0"/>
              </a:ext>
            </a:extLst>
          </a:blip>
          <a:srcRect l="20182" t="24728" r="17115" b="26220"/>
          <a:stretch/>
        </p:blipFill>
        <p:spPr bwMode="auto">
          <a:xfrm>
            <a:off x="1923520" y="2636912"/>
            <a:ext cx="5639101" cy="30581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Imagen relacionada"/>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218" t="14801" r="5934" b="12730"/>
          <a:stretch/>
        </p:blipFill>
        <p:spPr bwMode="auto">
          <a:xfrm>
            <a:off x="7628632" y="2996952"/>
            <a:ext cx="594066" cy="7920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magen relacionada"/>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218" t="14801" r="5934" b="12730"/>
          <a:stretch/>
        </p:blipFill>
        <p:spPr bwMode="auto">
          <a:xfrm>
            <a:off x="7686085" y="4725144"/>
            <a:ext cx="526122" cy="701496"/>
          </a:xfrm>
          <a:prstGeom prst="rect">
            <a:avLst/>
          </a:prstGeom>
          <a:noFill/>
          <a:extLst>
            <a:ext uri="{909E8E84-426E-40DD-AFC4-6F175D3DCCD1}">
              <a14:hiddenFill xmlns:a14="http://schemas.microsoft.com/office/drawing/2010/main">
                <a:solidFill>
                  <a:srgbClr val="FFFFFF"/>
                </a:solidFill>
              </a14:hiddenFill>
            </a:ext>
          </a:extLst>
        </p:spPr>
      </p:pic>
      <p:sp>
        <p:nvSpPr>
          <p:cNvPr id="7" name="6 CuadroTexto"/>
          <p:cNvSpPr txBox="1"/>
          <p:nvPr/>
        </p:nvSpPr>
        <p:spPr>
          <a:xfrm>
            <a:off x="851489" y="1045741"/>
            <a:ext cx="677602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L" dirty="0" smtClean="0">
                <a:latin typeface="Arial" pitchFamily="34" charset="0"/>
                <a:cs typeface="Arial" pitchFamily="34" charset="0"/>
              </a:rPr>
              <a:t>Actividad: Une cada  animalito con la vocal E.  Al unir di la vocal durante el trayecto. </a:t>
            </a:r>
            <a:endParaRPr lang="es-CL" dirty="0">
              <a:latin typeface="Arial" pitchFamily="34" charset="0"/>
              <a:cs typeface="Arial" pitchFamily="34" charset="0"/>
            </a:endParaRPr>
          </a:p>
        </p:txBody>
      </p:sp>
      <p:pic>
        <p:nvPicPr>
          <p:cNvPr id="8" name="Picture 2" descr="Sesión de elefante lindo bebé aislada sobre fondo blanco Cute Baby Elephant, Baby Elephant Nursery, Baby Nursery Diy, Baby Elephants, Cute Cartoon Animals, Baby Animals, Elephant Illustration, Baby Shawer, Digital Stamp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2855" y="2873927"/>
            <a:ext cx="870833" cy="9151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Resultado de imagen para dibujo de eriz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3458" y="4509120"/>
            <a:ext cx="1070062" cy="755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4464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48394" y="949855"/>
            <a:ext cx="7232493" cy="646331"/>
          </a:xfrm>
          <a:prstGeom prst="rect">
            <a:avLst/>
          </a:prstGeom>
          <a:noFill/>
        </p:spPr>
        <p:txBody>
          <a:bodyPr wrap="none" lIns="91440" tIns="45720" rIns="91440" bIns="45720">
            <a:spAutoFit/>
          </a:bodyPr>
          <a:lstStyle/>
          <a:p>
            <a:pPr algn="ctr"/>
            <a:r>
              <a:rPr lang="es-ES" sz="3600" cap="none" spc="0" dirty="0" smtClean="0">
                <a:ln w="10541" cmpd="sng">
                  <a:solidFill>
                    <a:schemeClr val="accent1">
                      <a:shade val="88000"/>
                      <a:satMod val="110000"/>
                    </a:schemeClr>
                  </a:solidFill>
                  <a:prstDash val="solid"/>
                </a:ln>
                <a:solidFill>
                  <a:srgbClr val="7030A0"/>
                </a:solidFill>
                <a:effectLst/>
              </a:rPr>
              <a:t>Recordando elementos con la vocal E </a:t>
            </a:r>
            <a:endParaRPr lang="es-ES" sz="3600" cap="none" spc="0" dirty="0">
              <a:ln w="10541" cmpd="sng">
                <a:solidFill>
                  <a:schemeClr val="accent1">
                    <a:shade val="88000"/>
                    <a:satMod val="110000"/>
                  </a:schemeClr>
                </a:solidFill>
                <a:prstDash val="solid"/>
              </a:ln>
              <a:solidFill>
                <a:srgbClr val="7030A0"/>
              </a:solidFill>
              <a:effectLst/>
            </a:endParaRPr>
          </a:p>
        </p:txBody>
      </p:sp>
      <p:pic>
        <p:nvPicPr>
          <p:cNvPr id="11268" name="Picture 4" descr="Resultado de imagen para signo pregun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772816"/>
            <a:ext cx="3744416" cy="4175266"/>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Resultado de imagen para signo pregun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2137312"/>
            <a:ext cx="2520805" cy="2520806"/>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Imagen relaciona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4485994"/>
            <a:ext cx="781050" cy="1462088"/>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Imagen relaciona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2821" y="3725426"/>
            <a:ext cx="1182613" cy="2213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5791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Elipse"/>
          <p:cNvSpPr/>
          <p:nvPr/>
        </p:nvSpPr>
        <p:spPr>
          <a:xfrm>
            <a:off x="993896" y="4005064"/>
            <a:ext cx="2396302" cy="2081603"/>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s-CL"/>
          </a:p>
        </p:txBody>
      </p:sp>
      <p:sp>
        <p:nvSpPr>
          <p:cNvPr id="6" name="5 Elipse"/>
          <p:cNvSpPr/>
          <p:nvPr/>
        </p:nvSpPr>
        <p:spPr>
          <a:xfrm>
            <a:off x="3635896" y="3831646"/>
            <a:ext cx="2232248" cy="2203648"/>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7" name="6 Elipse"/>
          <p:cNvSpPr/>
          <p:nvPr/>
        </p:nvSpPr>
        <p:spPr>
          <a:xfrm>
            <a:off x="6228184" y="4005064"/>
            <a:ext cx="2160240" cy="2168624"/>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pic>
        <p:nvPicPr>
          <p:cNvPr id="8" name="Picture 6"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18" t="14801" r="5934" b="12730"/>
          <a:stretch/>
        </p:blipFill>
        <p:spPr bwMode="auto">
          <a:xfrm>
            <a:off x="1781894" y="2856148"/>
            <a:ext cx="756084" cy="10081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18" t="14801" r="5934" b="12730"/>
          <a:stretch/>
        </p:blipFill>
        <p:spPr bwMode="auto">
          <a:xfrm>
            <a:off x="4427984" y="2583489"/>
            <a:ext cx="836219" cy="11149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9218" t="14801" r="5934" b="12730"/>
          <a:stretch/>
        </p:blipFill>
        <p:spPr bwMode="auto">
          <a:xfrm>
            <a:off x="7002270" y="2856148"/>
            <a:ext cx="756084" cy="1008112"/>
          </a:xfrm>
          <a:prstGeom prst="rect">
            <a:avLst/>
          </a:prstGeom>
          <a:noFill/>
          <a:extLst>
            <a:ext uri="{909E8E84-426E-40DD-AFC4-6F175D3DCCD1}">
              <a14:hiddenFill xmlns:a14="http://schemas.microsoft.com/office/drawing/2010/main">
                <a:solidFill>
                  <a:srgbClr val="FFFFFF"/>
                </a:solidFill>
              </a14:hiddenFill>
            </a:ext>
          </a:extLst>
        </p:spPr>
      </p:pic>
      <p:sp>
        <p:nvSpPr>
          <p:cNvPr id="12" name="11 Rectángulo"/>
          <p:cNvSpPr/>
          <p:nvPr/>
        </p:nvSpPr>
        <p:spPr>
          <a:xfrm>
            <a:off x="760953" y="1101889"/>
            <a:ext cx="3554050" cy="923330"/>
          </a:xfrm>
          <a:prstGeom prst="rect">
            <a:avLst/>
          </a:prstGeom>
          <a:noFill/>
        </p:spPr>
        <p:txBody>
          <a:bodyPr wrap="none" lIns="91440" tIns="45720" rIns="91440" bIns="45720">
            <a:spAutoFit/>
          </a:bodyPr>
          <a:lstStyle/>
          <a:p>
            <a:pPr algn="ctr"/>
            <a:r>
              <a:rPr lang="es-E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Actividad:</a:t>
            </a:r>
            <a:endParaRPr lang="es-E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6" name="15 CuadroTexto"/>
          <p:cNvSpPr txBox="1"/>
          <p:nvPr/>
        </p:nvSpPr>
        <p:spPr>
          <a:xfrm>
            <a:off x="863588" y="2209885"/>
            <a:ext cx="7128792" cy="369332"/>
          </a:xfrm>
          <a:prstGeom prst="rect">
            <a:avLst/>
          </a:prstGeom>
          <a:noFill/>
        </p:spPr>
        <p:txBody>
          <a:bodyPr wrap="square" rtlCol="0">
            <a:spAutoFit/>
          </a:bodyPr>
          <a:lstStyle/>
          <a:p>
            <a:r>
              <a:rPr lang="es-CL" dirty="0" smtClean="0"/>
              <a:t>Dibuja  en el espacio asignado  elementos que comiencen con la vocal E</a:t>
            </a:r>
            <a:endParaRPr lang="es-CL" dirty="0"/>
          </a:p>
        </p:txBody>
      </p:sp>
    </p:spTree>
    <p:extLst>
      <p:ext uri="{BB962C8B-B14F-4D97-AF65-F5344CB8AC3E}">
        <p14:creationId xmlns:p14="http://schemas.microsoft.com/office/powerpoint/2010/main" val="410955482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471</TotalTime>
  <Words>110</Words>
  <Application>Microsoft Office PowerPoint</Application>
  <PresentationFormat>Presentación en pantalla (4:3)</PresentationFormat>
  <Paragraphs>13</Paragraphs>
  <Slides>12</Slides>
  <Notes>0</Notes>
  <HiddenSlides>0</HiddenSlides>
  <MMClips>0</MMClips>
  <ScaleCrop>false</ScaleCrop>
  <HeadingPairs>
    <vt:vector size="4" baseType="variant">
      <vt:variant>
        <vt:lpstr>Tema</vt:lpstr>
      </vt:variant>
      <vt:variant>
        <vt:i4>1</vt:i4>
      </vt:variant>
      <vt:variant>
        <vt:lpstr>Títulos de diapositiva</vt:lpstr>
      </vt:variant>
      <vt:variant>
        <vt:i4>12</vt:i4>
      </vt:variant>
    </vt:vector>
  </HeadingPairs>
  <TitlesOfParts>
    <vt:vector size="13"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Manuel Alvarado</dc:creator>
  <cp:lastModifiedBy>Manuel Alvarado</cp:lastModifiedBy>
  <cp:revision>24</cp:revision>
  <dcterms:created xsi:type="dcterms:W3CDTF">2019-12-19T14:53:26Z</dcterms:created>
  <dcterms:modified xsi:type="dcterms:W3CDTF">2019-12-26T16:46:56Z</dcterms:modified>
</cp:coreProperties>
</file>