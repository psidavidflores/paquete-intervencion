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9"/>
  </p:notesMasterIdLst>
  <p:sldIdLst>
    <p:sldId id="272" r:id="rId5"/>
    <p:sldId id="348" r:id="rId6"/>
    <p:sldId id="346" r:id="rId7"/>
    <p:sldId id="347" r:id="rId8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00"/>
    <a:srgbClr val="FFCC00"/>
    <a:srgbClr val="EDEDF9"/>
    <a:srgbClr val="FFCC99"/>
    <a:srgbClr val="FFFFCC"/>
    <a:srgbClr val="FFFFFF"/>
    <a:srgbClr val="99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8" autoAdjust="0"/>
    <p:restoredTop sz="95560" autoAdjust="0"/>
  </p:normalViewPr>
  <p:slideViewPr>
    <p:cSldViewPr>
      <p:cViewPr>
        <p:scale>
          <a:sx n="77" d="100"/>
          <a:sy n="77" d="100"/>
        </p:scale>
        <p:origin x="-31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3D733CC-0B09-4B44-9A7B-42FEE8DB9C35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  <a:endParaRPr lang="es-ES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27DB28C-FF61-425B-8D88-2630614E0B3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78013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smtClean="0"/>
              <a:t>Estimado Docente:</a:t>
            </a:r>
          </a:p>
          <a:p>
            <a:endParaRPr lang="es-CL" dirty="0" smtClean="0"/>
          </a:p>
          <a:p>
            <a:r>
              <a:rPr lang="es-CL" dirty="0" smtClean="0"/>
              <a:t>Esta</a:t>
            </a:r>
            <a:r>
              <a:rPr lang="es-CL" baseline="0" dirty="0" smtClean="0"/>
              <a:t> presentación tiene por objetivo ayudarle a cumplir con lo establecido en el artículo 19 del Reglamento Académico:</a:t>
            </a:r>
          </a:p>
          <a:p>
            <a:endParaRPr lang="es-CL" baseline="0" dirty="0" smtClean="0"/>
          </a:p>
          <a:p>
            <a:r>
              <a:rPr lang="es-CL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“Durante la primera semana del respectivo período académico el docente de la asignatura deberá difundir a los alumnos el perfil de egreso de la carrera, el programa de la asignatura y estipular claramente sus objetivos, sistema de evaluación, requisitos de asistencia y cualquier otra condición requerida para el normal desarrollo y aprobación de la misma”.</a:t>
            </a:r>
          </a:p>
          <a:p>
            <a:endParaRPr lang="es-CL" dirty="0" smtClean="0"/>
          </a:p>
          <a:p>
            <a:r>
              <a:rPr lang="es-CL" dirty="0" smtClean="0"/>
              <a:t>Independiente</a:t>
            </a:r>
            <a:r>
              <a:rPr lang="es-CL" baseline="0" dirty="0" smtClean="0"/>
              <a:t> de lo establecido acá como mínimos a compartir con los estudiantes, podrá usted agregar otros aspectos relevantes de la asignatura que comienza.</a:t>
            </a:r>
            <a:endParaRPr lang="es-CL" dirty="0" smtClean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7DB28C-FF61-425B-8D88-2630614E0B3E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7461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E115A-A7DC-4173-BF2E-F6FCD685407B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7253E-CADD-405B-B5F1-7D56A6A467B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8575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647338-0E01-460B-8BFD-B463FD823ED1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73CF-244B-4970-93BE-793A860F8B3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0060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5F5679-96B4-412C-ADD0-A7617BCAC0A2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FACD8-A122-4603-B126-F6DEE846E68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34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1E57C-336E-4CB1-89BC-E4F12BAC2575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12D63-1319-4C3F-8340-1393C3B533E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348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E7ACF1-513A-49E9-93B1-96767179B1BE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EC4DB-5955-4024-838E-2362585860F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8429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05737-06ED-43DC-A171-C5F7E69F2FC1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4F3435-4A8F-4B89-A398-0ABC89C00F3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6709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C5AD19-F5FF-494F-9915-2D030AC4F6FC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15E7A-5BD7-46F3-AD4A-654330234BA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11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A8834-6B91-460A-AC1D-CAC96B48590B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B863F8-0684-4647-B369-1A1CC342905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451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4DEF9-92DA-4E1A-8365-AC6AC2D32101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A50E5-7C84-42E2-B3A6-9E3969A9F94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417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543F9-611D-4B21-BA1A-1037D81C2FFC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0B89C-B93C-4D57-BF81-65D8FA37BE7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5694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5A68D-35C7-4DF7-8071-18E403523A68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24FCE-B138-4176-A383-ED8AD11D4A8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827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smtClean="0"/>
              <a:t>Haga clic para modificar el estilo de título del patrón</a:t>
            </a:r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smtClean="0"/>
              <a:t>Haga clic para modificar el estilo de texto del patrón</a:t>
            </a:r>
          </a:p>
          <a:p>
            <a:pPr lvl="1"/>
            <a:r>
              <a:rPr lang="es-ES" altLang="es-ES" smtClean="0"/>
              <a:t>Segundo nivel</a:t>
            </a:r>
          </a:p>
          <a:p>
            <a:pPr lvl="2"/>
            <a:r>
              <a:rPr lang="es-ES" altLang="es-ES" smtClean="0"/>
              <a:t>Tercer nivel</a:t>
            </a:r>
          </a:p>
          <a:p>
            <a:pPr lvl="3"/>
            <a:r>
              <a:rPr lang="es-ES" altLang="es-ES" smtClean="0"/>
              <a:t>Cuarto nivel</a:t>
            </a:r>
          </a:p>
          <a:p>
            <a:pPr lvl="4"/>
            <a:r>
              <a:rPr lang="es-ES" altLang="es-ES" smtClean="0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03BADA7-F29D-4C00-AEF4-674A9D97909F}" type="datetimeFigureOut">
              <a:rPr lang="es-ES"/>
              <a:pPr>
                <a:defRPr/>
              </a:pPr>
              <a:t>08/05/2020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D49178-0E6A-4009-99E3-8D4907BA8FE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428750" y="4437112"/>
            <a:ext cx="64008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endParaRPr lang="es-CL" sz="1400" b="1" dirty="0">
              <a:solidFill>
                <a:schemeClr val="bg1"/>
              </a:solidFill>
              <a:latin typeface="+mn-lt"/>
              <a:cs typeface="+mn-cs"/>
            </a:endParaRPr>
          </a:p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s-CL" sz="1400" b="1" dirty="0" smtClean="0">
                <a:solidFill>
                  <a:schemeClr val="bg1"/>
                </a:solidFill>
                <a:latin typeface="+mn-lt"/>
                <a:cs typeface="+mn-cs"/>
              </a:rPr>
              <a:t>Técnico de </a:t>
            </a:r>
            <a:r>
              <a:rPr lang="es-CL" sz="1400" b="1" dirty="0">
                <a:solidFill>
                  <a:schemeClr val="bg1"/>
                </a:solidFill>
                <a:latin typeface="+mn-lt"/>
                <a:cs typeface="+mn-cs"/>
              </a:rPr>
              <a:t>E</a:t>
            </a:r>
            <a:r>
              <a:rPr lang="es-CL" sz="1400" b="1" dirty="0" smtClean="0">
                <a:solidFill>
                  <a:schemeClr val="bg1"/>
                </a:solidFill>
                <a:latin typeface="+mn-lt"/>
                <a:cs typeface="+mn-cs"/>
              </a:rPr>
              <a:t>ducación de …….. </a:t>
            </a:r>
            <a:endParaRPr lang="es-ES" sz="1400" b="1" dirty="0" smtClean="0">
              <a:solidFill>
                <a:schemeClr val="bg1"/>
              </a:solidFill>
              <a:latin typeface="+mn-lt"/>
              <a:cs typeface="+mn-cs"/>
            </a:endParaRPr>
          </a:p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s-ES" sz="1400" b="1" dirty="0" smtClean="0">
                <a:solidFill>
                  <a:schemeClr val="bg1"/>
                </a:solidFill>
                <a:latin typeface="+mn-lt"/>
                <a:cs typeface="+mn-cs"/>
              </a:rPr>
              <a:t>Nombres</a:t>
            </a:r>
            <a:endParaRPr lang="es-ES" sz="1400" b="1" dirty="0">
              <a:solidFill>
                <a:schemeClr val="bg1"/>
              </a:solidFill>
              <a:latin typeface="+mn-lt"/>
              <a:cs typeface="+mn-cs"/>
            </a:endParaRPr>
          </a:p>
          <a:p>
            <a:pPr marL="342900" indent="-342900"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s-ES" sz="1400" b="1" dirty="0" smtClean="0">
                <a:solidFill>
                  <a:schemeClr val="bg1"/>
                </a:solidFill>
                <a:latin typeface="+mn-lt"/>
                <a:cs typeface="+mn-cs"/>
              </a:rPr>
              <a:t>Temuco, fecha</a:t>
            </a:r>
            <a:endParaRPr lang="es-CL" sz="1400" b="1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sp>
        <p:nvSpPr>
          <p:cNvPr id="5" name="5 Título"/>
          <p:cNvSpPr txBox="1">
            <a:spLocks/>
          </p:cNvSpPr>
          <p:nvPr/>
        </p:nvSpPr>
        <p:spPr>
          <a:xfrm>
            <a:off x="899592" y="1885950"/>
            <a:ext cx="7218362" cy="24066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s-CL" sz="3600" dirty="0" smtClean="0">
                <a:solidFill>
                  <a:schemeClr val="bg1"/>
                </a:solidFill>
              </a:rPr>
              <a:t>     NOMBRE </a:t>
            </a:r>
            <a:r>
              <a:rPr lang="es-CL" sz="3600" dirty="0" smtClean="0">
                <a:solidFill>
                  <a:schemeClr val="bg1"/>
                </a:solidFill>
              </a:rPr>
              <a:t>DEL TEMA</a:t>
            </a:r>
            <a:endParaRPr lang="es-CL" sz="3600" dirty="0">
              <a:solidFill>
                <a:schemeClr val="bg1"/>
              </a:solidFill>
            </a:endParaRPr>
          </a:p>
          <a:p>
            <a:pPr algn="ctr"/>
            <a:r>
              <a:rPr lang="es-CL" sz="3600" dirty="0"/>
              <a:t> </a:t>
            </a:r>
            <a:r>
              <a:rPr lang="es-CL" sz="3600" dirty="0" smtClean="0"/>
              <a:t> </a:t>
            </a:r>
            <a:r>
              <a:rPr lang="es-ES" sz="360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Primer semestre 2020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634082"/>
          </a:xfrm>
        </p:spPr>
        <p:txBody>
          <a:bodyPr/>
          <a:lstStyle/>
          <a:p>
            <a:r>
              <a:rPr lang="es-CL" sz="3600" b="1" dirty="0" smtClean="0">
                <a:solidFill>
                  <a:schemeClr val="tx2"/>
                </a:solidFill>
              </a:rPr>
              <a:t>Temas</a:t>
            </a:r>
            <a:r>
              <a:rPr lang="es-CL" dirty="0" smtClean="0"/>
              <a:t/>
            </a:r>
            <a:br>
              <a:rPr lang="es-CL" dirty="0" smtClean="0"/>
            </a:br>
            <a:endParaRPr lang="es-C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/>
          <a:lstStyle/>
          <a:p>
            <a:pPr marL="0" lvl="0" indent="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 smtClean="0">
                <a:solidFill>
                  <a:schemeClr val="tx2"/>
                </a:solidFill>
              </a:rPr>
              <a:t>1.-</a:t>
            </a:r>
            <a:r>
              <a:rPr lang="es-CL" sz="2000" dirty="0">
                <a:solidFill>
                  <a:schemeClr val="tx2"/>
                </a:solidFill>
                <a:ea typeface="Calibri"/>
                <a:cs typeface="Times New Roman"/>
              </a:rPr>
              <a:t>Consideraciones generales. Niveles de adquisición del lenguaje: </a:t>
            </a:r>
            <a:r>
              <a:rPr lang="es-CL" sz="2000" dirty="0" smtClean="0">
                <a:solidFill>
                  <a:schemeClr val="tx2"/>
                </a:solidFill>
                <a:ea typeface="Calibri"/>
                <a:cs typeface="Times New Roman"/>
              </a:rPr>
              <a:t>Fonológico</a:t>
            </a:r>
            <a:endParaRPr lang="es-CL" sz="2000" dirty="0" smtClean="0">
              <a:solidFill>
                <a:schemeClr val="tx2"/>
              </a:solidFill>
            </a:endParaRPr>
          </a:p>
          <a:p>
            <a:pPr marL="0" lvl="0" indent="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 smtClean="0">
                <a:solidFill>
                  <a:schemeClr val="tx2"/>
                </a:solidFill>
              </a:rPr>
              <a:t>2.-</a:t>
            </a:r>
            <a:r>
              <a:rPr lang="es-CL" sz="2000" dirty="0">
                <a:solidFill>
                  <a:schemeClr val="tx2"/>
                </a:solidFill>
                <a:ea typeface="Calibri"/>
                <a:cs typeface="Times New Roman"/>
              </a:rPr>
              <a:t>Consideraciones generales. Niveles de adquisición del lenguaje: </a:t>
            </a:r>
            <a:r>
              <a:rPr lang="es-CL" sz="2000" dirty="0" smtClean="0">
                <a:solidFill>
                  <a:schemeClr val="tx2"/>
                </a:solidFill>
                <a:ea typeface="Calibri"/>
                <a:cs typeface="Times New Roman"/>
              </a:rPr>
              <a:t>Semántico</a:t>
            </a:r>
            <a:r>
              <a:rPr lang="es-CL" sz="2000" dirty="0">
                <a:solidFill>
                  <a:schemeClr val="tx2"/>
                </a:solidFill>
                <a:ea typeface="Calibri"/>
                <a:cs typeface="Times New Roman"/>
              </a:rPr>
              <a:t>, </a:t>
            </a:r>
            <a:endParaRPr lang="es-CL" sz="2000" dirty="0" smtClean="0">
              <a:solidFill>
                <a:schemeClr val="tx2"/>
              </a:solidFill>
            </a:endParaRPr>
          </a:p>
          <a:p>
            <a:pPr marL="0" lvl="0" indent="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 smtClean="0">
                <a:solidFill>
                  <a:schemeClr val="tx2"/>
                </a:solidFill>
              </a:rPr>
              <a:t>3.-</a:t>
            </a:r>
            <a:r>
              <a:rPr lang="es-CL" sz="2000" dirty="0">
                <a:solidFill>
                  <a:schemeClr val="tx2"/>
                </a:solidFill>
                <a:ea typeface="Calibri"/>
                <a:cs typeface="Times New Roman"/>
              </a:rPr>
              <a:t>Consideraciones generales. Niveles de adquisición del lenguaje: </a:t>
            </a:r>
            <a:r>
              <a:rPr lang="es-CL" sz="2000" dirty="0" smtClean="0">
                <a:solidFill>
                  <a:schemeClr val="tx2"/>
                </a:solidFill>
                <a:ea typeface="Calibri"/>
                <a:cs typeface="Times New Roman"/>
              </a:rPr>
              <a:t>Morfosintáctico</a:t>
            </a:r>
            <a:endParaRPr lang="es-CL" sz="2000" dirty="0" smtClean="0">
              <a:solidFill>
                <a:schemeClr val="tx2"/>
              </a:solidFill>
            </a:endParaRPr>
          </a:p>
          <a:p>
            <a:pPr marL="0" lvl="0" indent="0" eaLnBrk="1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 smtClean="0">
                <a:solidFill>
                  <a:schemeClr val="tx2"/>
                </a:solidFill>
              </a:rPr>
              <a:t>4.-</a:t>
            </a:r>
            <a:r>
              <a:rPr lang="es-CL" sz="2000" dirty="0">
                <a:solidFill>
                  <a:schemeClr val="tx2"/>
                </a:solidFill>
                <a:ea typeface="Calibri"/>
                <a:cs typeface="Times New Roman"/>
              </a:rPr>
              <a:t>Consideraciones generales. Niveles de adquisición del lenguaje: </a:t>
            </a:r>
            <a:r>
              <a:rPr lang="es-CL" sz="2000" dirty="0" smtClean="0">
                <a:solidFill>
                  <a:schemeClr val="tx2"/>
                </a:solidFill>
                <a:ea typeface="Calibri"/>
                <a:cs typeface="Times New Roman"/>
              </a:rPr>
              <a:t>Pragmático</a:t>
            </a:r>
            <a:r>
              <a:rPr lang="es-CL" sz="2000" dirty="0">
                <a:solidFill>
                  <a:schemeClr val="tx2"/>
                </a:solidFill>
                <a:ea typeface="Calibri"/>
                <a:cs typeface="Times New Roman"/>
              </a:rPr>
              <a:t>. </a:t>
            </a:r>
            <a:endParaRPr lang="es-CL" sz="2000" dirty="0" smtClean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s-CL" sz="2000" dirty="0">
                <a:solidFill>
                  <a:schemeClr val="tx2"/>
                </a:solidFill>
              </a:rPr>
              <a:t>5.-estrategias y actividades de estimulación</a:t>
            </a:r>
            <a:r>
              <a:rPr lang="es-CL" sz="2000" dirty="0" smtClean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r>
              <a:rPr lang="es-CL" sz="2000" dirty="0" smtClean="0">
                <a:solidFill>
                  <a:schemeClr val="tx2"/>
                </a:solidFill>
              </a:rPr>
              <a:t>6.-problemática del desarrollo lenguaje en primero básico y estrategias. </a:t>
            </a:r>
          </a:p>
          <a:p>
            <a:pPr marL="0" indent="0">
              <a:buNone/>
            </a:pPr>
            <a:r>
              <a:rPr lang="es-CL" sz="2000" dirty="0" smtClean="0">
                <a:solidFill>
                  <a:schemeClr val="tx2"/>
                </a:solidFill>
              </a:rPr>
              <a:t>7.-Técnicas de lectura y comprensión.</a:t>
            </a:r>
            <a:endParaRPr lang="es-CL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4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s-CL" sz="3600" b="1" dirty="0" smtClean="0">
                <a:solidFill>
                  <a:schemeClr val="tx2"/>
                </a:solidFill>
              </a:rPr>
              <a:t>EPE 2</a:t>
            </a:r>
            <a:endParaRPr lang="es-CL" sz="3600" b="1" dirty="0">
              <a:solidFill>
                <a:schemeClr val="tx2"/>
              </a:solidFill>
            </a:endParaRPr>
          </a:p>
        </p:txBody>
      </p:sp>
      <p:sp>
        <p:nvSpPr>
          <p:cNvPr id="4" name="1 CuadroTexto">
            <a:extLst>
              <a:ext uri="{FF2B5EF4-FFF2-40B4-BE49-F238E27FC236}"/>
            </a:extLst>
          </p:cNvPr>
          <p:cNvSpPr txBox="1"/>
          <p:nvPr/>
        </p:nvSpPr>
        <p:spPr>
          <a:xfrm>
            <a:off x="421695" y="980728"/>
            <a:ext cx="8208962" cy="3678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 algn="just" eaLnBrk="1" hangingPunct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es-CL" altLang="es-CL" sz="1800" b="1" dirty="0">
                <a:solidFill>
                  <a:schemeClr val="tx2"/>
                </a:solidFill>
                <a:latin typeface="Lato Regular" charset="0"/>
                <a:ea typeface="Calibri" panose="020F0502020204030204" pitchFamily="34" charset="0"/>
                <a:cs typeface="+mn-cs"/>
              </a:rPr>
              <a:t>Título </a:t>
            </a:r>
            <a:r>
              <a:rPr lang="es-CL" altLang="es-CL" sz="1800" b="1" dirty="0" smtClean="0">
                <a:solidFill>
                  <a:schemeClr val="tx2"/>
                </a:solidFill>
                <a:latin typeface="Lato Regular" charset="0"/>
                <a:ea typeface="Calibri" panose="020F0502020204030204" pitchFamily="34" charset="0"/>
                <a:cs typeface="+mn-cs"/>
              </a:rPr>
              <a:t>EPE2</a:t>
            </a:r>
            <a:endParaRPr lang="es-CL" altLang="es-CL" sz="1800" dirty="0">
              <a:solidFill>
                <a:schemeClr val="tx2"/>
              </a:solidFill>
              <a:latin typeface="Lato Regular" charset="0"/>
              <a:cs typeface="+mn-cs"/>
            </a:endParaRPr>
          </a:p>
          <a:p>
            <a:pPr marL="285750" indent="-285750" algn="just" eaLnBrk="1" hangingPunct="1">
              <a:buFont typeface="Wingdings" panose="05000000000000000000" pitchFamily="2" charset="2"/>
              <a:buChar char="ü"/>
              <a:defRPr/>
            </a:pPr>
            <a:r>
              <a:rPr lang="es-CL" altLang="es-CL" sz="1800" dirty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Elabore una presentación de no más de </a:t>
            </a:r>
            <a:r>
              <a:rPr lang="es-CL" altLang="es-CL" sz="1800" dirty="0" smtClean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15 </a:t>
            </a:r>
            <a:r>
              <a:rPr lang="es-CL" altLang="es-CL" sz="1800" dirty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diapositivas. Para ello, si considera necesario puede insertar comentarios en las diapositivas, las que permitan comprender mejor  ideas.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ü"/>
              <a:defRPr/>
            </a:pPr>
            <a:endParaRPr lang="es-CL" altLang="es-CL" sz="1800" dirty="0">
              <a:solidFill>
                <a:schemeClr val="tx2"/>
              </a:solidFill>
              <a:latin typeface="Lato Regular" charset="0"/>
              <a:cs typeface="Calibri" panose="020F0502020204030204" pitchFamily="34" charset="0"/>
            </a:endParaRPr>
          </a:p>
          <a:p>
            <a:pPr marL="285750" indent="-285750" algn="just" eaLnBrk="1" hangingPunct="1">
              <a:buFont typeface="Wingdings" panose="05000000000000000000" pitchFamily="2" charset="2"/>
              <a:buChar char="ü"/>
              <a:defRPr/>
            </a:pPr>
            <a:r>
              <a:rPr lang="es-ES" altLang="es-CL" sz="1800" dirty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Presente y </a:t>
            </a:r>
            <a:r>
              <a:rPr lang="es-ES" altLang="es-CL" sz="1800" dirty="0" smtClean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un </a:t>
            </a:r>
            <a:r>
              <a:rPr lang="es-ES" altLang="es-CL" sz="1800" dirty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PPT, las características </a:t>
            </a:r>
            <a:r>
              <a:rPr lang="es-ES" altLang="es-CL" sz="1800" dirty="0" smtClean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principales.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ü"/>
              <a:defRPr/>
            </a:pPr>
            <a:endParaRPr lang="es-CL" altLang="es-CL" sz="1800" dirty="0">
              <a:solidFill>
                <a:schemeClr val="tx2"/>
              </a:solidFill>
              <a:latin typeface="Lato Regular" charset="0"/>
              <a:cs typeface="Calibri" panose="020F0502020204030204" pitchFamily="34" charset="0"/>
            </a:endParaRPr>
          </a:p>
          <a:p>
            <a:pPr marL="285750" indent="-285750" algn="just" eaLnBrk="1" hangingPunct="1">
              <a:buFont typeface="Wingdings" panose="05000000000000000000" pitchFamily="2" charset="2"/>
              <a:buChar char="ü"/>
              <a:defRPr/>
            </a:pPr>
            <a:r>
              <a:rPr lang="es-ES" altLang="es-CL" sz="1800" dirty="0" smtClean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Prepare un </a:t>
            </a:r>
            <a:r>
              <a:rPr lang="es-ES_tradnl" altLang="es-CL" sz="1800" dirty="0" smtClean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actividad </a:t>
            </a:r>
            <a:r>
              <a:rPr lang="es-ES_tradnl" altLang="es-CL" sz="1800" dirty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didáctica </a:t>
            </a:r>
            <a:r>
              <a:rPr lang="es-ES_tradnl" altLang="es-CL" sz="1800" dirty="0" smtClean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sobre la temática  (</a:t>
            </a:r>
            <a:r>
              <a:rPr lang="es-ES_tradnl" altLang="es-CL" sz="1800" dirty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2</a:t>
            </a:r>
            <a:r>
              <a:rPr lang="es-ES" altLang="es-CL" sz="1800" dirty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 diapositivas).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ü"/>
              <a:defRPr/>
            </a:pPr>
            <a:endParaRPr lang="es-ES" altLang="es-CL" sz="1800" dirty="0">
              <a:solidFill>
                <a:schemeClr val="tx2"/>
              </a:solidFill>
              <a:latin typeface="Lato Regular" charset="0"/>
              <a:cs typeface="Calibri" panose="020F0502020204030204" pitchFamily="34" charset="0"/>
            </a:endParaRPr>
          </a:p>
          <a:p>
            <a:pPr marL="285750" indent="-285750" algn="just" eaLnBrk="1" hangingPunct="1">
              <a:buFont typeface="Wingdings" panose="05000000000000000000" pitchFamily="2" charset="2"/>
              <a:buChar char="ü"/>
              <a:defRPr/>
            </a:pPr>
            <a:r>
              <a:rPr lang="es-ES" altLang="es-CL" sz="1800" dirty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Declare </a:t>
            </a:r>
            <a:r>
              <a:rPr lang="es-ES" altLang="es-CL" sz="1800" dirty="0" smtClean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los temas mas importante de su presentación o resumen </a:t>
            </a:r>
            <a:r>
              <a:rPr lang="es-ES" altLang="es-CL" sz="1800" dirty="0" smtClean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 (</a:t>
            </a:r>
            <a:r>
              <a:rPr lang="es-ES" altLang="es-CL" sz="1800" dirty="0">
                <a:solidFill>
                  <a:schemeClr val="tx2"/>
                </a:solidFill>
                <a:latin typeface="Lato Regular" charset="0"/>
                <a:cs typeface="Calibri" panose="020F0502020204030204" pitchFamily="34" charset="0"/>
              </a:rPr>
              <a:t>1 diapositiva).</a:t>
            </a:r>
          </a:p>
          <a:p>
            <a:pPr marL="176213" indent="-176213" algn="just" eaLnBrk="1" hangingPunct="1">
              <a:buFont typeface="Arial" panose="020B0604020202020204" pitchFamily="34" charset="0"/>
              <a:buChar char="•"/>
              <a:defRPr/>
            </a:pPr>
            <a:endParaRPr lang="es-CL" altLang="es-CL" sz="1200" dirty="0">
              <a:solidFill>
                <a:srgbClr val="595959"/>
              </a:solidFill>
              <a:latin typeface="Lato Regular" charset="0"/>
              <a:cs typeface="Calibri" panose="020F0502020204030204" pitchFamily="34" charset="0"/>
            </a:endParaRPr>
          </a:p>
          <a:p>
            <a:pPr algn="just" eaLnBrk="1" hangingPunct="1">
              <a:buFont typeface="Arial" panose="020B0604020202020204" pitchFamily="34" charset="0"/>
              <a:buChar char="•"/>
              <a:defRPr/>
            </a:pPr>
            <a:endParaRPr lang="es-CL" altLang="es-CL" sz="1200" dirty="0">
              <a:solidFill>
                <a:srgbClr val="595959"/>
              </a:solidFill>
              <a:latin typeface="Lato Regular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294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3600" dirty="0" smtClean="0"/>
              <a:t/>
            </a:r>
            <a:br>
              <a:rPr lang="es-CL" sz="3600" dirty="0" smtClean="0"/>
            </a:br>
            <a:r>
              <a:rPr lang="es-CL" sz="3600" b="1" dirty="0" smtClean="0">
                <a:solidFill>
                  <a:schemeClr val="tx2"/>
                </a:solidFill>
              </a:rPr>
              <a:t>Aspectos </a:t>
            </a:r>
            <a:r>
              <a:rPr lang="es-CL" sz="3600" b="1" dirty="0">
                <a:solidFill>
                  <a:schemeClr val="tx2"/>
                </a:solidFill>
              </a:rPr>
              <a:t>formales para considerar </a:t>
            </a:r>
            <a:r>
              <a:rPr lang="es-CL" sz="3600" b="1" dirty="0" smtClean="0">
                <a:solidFill>
                  <a:schemeClr val="tx2"/>
                </a:solidFill>
              </a:rPr>
              <a:t/>
            </a:r>
            <a:br>
              <a:rPr lang="es-CL" sz="3600" b="1" dirty="0" smtClean="0">
                <a:solidFill>
                  <a:schemeClr val="tx2"/>
                </a:solidFill>
              </a:rPr>
            </a:br>
            <a:r>
              <a:rPr lang="es-CL" sz="3600" b="1" dirty="0" smtClean="0">
                <a:solidFill>
                  <a:schemeClr val="tx2"/>
                </a:solidFill>
              </a:rPr>
              <a:t>en </a:t>
            </a:r>
            <a:r>
              <a:rPr lang="es-CL" sz="3600" b="1" dirty="0">
                <a:solidFill>
                  <a:schemeClr val="tx2"/>
                </a:solidFill>
              </a:rPr>
              <a:t>el diseño PPT:</a:t>
            </a:r>
            <a:r>
              <a:rPr lang="es-CL" dirty="0"/>
              <a:t/>
            </a:r>
            <a:br>
              <a:rPr lang="es-CL" dirty="0"/>
            </a:br>
            <a:endParaRPr lang="es-C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s-ES_tradnl" altLang="es-CL" sz="2000" dirty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Utilice letra Calibri, tamaño </a:t>
            </a:r>
            <a:r>
              <a:rPr lang="es-ES_tradnl" altLang="es-CL" sz="2000" dirty="0" smtClean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24</a:t>
            </a:r>
            <a:endParaRPr lang="es-ES" altLang="es-CL" sz="2000" dirty="0">
              <a:solidFill>
                <a:schemeClr val="tx2"/>
              </a:solidFill>
              <a:latin typeface="Lato Regular" charset="0"/>
              <a:ea typeface="MS PGothic" pitchFamily="34" charset="-128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s-ES_tradnl" altLang="es-CL" sz="2000" dirty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Utilice formato PPT entregado por el profesor para el desarrollo de </a:t>
            </a:r>
            <a:r>
              <a:rPr lang="es-ES_tradnl" altLang="es-CL" sz="2000" dirty="0" smtClean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la EPE2</a:t>
            </a:r>
            <a:r>
              <a:rPr lang="es-ES_tradnl" altLang="es-CL" sz="2000" dirty="0" smtClean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.</a:t>
            </a:r>
            <a:endParaRPr lang="es-ES" altLang="es-CL" sz="2000" dirty="0">
              <a:solidFill>
                <a:schemeClr val="tx2"/>
              </a:solidFill>
              <a:latin typeface="Lato Regular" charset="0"/>
              <a:ea typeface="MS PGothic" pitchFamily="34" charset="-128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s-ES_tradnl" altLang="es-CL" sz="2000" dirty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Procure una redacción con profundidad y síntesis</a:t>
            </a:r>
            <a:r>
              <a:rPr lang="es-ES_tradnl" altLang="es-CL" sz="2000" dirty="0" smtClean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.</a:t>
            </a:r>
            <a:endParaRPr lang="es-ES" altLang="es-CL" sz="2000" dirty="0">
              <a:solidFill>
                <a:schemeClr val="tx2"/>
              </a:solidFill>
              <a:latin typeface="Lato Regular" charset="0"/>
              <a:ea typeface="MS PGothic" pitchFamily="34" charset="-128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s-ES_tradnl" altLang="es-CL" sz="2000" dirty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Establezca una coherencia entre los aspectos considerados en la presentación</a:t>
            </a:r>
            <a:r>
              <a:rPr lang="es-ES_tradnl" altLang="es-CL" sz="2000" dirty="0" smtClean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.</a:t>
            </a:r>
            <a:endParaRPr lang="es-ES" altLang="es-CL" sz="2000" dirty="0">
              <a:solidFill>
                <a:schemeClr val="tx2"/>
              </a:solidFill>
              <a:latin typeface="Lato Regular" charset="0"/>
              <a:ea typeface="MS PGothic" pitchFamily="34" charset="-128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s-ES_tradnl" altLang="es-CL" sz="2000" dirty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Aplique alineación justificada en todos los textos y párrafos</a:t>
            </a:r>
            <a:r>
              <a:rPr lang="es-ES_tradnl" altLang="es-CL" sz="2000" dirty="0" smtClean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.</a:t>
            </a:r>
            <a:endParaRPr lang="es-ES" altLang="es-CL" sz="2000" dirty="0">
              <a:solidFill>
                <a:schemeClr val="tx2"/>
              </a:solidFill>
              <a:latin typeface="Lato Regular" charset="0"/>
              <a:ea typeface="MS PGothic" pitchFamily="34" charset="-128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s-ES_tradnl" altLang="es-CL" sz="2000" dirty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Cargue el archivo de tarea en la plataforma. El nombre del archivo se debe ajustar al siguiente ejemplo: </a:t>
            </a:r>
            <a:r>
              <a:rPr lang="es-ES_tradnl" altLang="es-CL" sz="2000" dirty="0" smtClean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EPE 2_Yeri_Sáez_Martínez</a:t>
            </a:r>
            <a:endParaRPr lang="es-ES_tradnl" altLang="es-CL" sz="2000" dirty="0">
              <a:solidFill>
                <a:schemeClr val="tx2"/>
              </a:solidFill>
              <a:latin typeface="Lato Regular" charset="0"/>
              <a:ea typeface="MS PGothic" pitchFamily="34" charset="-128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s-ES_tradnl" altLang="es-CL" sz="2000" dirty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Si se detecta plagio en su trabajo, será calificado, automáticamente, con nota mínima</a:t>
            </a:r>
            <a:r>
              <a:rPr lang="es-ES_tradnl" altLang="es-CL" sz="2000" dirty="0" smtClean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.</a:t>
            </a:r>
            <a:endParaRPr lang="es-ES_tradnl" altLang="es-CL" sz="2000" dirty="0">
              <a:solidFill>
                <a:schemeClr val="tx2"/>
              </a:solidFill>
              <a:latin typeface="Lato Regular" charset="0"/>
              <a:ea typeface="MS PGothic" pitchFamily="34" charset="-128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s-ES_tradnl" altLang="es-CL" sz="2000" dirty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Este trabajo debe ser subido a plataforma el día domingo </a:t>
            </a:r>
            <a:r>
              <a:rPr lang="es-ES_tradnl" altLang="es-CL" sz="2000" dirty="0" smtClean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17/05  antes </a:t>
            </a:r>
            <a:r>
              <a:rPr lang="es-ES_tradnl" altLang="es-CL" sz="2000" dirty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de las 23:55 </a:t>
            </a:r>
            <a:r>
              <a:rPr lang="es-ES_tradnl" altLang="es-CL" sz="2000" dirty="0" err="1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hrs</a:t>
            </a:r>
            <a:r>
              <a:rPr lang="es-ES_tradnl" altLang="es-CL" sz="2000" dirty="0" smtClean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s-ES_tradnl" altLang="es-CL" sz="2000" dirty="0" smtClean="0">
                <a:solidFill>
                  <a:schemeClr val="tx2"/>
                </a:solidFill>
                <a:latin typeface="Lato Regular" charset="0"/>
                <a:ea typeface="MS PGothic" pitchFamily="34" charset="-128"/>
              </a:rPr>
              <a:t>Preparar la exposición  para el desarrollo virtual.</a:t>
            </a:r>
            <a:endParaRPr lang="es-ES" altLang="es-CL" sz="2000" dirty="0">
              <a:solidFill>
                <a:schemeClr val="tx2"/>
              </a:solidFill>
              <a:latin typeface="Lato Regular" charset="0"/>
              <a:ea typeface="MS PGothic" pitchFamily="34" charset="-128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s-ES" altLang="es-CL" sz="1200" dirty="0">
              <a:solidFill>
                <a:srgbClr val="898989"/>
              </a:solidFill>
              <a:latin typeface="Lato Regular" charset="0"/>
              <a:ea typeface="MS PGothic" pitchFamily="34" charset="-128"/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62496348"/>
      </p:ext>
    </p:extLst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icin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91016E09452D14594114801DDC005B1" ma:contentTypeVersion="0" ma:contentTypeDescription="Crear nuevo documento." ma:contentTypeScope="" ma:versionID="1f5c0c4267c757850667d6d024e9fa03">
  <xsd:schema xmlns:xsd="http://www.w3.org/2001/XMLSchema" xmlns:p="http://schemas.microsoft.com/office/2006/metadata/properties" targetNamespace="http://schemas.microsoft.com/office/2006/metadata/properties" ma:root="true" ma:fieldsID="b004d877ca112f136821ba8115f6472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9E9EBA-62F0-449C-9E95-15D693B15CBC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E0158FF-185C-4F3F-B860-C55CD4DA6F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C2A971C2-9133-4A25-ACD7-A281830E65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6737</TotalTime>
  <Words>385</Words>
  <Application>Microsoft Office PowerPoint</Application>
  <PresentationFormat>Presentación en pantalla (4:3)</PresentationFormat>
  <Paragraphs>41</Paragraphs>
  <Slides>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2_Tema de Office</vt:lpstr>
      <vt:lpstr>Presentación de PowerPoint</vt:lpstr>
      <vt:lpstr>Temas </vt:lpstr>
      <vt:lpstr>EPE 2</vt:lpstr>
      <vt:lpstr> Aspectos formales para considerar  en el diseño PPT: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TXT Titulo</dc:title>
  <dc:creator>Clau</dc:creator>
  <cp:lastModifiedBy>Yeri</cp:lastModifiedBy>
  <cp:revision>560</cp:revision>
  <dcterms:created xsi:type="dcterms:W3CDTF">2010-01-20T16:16:03Z</dcterms:created>
  <dcterms:modified xsi:type="dcterms:W3CDTF">2020-05-09T04:20:25Z</dcterms:modified>
</cp:coreProperties>
</file>