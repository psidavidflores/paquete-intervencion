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5423B9-E30E-4546-959C-BB58F3AFB56C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1407FC49-A15C-40FA-8ECB-1B191EAA4B8C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s-MX" dirty="0" smtClean="0"/>
            <a:t>Las normas de convivencia son un conjunto de normas sociales que favorecen el respeto mutuo, la tolerancia, los derechos y los deberes de las personas. Estas reglas nos aseguran convivir en paz y en armonía los unos con los otros.</a:t>
          </a:r>
          <a:endParaRPr lang="es-CL" dirty="0"/>
        </a:p>
      </dgm:t>
    </dgm:pt>
    <dgm:pt modelId="{58EC69B8-B7FD-41DC-B5BE-D7F4EB1B518A}" type="parTrans" cxnId="{09BCC9BF-785B-490C-8915-2F09103119B9}">
      <dgm:prSet/>
      <dgm:spPr/>
      <dgm:t>
        <a:bodyPr/>
        <a:lstStyle/>
        <a:p>
          <a:endParaRPr lang="es-CL"/>
        </a:p>
      </dgm:t>
    </dgm:pt>
    <dgm:pt modelId="{60586D84-A799-468E-A266-F65EAA3F3CFD}" type="sibTrans" cxnId="{09BCC9BF-785B-490C-8915-2F09103119B9}">
      <dgm:prSet/>
      <dgm:spPr/>
      <dgm:t>
        <a:bodyPr/>
        <a:lstStyle/>
        <a:p>
          <a:endParaRPr lang="es-CL"/>
        </a:p>
      </dgm:t>
    </dgm:pt>
    <dgm:pt modelId="{5F21FF7F-FF11-4F74-9E61-DE82FB78561A}" type="pres">
      <dgm:prSet presAssocID="{625423B9-E30E-4546-959C-BB58F3AFB56C}" presName="Name0" presStyleCnt="0">
        <dgm:presLayoutVars>
          <dgm:dir/>
          <dgm:resizeHandles val="exact"/>
        </dgm:presLayoutVars>
      </dgm:prSet>
      <dgm:spPr/>
    </dgm:pt>
    <dgm:pt modelId="{9CF4D457-8C59-4883-AAC0-030D5BABC8E2}" type="pres">
      <dgm:prSet presAssocID="{625423B9-E30E-4546-959C-BB58F3AFB56C}" presName="cycle" presStyleCnt="0"/>
      <dgm:spPr/>
    </dgm:pt>
    <dgm:pt modelId="{3ABB3828-EE32-45F0-8F02-3A82D5EF5E4E}" type="pres">
      <dgm:prSet presAssocID="{1407FC49-A15C-40FA-8ECB-1B191EAA4B8C}" presName="nodeFirstNode" presStyleLbl="node1" presStyleIdx="0" presStyleCnt="1" custScaleX="91503" custScaleY="100196" custRadScaleRad="113712" custRadScaleInc="-1190">
        <dgm:presLayoutVars>
          <dgm:bulletEnabled val="1"/>
        </dgm:presLayoutVars>
      </dgm:prSet>
      <dgm:spPr/>
    </dgm:pt>
  </dgm:ptLst>
  <dgm:cxnLst>
    <dgm:cxn modelId="{09BCC9BF-785B-490C-8915-2F09103119B9}" srcId="{625423B9-E30E-4546-959C-BB58F3AFB56C}" destId="{1407FC49-A15C-40FA-8ECB-1B191EAA4B8C}" srcOrd="0" destOrd="0" parTransId="{58EC69B8-B7FD-41DC-B5BE-D7F4EB1B518A}" sibTransId="{60586D84-A799-468E-A266-F65EAA3F3CFD}"/>
    <dgm:cxn modelId="{6C46BF5A-781B-4A8A-9899-F43F0DA35545}" type="presOf" srcId="{1407FC49-A15C-40FA-8ECB-1B191EAA4B8C}" destId="{3ABB3828-EE32-45F0-8F02-3A82D5EF5E4E}" srcOrd="0" destOrd="0" presId="urn:microsoft.com/office/officeart/2005/8/layout/cycle3"/>
    <dgm:cxn modelId="{D9D2478B-34EA-4F5F-951D-29FD216D42B6}" type="presOf" srcId="{625423B9-E30E-4546-959C-BB58F3AFB56C}" destId="{5F21FF7F-FF11-4F74-9E61-DE82FB78561A}" srcOrd="0" destOrd="0" presId="urn:microsoft.com/office/officeart/2005/8/layout/cycle3"/>
    <dgm:cxn modelId="{19E3FC81-4C40-4755-ADB2-251B425D12F9}" type="presParOf" srcId="{5F21FF7F-FF11-4F74-9E61-DE82FB78561A}" destId="{9CF4D457-8C59-4883-AAC0-030D5BABC8E2}" srcOrd="0" destOrd="0" presId="urn:microsoft.com/office/officeart/2005/8/layout/cycle3"/>
    <dgm:cxn modelId="{CC4A894A-988D-4CF5-B222-31EAF80E7BEC}" type="presParOf" srcId="{9CF4D457-8C59-4883-AAC0-030D5BABC8E2}" destId="{3ABB3828-EE32-45F0-8F02-3A82D5EF5E4E}" srcOrd="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BB3828-EE32-45F0-8F02-3A82D5EF5E4E}">
      <dsp:nvSpPr>
        <dsp:cNvPr id="0" name=""/>
        <dsp:cNvSpPr/>
      </dsp:nvSpPr>
      <dsp:spPr>
        <a:xfrm>
          <a:off x="60" y="72002"/>
          <a:ext cx="4151037" cy="2272697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 smtClean="0"/>
            <a:t>Las normas de convivencia son un conjunto de normas sociales que favorecen el respeto mutuo, la tolerancia, los derechos y los deberes de las personas. Estas reglas nos aseguran convivir en paz y en armonía los unos con los otros.</a:t>
          </a:r>
          <a:endParaRPr lang="es-CL" sz="1900" kern="1200" dirty="0"/>
        </a:p>
      </dsp:txBody>
      <dsp:txXfrm>
        <a:off x="111004" y="182946"/>
        <a:ext cx="3929149" cy="20508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963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5135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1408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049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4374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87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539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129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6583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8659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767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5EB49-E3FC-4A79-9411-8F263101550C}" type="datetimeFigureOut">
              <a:rPr lang="es-CL" smtClean="0"/>
              <a:t>25-01-2020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01CF3-31D6-4426-A53E-7AECFB721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16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7" y="-33773"/>
            <a:ext cx="9118848" cy="6891773"/>
          </a:xfrm>
          <a:prstGeom prst="rect">
            <a:avLst/>
          </a:prstGeom>
          <a:noFill/>
          <a:ln w="762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30087" y="-55342"/>
            <a:ext cx="9140697" cy="1446550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rial Rounded MT Bold" pitchFamily="34" charset="0"/>
              </a:rPr>
              <a:t>Normas y acuerdos </a:t>
            </a:r>
          </a:p>
          <a:p>
            <a:pPr algn="ctr"/>
            <a:r>
              <a:rPr lang="es-ES" sz="44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rial Rounded MT Bold" pitchFamily="34" charset="0"/>
              </a:rPr>
              <a:t>de convivencia</a:t>
            </a:r>
            <a:endParaRPr lang="es-ES" sz="4400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rial Rounded MT Bold" pitchFamily="34" charset="0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51938" y="5875218"/>
            <a:ext cx="9092062" cy="954107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smtClean="0"/>
              <a:t>Ámbito: </a:t>
            </a:r>
            <a:r>
              <a:rPr lang="es-CL" sz="2800" dirty="0" smtClean="0"/>
              <a:t>Desarrollo personal y Social.</a:t>
            </a:r>
          </a:p>
          <a:p>
            <a:pPr algn="ctr"/>
            <a:r>
              <a:rPr lang="es-CL" sz="2800" b="1" dirty="0" smtClean="0"/>
              <a:t>Núcleo: </a:t>
            </a:r>
            <a:r>
              <a:rPr lang="es-CL" sz="2800" dirty="0" smtClean="0"/>
              <a:t>Convivencia y ciudadanía.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22813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6" b="12497"/>
          <a:stretch/>
        </p:blipFill>
        <p:spPr bwMode="auto">
          <a:xfrm>
            <a:off x="1331640" y="3861048"/>
            <a:ext cx="6624735" cy="1987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Llamada de nube"/>
          <p:cNvSpPr/>
          <p:nvPr/>
        </p:nvSpPr>
        <p:spPr>
          <a:xfrm>
            <a:off x="1331641" y="764704"/>
            <a:ext cx="6624734" cy="2736304"/>
          </a:xfrm>
          <a:prstGeom prst="cloudCallout">
            <a:avLst>
              <a:gd name="adj1" fmla="val -27306"/>
              <a:gd name="adj2" fmla="val 70393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dirty="0" smtClean="0">
                <a:solidFill>
                  <a:schemeClr val="tx1"/>
                </a:solidFill>
              </a:rPr>
              <a:t>Objetivo de aprendizaje:  </a:t>
            </a:r>
          </a:p>
          <a:p>
            <a:pPr algn="ctr"/>
            <a:r>
              <a:rPr lang="es-CL" sz="2400" b="1" dirty="0" smtClean="0">
                <a:solidFill>
                  <a:schemeClr val="tx1"/>
                </a:solidFill>
              </a:rPr>
              <a:t>Respetar normas y acuerdos  creados colaborativamente con pares y adultos con otros niños y niñas. </a:t>
            </a:r>
            <a:endParaRPr lang="es-CL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74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71600" y="1196752"/>
            <a:ext cx="741395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son las normas de convivencia?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1416458338"/>
              </p:ext>
            </p:extLst>
          </p:nvPr>
        </p:nvGraphicFramePr>
        <p:xfrm>
          <a:off x="1403648" y="1988840"/>
          <a:ext cx="4536504" cy="302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3" r="13207"/>
          <a:stretch/>
        </p:blipFill>
        <p:spPr bwMode="auto">
          <a:xfrm>
            <a:off x="5796136" y="2348879"/>
            <a:ext cx="2160240" cy="3471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57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0" b="9746"/>
          <a:stretch/>
        </p:blipFill>
        <p:spPr bwMode="auto">
          <a:xfrm>
            <a:off x="1582033" y="3365643"/>
            <a:ext cx="5331862" cy="2444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Llamada ovalada"/>
          <p:cNvSpPr/>
          <p:nvPr/>
        </p:nvSpPr>
        <p:spPr>
          <a:xfrm>
            <a:off x="1115616" y="1052736"/>
            <a:ext cx="6408712" cy="2016224"/>
          </a:xfrm>
          <a:prstGeom prst="wedgeEllipseCallout">
            <a:avLst>
              <a:gd name="adj1" fmla="val -3733"/>
              <a:gd name="adj2" fmla="val 889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>
                <a:solidFill>
                  <a:schemeClr val="tx1"/>
                </a:solidFill>
              </a:rPr>
              <a:t>Amiguitos: </a:t>
            </a:r>
          </a:p>
          <a:p>
            <a:pPr algn="ctr"/>
            <a:r>
              <a:rPr lang="es-CL" dirty="0" smtClean="0">
                <a:solidFill>
                  <a:schemeClr val="tx1"/>
                </a:solidFill>
              </a:rPr>
              <a:t>Es muy importante respetar las normas de convivencia para que todos podamos trabajar tranquilos, ordenados y demostrar valores de respeto, tolerancia, solidaridad entre todos.  </a:t>
            </a:r>
            <a:endParaRPr lang="es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553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241" y="1776401"/>
            <a:ext cx="4796635" cy="3094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745812" y="5200562"/>
            <a:ext cx="7728269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No peleamos con nuestros compañeros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16832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1162505" y="5200562"/>
            <a:ext cx="6894901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Compartimos nuestros materiales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6723"/>
          <a:stretch/>
        </p:blipFill>
        <p:spPr bwMode="auto">
          <a:xfrm>
            <a:off x="2051720" y="1898073"/>
            <a:ext cx="4752528" cy="3199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6333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1395300" y="5200562"/>
            <a:ext cx="6429325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Levantamos la mano para hablar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1" t="6093" r="16970" b="25358"/>
          <a:stretch/>
        </p:blipFill>
        <p:spPr bwMode="auto">
          <a:xfrm>
            <a:off x="1874629" y="1988840"/>
            <a:ext cx="5470666" cy="3170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7020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746562" y="5032138"/>
            <a:ext cx="7794891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Escuchamos con atención a la profesora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916831"/>
            <a:ext cx="4320480" cy="309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230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2564975" y="5200562"/>
            <a:ext cx="4089967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Usamos el basurero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693" y="1868236"/>
            <a:ext cx="4536504" cy="3207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3180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2125852" y="5200562"/>
            <a:ext cx="4968220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Nos tratamos con cariño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805210"/>
            <a:ext cx="4752528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4022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2793596" y="5200562"/>
            <a:ext cx="3632726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No discriminamos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9" t="17074" r="10000" b="12929"/>
          <a:stretch/>
        </p:blipFill>
        <p:spPr bwMode="auto">
          <a:xfrm>
            <a:off x="1730111" y="2060848"/>
            <a:ext cx="5759687" cy="3139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642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0" b="12428"/>
          <a:stretch/>
        </p:blipFill>
        <p:spPr bwMode="auto">
          <a:xfrm>
            <a:off x="2267744" y="1988840"/>
            <a:ext cx="3960440" cy="278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630575" y="4910213"/>
            <a:ext cx="5926302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Somos amables y respetuosos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852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2618164" y="5200562"/>
            <a:ext cx="3983591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Hablamos sin gritar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988840"/>
            <a:ext cx="4572000" cy="3154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8763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881620"/>
            <a:ext cx="4536504" cy="3059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051073" y="5164106"/>
            <a:ext cx="7117782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Saludo al llegar y me despido al salir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1394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1752458" y="5164106"/>
            <a:ext cx="5715027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Usamos las palabras mágicas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9458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692" y="1776401"/>
            <a:ext cx="4896544" cy="325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949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394521" y="5164106"/>
            <a:ext cx="4430893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Trabajamos en equipo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146" y="1988840"/>
            <a:ext cx="5159174" cy="2975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091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278296" y="5164106"/>
            <a:ext cx="4663328" cy="646331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Trabajamos en silencio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1549606" y="1130070"/>
            <a:ext cx="6120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Ámbito: </a:t>
            </a:r>
            <a:r>
              <a:rPr lang="es-CL" dirty="0" smtClean="0"/>
              <a:t>Desarrollo personal y Social.</a:t>
            </a:r>
          </a:p>
          <a:p>
            <a:pPr algn="ctr"/>
            <a:r>
              <a:rPr lang="es-CL" b="1" dirty="0" smtClean="0"/>
              <a:t>Núcleo: </a:t>
            </a:r>
            <a:r>
              <a:rPr lang="es-CL" dirty="0" smtClean="0"/>
              <a:t>Convivencia y ciudadanía.</a:t>
            </a:r>
            <a:endParaRPr lang="es-CL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88840"/>
            <a:ext cx="3096344" cy="3054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1928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348880"/>
            <a:ext cx="2952328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034334" y="908720"/>
            <a:ext cx="74353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otras normas podemos crear en conjunto?</a:t>
            </a:r>
            <a:endParaRPr lang="es-ES" sz="28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3 Llamada de nube"/>
          <p:cNvSpPr/>
          <p:nvPr/>
        </p:nvSpPr>
        <p:spPr>
          <a:xfrm>
            <a:off x="1259632" y="1959344"/>
            <a:ext cx="2520280" cy="1348988"/>
          </a:xfrm>
          <a:prstGeom prst="cloudCallout">
            <a:avLst>
              <a:gd name="adj1" fmla="val 37987"/>
              <a:gd name="adj2" fmla="val 5941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Llamada de nube"/>
          <p:cNvSpPr/>
          <p:nvPr/>
        </p:nvSpPr>
        <p:spPr>
          <a:xfrm>
            <a:off x="5724128" y="1791980"/>
            <a:ext cx="2520280" cy="1348988"/>
          </a:xfrm>
          <a:prstGeom prst="cloudCallout">
            <a:avLst>
              <a:gd name="adj1" fmla="val -41173"/>
              <a:gd name="adj2" fmla="val 6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Llamada de nube"/>
          <p:cNvSpPr/>
          <p:nvPr/>
        </p:nvSpPr>
        <p:spPr>
          <a:xfrm>
            <a:off x="683568" y="4293096"/>
            <a:ext cx="2520280" cy="1348988"/>
          </a:xfrm>
          <a:prstGeom prst="cloudCallout">
            <a:avLst>
              <a:gd name="adj1" fmla="val 62175"/>
              <a:gd name="adj2" fmla="val -528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9 Llamada de nube"/>
          <p:cNvSpPr/>
          <p:nvPr/>
        </p:nvSpPr>
        <p:spPr>
          <a:xfrm>
            <a:off x="6025566" y="4437112"/>
            <a:ext cx="2520280" cy="1348988"/>
          </a:xfrm>
          <a:prstGeom prst="cloudCallout">
            <a:avLst>
              <a:gd name="adj1" fmla="val -68659"/>
              <a:gd name="adj2" fmla="val -18635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4 CuadroTexto"/>
          <p:cNvSpPr txBox="1"/>
          <p:nvPr/>
        </p:nvSpPr>
        <p:spPr>
          <a:xfrm>
            <a:off x="827584" y="1368066"/>
            <a:ext cx="7718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Con la ayuda de tu profesor (a) piensen en nuevas normas del aula.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164513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5299</TotalTime>
  <Words>369</Words>
  <Application>Microsoft Office PowerPoint</Application>
  <PresentationFormat>Presentación en pantalla (4:3)</PresentationFormat>
  <Paragraphs>51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14</cp:revision>
  <dcterms:created xsi:type="dcterms:W3CDTF">2020-01-25T23:17:52Z</dcterms:created>
  <dcterms:modified xsi:type="dcterms:W3CDTF">2020-01-29T15:36:58Z</dcterms:modified>
</cp:coreProperties>
</file>