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DC165-BCFB-477F-A77F-37353B959F0F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81F2-77CC-4056-8074-70FE4AB06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761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DC165-BCFB-477F-A77F-37353B959F0F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81F2-77CC-4056-8074-70FE4AB06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1992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DC165-BCFB-477F-A77F-37353B959F0F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81F2-77CC-4056-8074-70FE4AB06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3214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DC165-BCFB-477F-A77F-37353B959F0F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81F2-77CC-4056-8074-70FE4AB06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08785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DC165-BCFB-477F-A77F-37353B959F0F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81F2-77CC-4056-8074-70FE4AB06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5888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DC165-BCFB-477F-A77F-37353B959F0F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81F2-77CC-4056-8074-70FE4AB06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6680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DC165-BCFB-477F-A77F-37353B959F0F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81F2-77CC-4056-8074-70FE4AB06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631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DC165-BCFB-477F-A77F-37353B959F0F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81F2-77CC-4056-8074-70FE4AB06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7948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DC165-BCFB-477F-A77F-37353B959F0F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81F2-77CC-4056-8074-70FE4AB06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9687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DC165-BCFB-477F-A77F-37353B959F0F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81F2-77CC-4056-8074-70FE4AB06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0712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DC165-BCFB-477F-A77F-37353B959F0F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181F2-77CC-4056-8074-70FE4AB06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4479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DC165-BCFB-477F-A77F-37353B959F0F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181F2-77CC-4056-8074-70FE4AB0628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266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0" y="0"/>
            <a:ext cx="9133059" cy="6858000"/>
          </a:xfrm>
          <a:prstGeom prst="rect">
            <a:avLst/>
          </a:prstGeom>
          <a:ln w="228600" cap="sq" cmpd="thickThin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2453233" y="4365104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smtClean="0"/>
              <a:t>ÀMBITO: </a:t>
            </a:r>
            <a:r>
              <a:rPr lang="es-CL" sz="2400" dirty="0" smtClean="0"/>
              <a:t>Comunicación Integral</a:t>
            </a:r>
          </a:p>
          <a:p>
            <a:r>
              <a:rPr lang="es-CL" sz="2400" b="1" dirty="0" smtClean="0"/>
              <a:t>NÙCLEO: </a:t>
            </a:r>
            <a:r>
              <a:rPr lang="es-CL" sz="2400" dirty="0" smtClean="0"/>
              <a:t>Lenguaje verbal</a:t>
            </a:r>
            <a:endParaRPr lang="es-CL" sz="2400" dirty="0"/>
          </a:p>
        </p:txBody>
      </p:sp>
      <p:sp>
        <p:nvSpPr>
          <p:cNvPr id="5" name="4 Rectángulo"/>
          <p:cNvSpPr/>
          <p:nvPr/>
        </p:nvSpPr>
        <p:spPr>
          <a:xfrm>
            <a:off x="107502" y="6021288"/>
            <a:ext cx="9036495" cy="707886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reflection blurRad="12700" stA="28000" endPos="45000" dist="1000" dir="5400000" sy="-100000" algn="bl" rotWithShape="0"/>
                </a:effectLst>
                <a:latin typeface="Constantia" pitchFamily="18" charset="0"/>
              </a:rPr>
              <a:t>Jugando con sílabas iniciales</a:t>
            </a:r>
            <a:endParaRPr lang="es-ES" sz="4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002060"/>
              </a:solidFill>
              <a:effectLst>
                <a:reflection blurRad="12700" stA="28000" endPos="45000" dist="1000" dir="5400000" sy="-100000" algn="bl" rotWithShape="0"/>
              </a:effectLst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111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297" y="2780928"/>
            <a:ext cx="5295111" cy="344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103187" y="908720"/>
            <a:ext cx="72008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 smtClean="0"/>
              <a:t>OBJETIVO DE APRENDIZAJE:  </a:t>
            </a:r>
            <a:endParaRPr lang="es-CL" b="1" dirty="0" smtClean="0"/>
          </a:p>
          <a:p>
            <a:r>
              <a:rPr lang="es-CL" sz="2000" dirty="0" smtClean="0">
                <a:latin typeface="Arial" pitchFamily="34" charset="0"/>
                <a:cs typeface="Arial" pitchFamily="34" charset="0"/>
              </a:rPr>
              <a:t>Descubrir en contextos lúdicos fonológicos de palabras conocidas, tales como sonidos finales.   </a:t>
            </a:r>
          </a:p>
          <a:p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140327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083217" y="764704"/>
            <a:ext cx="696594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Sílaba Inicial: ( ejemplos) </a:t>
            </a:r>
            <a:endParaRPr lang="es-E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AutoShape 2" descr="Resultado de imagen para mama dibuj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4" descr="Resultado de imagen para mama dibuj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3078" name="Picture 6" descr="Resultado de imagen para mariposa dibuj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006" y="1988840"/>
            <a:ext cx="3711390" cy="30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051720" y="4725144"/>
            <a:ext cx="5028941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none" spc="0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Ma</a:t>
            </a:r>
            <a:r>
              <a:rPr lang="es-ES" sz="96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riposa</a:t>
            </a:r>
            <a:endParaRPr lang="es-ES" sz="9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817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dibujo de mochil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45" r="20921"/>
          <a:stretch/>
        </p:blipFill>
        <p:spPr bwMode="auto">
          <a:xfrm>
            <a:off x="2915816" y="1688034"/>
            <a:ext cx="2563091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007866" y="764704"/>
            <a:ext cx="48058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Sílaba Inicial: </a:t>
            </a:r>
            <a:endParaRPr lang="es-ES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2410793" y="4725144"/>
            <a:ext cx="431079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none" spc="0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Mo</a:t>
            </a:r>
            <a:r>
              <a:rPr lang="es-ES" sz="96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chila</a:t>
            </a:r>
            <a:endParaRPr lang="es-ES" sz="9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1062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007866" y="764704"/>
            <a:ext cx="48058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Sílaba Inicial: </a:t>
            </a:r>
            <a:endParaRPr lang="es-ES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2427625" y="4725144"/>
            <a:ext cx="427713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Pa</a:t>
            </a:r>
            <a:r>
              <a:rPr lang="es-ES" sz="9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loma</a:t>
            </a:r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9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5122" name="Picture 2" descr="Resultado de imagen para dibujo de palom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844824"/>
            <a:ext cx="4824536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1784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87624" y="695549"/>
            <a:ext cx="310411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Practiquemos:</a:t>
            </a:r>
            <a:endParaRPr lang="es-ES" sz="32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971600" y="1280324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Identifica las sílabas iniciales de cada uno de los animales. </a:t>
            </a:r>
            <a:endParaRPr lang="es-CL" dirty="0"/>
          </a:p>
        </p:txBody>
      </p:sp>
      <p:pic>
        <p:nvPicPr>
          <p:cNvPr id="6146" name="Picture 2" descr="Resultado de imagen para dibujo de perr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113" y="1617218"/>
            <a:ext cx="2485180" cy="248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Resultado de imagen para dibujo de gat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964" y="4029572"/>
            <a:ext cx="2012740" cy="2125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8" descr="Resultado de imagen para dibujo de mon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6154" name="Picture 10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014" y="3880522"/>
            <a:ext cx="2325479" cy="2325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Resultado de imagen para dibujo de tor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253" y="1660985"/>
            <a:ext cx="2514163" cy="2514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Resultado de imagen para dibujo de vac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898" y="4063091"/>
            <a:ext cx="2536953" cy="214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 descr="Resultado de imagen para dibujo de gallin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428" y="1818658"/>
            <a:ext cx="2399541" cy="2082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2625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Resultado de imagen para dibujo de raque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979" y="1700808"/>
            <a:ext cx="5616624" cy="3147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971600" y="908720"/>
            <a:ext cx="682725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con qué sílaba comienza?</a:t>
            </a:r>
            <a:endParaRPr lang="es-ES" sz="4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2207021" y="4725144"/>
            <a:ext cx="4718343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Ra</a:t>
            </a:r>
            <a:r>
              <a:rPr lang="es-ES" sz="9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queta</a:t>
            </a:r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9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127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71600" y="908720"/>
            <a:ext cx="682725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con qué sílaba comienza?</a:t>
            </a:r>
            <a:endParaRPr lang="es-ES" sz="4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3116115" y="4725144"/>
            <a:ext cx="2900153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Ni</a:t>
            </a:r>
            <a:r>
              <a:rPr lang="es-ES" sz="9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do</a:t>
            </a:r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9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3316" name="Picture 4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82" y="1700808"/>
            <a:ext cx="4685652" cy="317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1100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71600" y="908720"/>
            <a:ext cx="682725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con qué sílaba comienza?</a:t>
            </a:r>
            <a:endParaRPr lang="es-ES" sz="4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493922" y="4581128"/>
            <a:ext cx="630493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Di</a:t>
            </a:r>
            <a:r>
              <a:rPr lang="es-ES" sz="9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nosaurio</a:t>
            </a:r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 </a:t>
            </a:r>
            <a:endParaRPr lang="es-ES" sz="9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229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156" y="1700808"/>
            <a:ext cx="4176464" cy="318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945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71600" y="908720"/>
            <a:ext cx="682725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con qué sílaba comienza?</a:t>
            </a:r>
            <a:endParaRPr lang="es-ES" sz="4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3129383" y="4797152"/>
            <a:ext cx="2912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Lu</a:t>
            </a:r>
            <a:r>
              <a:rPr lang="es-ES" sz="9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na</a:t>
            </a:r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9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4" name="AutoShape 2" descr="Resultado de imagen para dibujo de lu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1268" name="Picture 4" descr="Resultado de imagen para dibujo de lun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538" y="1626981"/>
            <a:ext cx="4163377" cy="365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7915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71600" y="908720"/>
            <a:ext cx="682725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con qué sílaba comienza?</a:t>
            </a:r>
            <a:endParaRPr lang="es-ES" sz="4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3198825" y="4797152"/>
            <a:ext cx="277409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Ra</a:t>
            </a:r>
            <a:r>
              <a:rPr lang="es-ES" sz="9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ta</a:t>
            </a:r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9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4682" y="1616606"/>
            <a:ext cx="2977678" cy="3183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0708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71600" y="908720"/>
            <a:ext cx="682725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con qué sílaba comienza?</a:t>
            </a:r>
            <a:endParaRPr lang="es-ES" sz="4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616606"/>
            <a:ext cx="3231802" cy="3231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3220241" y="4797152"/>
            <a:ext cx="273126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Lo</a:t>
            </a:r>
            <a:r>
              <a:rPr lang="es-ES" sz="9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ro</a:t>
            </a:r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9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61430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71600" y="908720"/>
            <a:ext cx="682725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con qué sílaba comienza?</a:t>
            </a:r>
            <a:endParaRPr lang="es-ES" sz="4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3030799" y="4797152"/>
            <a:ext cx="311014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Mu</a:t>
            </a:r>
            <a:r>
              <a:rPr lang="es-ES" sz="9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la</a:t>
            </a:r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9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640" y="1616606"/>
            <a:ext cx="3907560" cy="331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1991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263235" y="4797152"/>
            <a:ext cx="2645276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</a:t>
            </a:r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</a:t>
            </a:r>
            <a:r>
              <a:rPr lang="es-ES" sz="9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ja</a:t>
            </a:r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9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08720"/>
            <a:ext cx="7194550" cy="112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772816"/>
            <a:ext cx="4536504" cy="3153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3244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08720"/>
            <a:ext cx="7194550" cy="112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2632327" y="4797152"/>
            <a:ext cx="390709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Te</a:t>
            </a:r>
            <a:r>
              <a:rPr lang="es-ES" sz="9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tera</a:t>
            </a:r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 </a:t>
            </a:r>
            <a:endParaRPr lang="es-ES" sz="9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635" y="1844824"/>
            <a:ext cx="3888432" cy="3046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0190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692696"/>
            <a:ext cx="7194550" cy="112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703932" y="4797152"/>
            <a:ext cx="576388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Pa</a:t>
            </a:r>
            <a:r>
              <a:rPr lang="es-ES" sz="9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lomitas</a:t>
            </a:r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 </a:t>
            </a:r>
            <a:endParaRPr lang="es-ES" sz="9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968" y="1628800"/>
            <a:ext cx="3170184" cy="340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1600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08720"/>
            <a:ext cx="7194550" cy="112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2563527" y="4797152"/>
            <a:ext cx="404469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Fi</a:t>
            </a:r>
            <a:r>
              <a:rPr lang="es-ES" sz="9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deos </a:t>
            </a:r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9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566" y="1700808"/>
            <a:ext cx="4409690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6043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08720"/>
            <a:ext cx="7194550" cy="112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2694463" y="4797152"/>
            <a:ext cx="3782830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Bo</a:t>
            </a:r>
            <a:r>
              <a:rPr lang="es-ES" sz="9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tella</a:t>
            </a:r>
            <a:endParaRPr lang="es-ES" sz="9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463" y="1772816"/>
            <a:ext cx="3533721" cy="329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154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08720"/>
            <a:ext cx="7194550" cy="112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628800"/>
            <a:ext cx="3384376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709403" y="4797152"/>
            <a:ext cx="3752950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Ga</a:t>
            </a:r>
            <a:r>
              <a:rPr lang="es-ES" sz="96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llina</a:t>
            </a:r>
            <a:endParaRPr lang="es-ES" sz="9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868351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115</Words>
  <Application>Microsoft Office PowerPoint</Application>
  <PresentationFormat>Presentación en pantalla (4:3)</PresentationFormat>
  <Paragraphs>33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0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9</cp:revision>
  <dcterms:created xsi:type="dcterms:W3CDTF">2019-12-27T23:10:41Z</dcterms:created>
  <dcterms:modified xsi:type="dcterms:W3CDTF">2020-01-22T21:28:08Z</dcterms:modified>
</cp:coreProperties>
</file>