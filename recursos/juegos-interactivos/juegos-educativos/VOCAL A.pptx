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embeddedFontLst>
    <p:embeddedFont>
      <p:font typeface="Corben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22" roundtripDataSignature="AMtx7mj/kS4/DbexvD7kfKr8nuawa+E8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Corben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Relationship Id="rId4" Type="http://schemas.openxmlformats.org/officeDocument/2006/relationships/image" Target="../media/image11.jpg"/><Relationship Id="rId5" Type="http://schemas.openxmlformats.org/officeDocument/2006/relationships/image" Target="../media/image15.jpg"/><Relationship Id="rId6" Type="http://schemas.openxmlformats.org/officeDocument/2006/relationships/image" Target="../media/image1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741368"/>
          </a:xfrm>
          <a:prstGeom prst="rect">
            <a:avLst/>
          </a:prstGeom>
          <a:noFill/>
          <a:ln cap="flat" cmpd="sng" w="5715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89" name="Google Shape;89;p1"/>
          <p:cNvSpPr/>
          <p:nvPr/>
        </p:nvSpPr>
        <p:spPr>
          <a:xfrm>
            <a:off x="660197" y="5229200"/>
            <a:ext cx="8016259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FC7876"/>
                </a:solidFill>
                <a:latin typeface="Corben"/>
                <a:ea typeface="Corben"/>
                <a:cs typeface="Corben"/>
                <a:sym typeface="Corben"/>
              </a:rPr>
              <a:t>Aprenderemos: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FC7876"/>
                </a:solidFill>
                <a:latin typeface="Corben"/>
                <a:ea typeface="Corben"/>
                <a:cs typeface="Corben"/>
                <a:sym typeface="Corben"/>
              </a:rPr>
              <a:t>Vocal A   </a:t>
            </a:r>
            <a:endParaRPr b="1" i="0" sz="4400" u="none" cap="none" strike="noStrike">
              <a:solidFill>
                <a:srgbClr val="FC7876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1115616" y="980728"/>
            <a:ext cx="6984776" cy="1368152"/>
          </a:xfrm>
          <a:prstGeom prst="wedgeEllipseCallout">
            <a:avLst>
              <a:gd fmla="val -39692" name="adj1"/>
              <a:gd fmla="val 79335" name="adj2"/>
            </a:avLst>
          </a:prstGeom>
          <a:solidFill>
            <a:srgbClr val="00B0F0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!Hola! Mi nombre es Amalia.  Hoy aprenderemos la Vocal A. 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VOCAL a color"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777" y="2780928"/>
            <a:ext cx="1923736" cy="2304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96" name="Google Shape;96;p2"/>
          <p:cNvPicPr preferRelativeResize="0"/>
          <p:nvPr/>
        </p:nvPicPr>
        <p:blipFill rotWithShape="1">
          <a:blip r:embed="rId4">
            <a:alphaModFix/>
          </a:blip>
          <a:srcRect b="12297" l="12204" r="16655" t="26314"/>
          <a:stretch/>
        </p:blipFill>
        <p:spPr>
          <a:xfrm>
            <a:off x="4608004" y="2564904"/>
            <a:ext cx="1692188" cy="18776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VOCAL a color" id="97" name="Google Shape;9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0152" y="4365104"/>
            <a:ext cx="2160240" cy="1537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dibujo abeja"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753" y="1196752"/>
            <a:ext cx="4824534" cy="361452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2152432" y="4822672"/>
            <a:ext cx="501185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ABEJA</a:t>
            </a:r>
            <a:endParaRPr b="1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2152432" y="4822672"/>
            <a:ext cx="501185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1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AUTO"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2432" y="2409215"/>
            <a:ext cx="5875849" cy="2448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2152432" y="4822672"/>
            <a:ext cx="501185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AVIÒN</a:t>
            </a:r>
            <a:endParaRPr b="1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AVIÒN"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7787" y="1412776"/>
            <a:ext cx="4924425" cy="329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2152432" y="4822672"/>
            <a:ext cx="501185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ÀRBOL</a:t>
            </a:r>
            <a:endParaRPr b="1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ARBOL"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784" y="890139"/>
            <a:ext cx="4704146" cy="3932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2152432" y="4822672"/>
            <a:ext cx="501185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AJO</a:t>
            </a:r>
            <a:endParaRPr b="1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AJO"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9832" y="1291486"/>
            <a:ext cx="4248472" cy="3902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2152432" y="4822672"/>
            <a:ext cx="501185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ANILLO</a:t>
            </a:r>
            <a:endParaRPr b="1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ANILLO"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785" y="1367225"/>
            <a:ext cx="4032448" cy="3484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2152432" y="4822672"/>
            <a:ext cx="501185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ABANICO</a:t>
            </a:r>
            <a:endParaRPr b="1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ABANICO" id="139" name="Google Shape;139;p9"/>
          <p:cNvPicPr preferRelativeResize="0"/>
          <p:nvPr/>
        </p:nvPicPr>
        <p:blipFill rotWithShape="1">
          <a:blip r:embed="rId3">
            <a:alphaModFix/>
          </a:blip>
          <a:srcRect b="20906" l="0" r="0" t="11561"/>
          <a:stretch/>
        </p:blipFill>
        <p:spPr>
          <a:xfrm>
            <a:off x="2483768" y="1245987"/>
            <a:ext cx="5217514" cy="3839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/>
          <p:nvPr/>
        </p:nvSpPr>
        <p:spPr>
          <a:xfrm>
            <a:off x="2152432" y="4822672"/>
            <a:ext cx="501185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ÀNGEL </a:t>
            </a:r>
            <a:endParaRPr b="1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relacionada" id="145" name="Google Shape;14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760" y="1196752"/>
            <a:ext cx="5544616" cy="374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sopa de vocales" id="150" name="Google Shape;150;p11"/>
          <p:cNvPicPr preferRelativeResize="0"/>
          <p:nvPr/>
        </p:nvPicPr>
        <p:blipFill rotWithShape="1">
          <a:blip r:embed="rId3">
            <a:alphaModFix/>
          </a:blip>
          <a:srcRect b="16763" l="0" r="39696" t="6158"/>
          <a:stretch/>
        </p:blipFill>
        <p:spPr>
          <a:xfrm>
            <a:off x="2483768" y="2060848"/>
            <a:ext cx="5760640" cy="382971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1"/>
          <p:cNvSpPr txBox="1"/>
          <p:nvPr/>
        </p:nvSpPr>
        <p:spPr>
          <a:xfrm>
            <a:off x="1043608" y="980728"/>
            <a:ext cx="6984776" cy="830997"/>
          </a:xfrm>
          <a:prstGeom prst="rect">
            <a:avLst/>
          </a:prstGeom>
          <a:gradFill>
            <a:gsLst>
              <a:gs pos="0">
                <a:srgbClr val="DAFEA4"/>
              </a:gs>
              <a:gs pos="35000">
                <a:srgbClr val="E3FEBF"/>
              </a:gs>
              <a:gs pos="100000">
                <a:srgbClr val="F4FEE6"/>
              </a:gs>
            </a:gsLst>
            <a:lin ang="16200000" scaled="0"/>
          </a:gradFill>
          <a:ln cap="flat" cmpd="sng" w="9525">
            <a:solidFill>
              <a:srgbClr val="97B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Ayuda a Amalia a buscar tocas las vocales A que encuentres.  Marca con una ( x).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/>
          <p:nvPr/>
        </p:nvSpPr>
        <p:spPr>
          <a:xfrm>
            <a:off x="1346052" y="1067544"/>
            <a:ext cx="63079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cap="none">
                <a:solidFill>
                  <a:srgbClr val="A04400"/>
                </a:solidFill>
                <a:latin typeface="Arial"/>
                <a:ea typeface="Arial"/>
                <a:cs typeface="Arial"/>
                <a:sym typeface="Arial"/>
              </a:rPr>
              <a:t>¿Qué elemento comienza con la vocal A? </a:t>
            </a:r>
            <a:endParaRPr b="1" sz="2400" cap="none">
              <a:solidFill>
                <a:srgbClr val="A044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sultado de imagen para dibujo de elefante" id="157" name="Google Shape;157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elefante" id="158" name="Google Shape;1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750" y="3518648"/>
            <a:ext cx="2160241" cy="2156790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sultado de imagen para dibujo de olla" id="159" name="Google Shape;159;p12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esultado de imagen para dibujo de olla" id="160" name="Google Shape;160;p12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olla" id="161" name="Google Shape;16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2120" y="1827795"/>
            <a:ext cx="2232248" cy="1681162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sultado de imagen para dibujo de alicate" id="162" name="Google Shape;162;p12"/>
          <p:cNvSpPr/>
          <p:nvPr/>
        </p:nvSpPr>
        <p:spPr>
          <a:xfrm>
            <a:off x="612775" y="3127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esultado de imagen para dibujo de alicate" id="163" name="Google Shape;163;p12"/>
          <p:cNvSpPr/>
          <p:nvPr/>
        </p:nvSpPr>
        <p:spPr>
          <a:xfrm>
            <a:off x="765175" y="4651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dibujo de alicate" id="164" name="Google Shape;164;p12"/>
          <p:cNvPicPr preferRelativeResize="0"/>
          <p:nvPr/>
        </p:nvPicPr>
        <p:blipFill rotWithShape="1">
          <a:blip r:embed="rId5">
            <a:alphaModFix/>
          </a:blip>
          <a:srcRect b="23454" l="9327" r="11166" t="24474"/>
          <a:stretch/>
        </p:blipFill>
        <p:spPr>
          <a:xfrm>
            <a:off x="2627784" y="4265912"/>
            <a:ext cx="2281967" cy="14945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relacionada" id="165" name="Google Shape;16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76300" y="1827795"/>
            <a:ext cx="3034449" cy="1889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/>
          <p:nvPr/>
        </p:nvSpPr>
        <p:spPr>
          <a:xfrm>
            <a:off x="899593" y="980728"/>
            <a:ext cx="7274588" cy="830997"/>
          </a:xfrm>
          <a:prstGeom prst="rect">
            <a:avLst/>
          </a:prstGeom>
          <a:gradFill>
            <a:gsLst>
              <a:gs pos="0">
                <a:srgbClr val="FFA09D"/>
              </a:gs>
              <a:gs pos="35000">
                <a:srgbClr val="FFBCBC"/>
              </a:gs>
              <a:gs pos="100000">
                <a:srgbClr val="FFE2E2"/>
              </a:gs>
            </a:gsLst>
            <a:lin ang="16200000" scaled="0"/>
          </a:gradFill>
          <a:ln cap="flat" cmpd="sng" w="9525">
            <a:solidFill>
              <a:srgbClr val="BD4B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Remarca las vocales A y nombra un elemento que comience con ella.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7950" y="1919550"/>
            <a:ext cx="5396525" cy="426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/>
          <p:nvPr/>
        </p:nvSpPr>
        <p:spPr>
          <a:xfrm>
            <a:off x="827584" y="1196752"/>
            <a:ext cx="72008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600" cap="none">
                <a:solidFill>
                  <a:srgbClr val="A04400"/>
                </a:solidFill>
                <a:latin typeface="Corben"/>
                <a:ea typeface="Corben"/>
                <a:cs typeface="Corben"/>
                <a:sym typeface="Corben"/>
              </a:rPr>
              <a:t>¿ Qué elementos comienzan con la vocal A?</a:t>
            </a:r>
            <a:endParaRPr b="1" sz="3600" cap="none">
              <a:solidFill>
                <a:srgbClr val="A0440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pic>
        <p:nvPicPr>
          <p:cNvPr descr="Resultado de imagen para signo pregunta" id="177" name="Google Shape;177;p14"/>
          <p:cNvPicPr preferRelativeResize="0"/>
          <p:nvPr/>
        </p:nvPicPr>
        <p:blipFill rotWithShape="1">
          <a:blip r:embed="rId3">
            <a:alphaModFix/>
          </a:blip>
          <a:srcRect b="23836" l="0" r="0" t="13764"/>
          <a:stretch/>
        </p:blipFill>
        <p:spPr>
          <a:xfrm>
            <a:off x="2267744" y="2397081"/>
            <a:ext cx="5184576" cy="33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rticulacion vocal a" id="182" name="Google Shape;182;p15"/>
          <p:cNvPicPr preferRelativeResize="0"/>
          <p:nvPr/>
        </p:nvPicPr>
        <p:blipFill rotWithShape="1">
          <a:blip r:embed="rId3">
            <a:alphaModFix/>
          </a:blip>
          <a:srcRect b="0" l="18716" r="62569" t="40014"/>
          <a:stretch/>
        </p:blipFill>
        <p:spPr>
          <a:xfrm>
            <a:off x="2699792" y="2492896"/>
            <a:ext cx="3960440" cy="345638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/>
          <p:nvPr/>
        </p:nvSpPr>
        <p:spPr>
          <a:xfrm>
            <a:off x="1202075" y="1124744"/>
            <a:ext cx="695587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5400" cap="none">
                <a:solidFill>
                  <a:srgbClr val="A04400"/>
                </a:solidFill>
                <a:latin typeface="Calibri"/>
                <a:ea typeface="Calibri"/>
                <a:cs typeface="Calibri"/>
                <a:sym typeface="Calibri"/>
              </a:rPr>
              <a:t>Todos juntos digamos A</a:t>
            </a:r>
            <a:endParaRPr b="1" sz="5400" cap="none">
              <a:solidFill>
                <a:srgbClr val="A044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2019-12-17T22:09:23Z</dcterms:created>
  <dc:creator>Manuel Alvarado</dc:creator>
</cp:coreProperties>
</file>