
<file path=[Content_Types].xml><?xml version="1.0" encoding="utf-8"?>
<Types xmlns="http://schemas.openxmlformats.org/package/2006/content-types">
  <Default Extension="mp3" ContentType="audio/mpeg"/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3D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Hoja1!$A$2:$A$6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036CA-8C4F-4D5A-9307-CA5A1C9BA3BF}" type="datetimeFigureOut">
              <a:rPr lang="es-ES" smtClean="0"/>
              <a:t>15/04/2021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CC6E4-D4C0-40D7-8CE7-1B579F18CA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7656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036CA-8C4F-4D5A-9307-CA5A1C9BA3BF}" type="datetimeFigureOut">
              <a:rPr lang="es-ES" smtClean="0"/>
              <a:t>15/04/2021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CC6E4-D4C0-40D7-8CE7-1B579F18CA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3406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036CA-8C4F-4D5A-9307-CA5A1C9BA3BF}" type="datetimeFigureOut">
              <a:rPr lang="es-ES" smtClean="0"/>
              <a:t>15/04/2021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CC6E4-D4C0-40D7-8CE7-1B579F18CA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455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036CA-8C4F-4D5A-9307-CA5A1C9BA3BF}" type="datetimeFigureOut">
              <a:rPr lang="es-ES" smtClean="0"/>
              <a:t>15/04/2021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CC6E4-D4C0-40D7-8CE7-1B579F18CA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4536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036CA-8C4F-4D5A-9307-CA5A1C9BA3BF}" type="datetimeFigureOut">
              <a:rPr lang="es-ES" smtClean="0"/>
              <a:t>15/04/2021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CC6E4-D4C0-40D7-8CE7-1B579F18CA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7878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036CA-8C4F-4D5A-9307-CA5A1C9BA3BF}" type="datetimeFigureOut">
              <a:rPr lang="es-ES" smtClean="0"/>
              <a:t>15/04/2021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CC6E4-D4C0-40D7-8CE7-1B579F18CA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4284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036CA-8C4F-4D5A-9307-CA5A1C9BA3BF}" type="datetimeFigureOut">
              <a:rPr lang="es-ES" smtClean="0"/>
              <a:t>15/04/2021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CC6E4-D4C0-40D7-8CE7-1B579F18CA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2003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036CA-8C4F-4D5A-9307-CA5A1C9BA3BF}" type="datetimeFigureOut">
              <a:rPr lang="es-ES" smtClean="0"/>
              <a:t>15/04/2021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CC6E4-D4C0-40D7-8CE7-1B579F18CA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9978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036CA-8C4F-4D5A-9307-CA5A1C9BA3BF}" type="datetimeFigureOut">
              <a:rPr lang="es-ES" smtClean="0"/>
              <a:t>15/04/2021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CC6E4-D4C0-40D7-8CE7-1B579F18CA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7439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036CA-8C4F-4D5A-9307-CA5A1C9BA3BF}" type="datetimeFigureOut">
              <a:rPr lang="es-ES" smtClean="0"/>
              <a:t>15/04/2021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CC6E4-D4C0-40D7-8CE7-1B579F18CA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4060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036CA-8C4F-4D5A-9307-CA5A1C9BA3BF}" type="datetimeFigureOut">
              <a:rPr lang="es-ES" smtClean="0"/>
              <a:t>15/04/2021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CC6E4-D4C0-40D7-8CE7-1B579F18CA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379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036CA-8C4F-4D5A-9307-CA5A1C9BA3BF}" type="datetimeFigureOut">
              <a:rPr lang="es-ES" smtClean="0"/>
              <a:t>15/04/2021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CC6E4-D4C0-40D7-8CE7-1B579F18CA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1984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gif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12" Type="http://schemas.microsoft.com/office/2007/relationships/hdphoto" Target="../media/hdphoto2.wdp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openxmlformats.org/officeDocument/2006/relationships/image" Target="../media/image2.emf"/><Relationship Id="rId10" Type="http://schemas.microsoft.com/office/2007/relationships/hdphoto" Target="../media/hdphoto1.wdp"/><Relationship Id="rId4" Type="http://schemas.openxmlformats.org/officeDocument/2006/relationships/image" Target="../media/image1.jpe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slide" Target="slide5.xml"/><Relationship Id="rId12" Type="http://schemas.microsoft.com/office/2007/relationships/hdphoto" Target="../media/hdphoto4.wdp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openxmlformats.org/officeDocument/2006/relationships/image" Target="../media/image13.png"/><Relationship Id="rId5" Type="http://schemas.openxmlformats.org/officeDocument/2006/relationships/image" Target="../media/image12.emf"/><Relationship Id="rId15" Type="http://schemas.openxmlformats.org/officeDocument/2006/relationships/image" Target="../media/image15.gif"/><Relationship Id="rId10" Type="http://schemas.openxmlformats.org/officeDocument/2006/relationships/slide" Target="slide8.xml"/><Relationship Id="rId4" Type="http://schemas.microsoft.com/office/2007/relationships/hdphoto" Target="../media/hdphoto3.wdp"/><Relationship Id="rId9" Type="http://schemas.openxmlformats.org/officeDocument/2006/relationships/slide" Target="slide7.xml"/><Relationship Id="rId14" Type="http://schemas.microsoft.com/office/2007/relationships/hdphoto" Target="../media/hdphoto5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1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1.xml"/><Relationship Id="rId4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1.xml"/><Relationship Id="rId4" Type="http://schemas.openxmlformats.org/officeDocument/2006/relationships/slide" Target="sl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1.xml"/><Relationship Id="rId4" Type="http://schemas.openxmlformats.org/officeDocument/2006/relationships/slide" Target="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1.xml"/><Relationship Id="rId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Fondos para niños | Fondos de Pantall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63" y="65196"/>
            <a:ext cx="11843118" cy="6728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7 Grupo"/>
          <p:cNvGrpSpPr/>
          <p:nvPr/>
        </p:nvGrpSpPr>
        <p:grpSpPr>
          <a:xfrm>
            <a:off x="7032104" y="4005065"/>
            <a:ext cx="3024335" cy="2633145"/>
            <a:chOff x="5508104" y="4005064"/>
            <a:chExt cx="3024335" cy="2633145"/>
          </a:xfrm>
        </p:grpSpPr>
        <p:sp>
          <p:nvSpPr>
            <p:cNvPr id="6" name="5 Trapecio"/>
            <p:cNvSpPr/>
            <p:nvPr/>
          </p:nvSpPr>
          <p:spPr>
            <a:xfrm>
              <a:off x="6292378" y="4005064"/>
              <a:ext cx="1283010" cy="2016224"/>
            </a:xfrm>
            <a:prstGeom prst="trapezoid">
              <a:avLst/>
            </a:prstGeom>
            <a:solidFill>
              <a:srgbClr val="CC3399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5508104" y="6020102"/>
              <a:ext cx="3024335" cy="618107"/>
            </a:xfrm>
            <a:prstGeom prst="rect">
              <a:avLst/>
            </a:prstGeom>
            <a:solidFill>
              <a:srgbClr val="CC3399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11" name="Ruleta"/>
          <p:cNvGrpSpPr/>
          <p:nvPr/>
        </p:nvGrpSpPr>
        <p:grpSpPr>
          <a:xfrm>
            <a:off x="5285815" y="99483"/>
            <a:ext cx="6094413" cy="4062413"/>
            <a:chOff x="3761814" y="99482"/>
            <a:chExt cx="6094413" cy="4062413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61814" y="99482"/>
              <a:ext cx="6094413" cy="40624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9 CuadroTexto"/>
            <p:cNvSpPr txBox="1"/>
            <p:nvPr/>
          </p:nvSpPr>
          <p:spPr>
            <a:xfrm rot="7695326">
              <a:off x="5574086" y="772035"/>
              <a:ext cx="1233676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200" b="1" dirty="0">
                  <a:latin typeface="Comic Sans MS" panose="030F0702030302020204" pitchFamily="66" charset="0"/>
                </a:rPr>
                <a:t>¿</a:t>
              </a:r>
              <a:r>
                <a:rPr lang="es-MX" sz="1300" b="1" dirty="0">
                  <a:latin typeface="Arial Black" panose="020B0A04020102020204" pitchFamily="34" charset="0"/>
                </a:rPr>
                <a:t>Qué cambiarias del final de la historia?</a:t>
              </a:r>
              <a:endParaRPr lang="es-MX" sz="1300" b="1" dirty="0">
                <a:latin typeface="Arial Black" panose="020B0A04020102020204" pitchFamily="34" charset="0"/>
              </a:endParaRPr>
            </a:p>
          </p:txBody>
        </p:sp>
        <p:sp>
          <p:nvSpPr>
            <p:cNvPr id="9" name="8 Rectángulo"/>
            <p:cNvSpPr/>
            <p:nvPr/>
          </p:nvSpPr>
          <p:spPr>
            <a:xfrm rot="4046110">
              <a:off x="5112327" y="1942099"/>
              <a:ext cx="1205880" cy="12926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MX" sz="1300" b="1" dirty="0">
                  <a:latin typeface="Arial Black" panose="020B0A04020102020204" pitchFamily="34" charset="0"/>
                </a:rPr>
                <a:t>¿Quiénes son los personajes principales de la historia?</a:t>
              </a:r>
              <a:endParaRPr lang="es-MX" sz="1300" b="1" dirty="0">
                <a:latin typeface="Arial Black" panose="020B0A04020102020204" pitchFamily="34" charset="0"/>
              </a:endParaRPr>
            </a:p>
          </p:txBody>
        </p:sp>
        <p:sp>
          <p:nvSpPr>
            <p:cNvPr id="12" name="11 CuadroTexto"/>
            <p:cNvSpPr txBox="1"/>
            <p:nvPr/>
          </p:nvSpPr>
          <p:spPr>
            <a:xfrm rot="12897174">
              <a:off x="6900531" y="747157"/>
              <a:ext cx="123367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rPr>
                <a:t>¿</a:t>
              </a:r>
              <a:r>
                <a:rPr lang="es-MX" sz="1300" b="1" dirty="0">
                  <a:latin typeface="Arial Black" panose="020B0A04020102020204" pitchFamily="34" charset="0"/>
                </a:rPr>
                <a:t>Cuál es tu parte favorita?</a:t>
              </a:r>
              <a:endParaRPr lang="es-MX" sz="1300" b="1" dirty="0">
                <a:latin typeface="Arial Black" panose="020B0A04020102020204" pitchFamily="34" charset="0"/>
              </a:endParaRPr>
            </a:p>
          </p:txBody>
        </p:sp>
        <p:sp>
          <p:nvSpPr>
            <p:cNvPr id="13" name="12 CuadroTexto"/>
            <p:cNvSpPr txBox="1"/>
            <p:nvPr/>
          </p:nvSpPr>
          <p:spPr>
            <a:xfrm>
              <a:off x="6196523" y="2900628"/>
              <a:ext cx="1224992" cy="1092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300" b="1" dirty="0">
                  <a:latin typeface="Arial Black" panose="020B0A04020102020204" pitchFamily="34" charset="0"/>
                </a:rPr>
                <a:t>¿Cuál es la idea principal de la historia?</a:t>
              </a:r>
              <a:endParaRPr lang="es-MX" sz="1300" b="1" dirty="0">
                <a:latin typeface="Arial Black" panose="020B0A04020102020204" pitchFamily="34" charset="0"/>
              </a:endParaRPr>
            </a:p>
          </p:txBody>
        </p:sp>
        <p:sp>
          <p:nvSpPr>
            <p:cNvPr id="14" name="13 CuadroTexto"/>
            <p:cNvSpPr txBox="1"/>
            <p:nvPr/>
          </p:nvSpPr>
          <p:spPr>
            <a:xfrm rot="17864979">
              <a:off x="7256816" y="1951972"/>
              <a:ext cx="1233676" cy="1092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300" b="1" dirty="0">
                  <a:latin typeface="Arial Black" panose="020B0A04020102020204" pitchFamily="34" charset="0"/>
                </a:rPr>
                <a:t>¿Qué pasa en el desarrollo de la historia?</a:t>
              </a:r>
              <a:endParaRPr lang="es-MX" sz="1300" b="1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16" name="boton"/>
          <p:cNvGrpSpPr/>
          <p:nvPr/>
        </p:nvGrpSpPr>
        <p:grpSpPr>
          <a:xfrm>
            <a:off x="1847529" y="4293096"/>
            <a:ext cx="2328193" cy="2211460"/>
            <a:chOff x="323528" y="4293096"/>
            <a:chExt cx="2328193" cy="2211460"/>
          </a:xfrm>
        </p:grpSpPr>
        <p:pic>
          <p:nvPicPr>
            <p:cNvPr id="17" name="12" descr="El pequeño delfín que hacia II - Instant Sound Effect Button | Myinstants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4293096"/>
              <a:ext cx="2328193" cy="22114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boton en medio"/>
            <p:cNvSpPr txBox="1"/>
            <p:nvPr/>
          </p:nvSpPr>
          <p:spPr>
            <a:xfrm>
              <a:off x="839552" y="4561992"/>
              <a:ext cx="129614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400" dirty="0">
                  <a:solidFill>
                    <a:schemeClr val="bg1"/>
                  </a:solidFill>
                  <a:latin typeface="Rockwell Extra Bold" panose="02060903040505020403" pitchFamily="18" charset="0"/>
                </a:rPr>
                <a:t>Girar </a:t>
              </a:r>
            </a:p>
            <a:p>
              <a:pPr algn="ctr"/>
              <a:r>
                <a:rPr lang="es-MX" sz="2400" dirty="0">
                  <a:solidFill>
                    <a:schemeClr val="bg1"/>
                  </a:solidFill>
                  <a:latin typeface="Rockwell Extra Bold" panose="02060903040505020403" pitchFamily="18" charset="0"/>
                </a:rPr>
                <a:t>Y </a:t>
              </a:r>
            </a:p>
            <a:p>
              <a:pPr algn="ctr"/>
              <a:r>
                <a:rPr lang="es-MX" sz="2400" dirty="0">
                  <a:solidFill>
                    <a:schemeClr val="bg1"/>
                  </a:solidFill>
                  <a:latin typeface="Rockwell Extra Bold" panose="02060903040505020403" pitchFamily="18" charset="0"/>
                </a:rPr>
                <a:t>Parar</a:t>
              </a:r>
              <a:endParaRPr lang="es-MX" sz="2400" dirty="0">
                <a:solidFill>
                  <a:schemeClr val="bg1"/>
                </a:solidFill>
                <a:latin typeface="Rockwell Extra Bold" panose="02060903040505020403" pitchFamily="18" charset="0"/>
              </a:endParaRPr>
            </a:p>
          </p:txBody>
        </p:sp>
      </p:grpSp>
      <p:pic>
        <p:nvPicPr>
          <p:cNvPr id="19" name="18 Imagen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479425">
            <a:off x="4935899" y="2881347"/>
            <a:ext cx="1948589" cy="1131171"/>
          </a:xfrm>
          <a:prstGeom prst="rect">
            <a:avLst/>
          </a:prstGeom>
        </p:spPr>
      </p:pic>
      <p:sp>
        <p:nvSpPr>
          <p:cNvPr id="20" name="19 CuadroTexto"/>
          <p:cNvSpPr txBox="1"/>
          <p:nvPr/>
        </p:nvSpPr>
        <p:spPr>
          <a:xfrm>
            <a:off x="1751484" y="1218312"/>
            <a:ext cx="38164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3200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Gira y para la Ruleta. </a:t>
            </a:r>
          </a:p>
          <a:p>
            <a:pPr algn="just"/>
            <a:endParaRPr lang="es-MX" sz="32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  <a:p>
            <a:pPr algn="just"/>
            <a:r>
              <a:rPr lang="es-MX" sz="3200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Responde lo que se te pide.</a:t>
            </a:r>
            <a:r>
              <a:rPr lang="es-MX" sz="3200" dirty="0">
                <a:solidFill>
                  <a:schemeClr val="bg1"/>
                </a:solidFill>
                <a:latin typeface="Copperplate Gothic Bold" panose="020E0705020206020404" pitchFamily="34" charset="0"/>
                <a:sym typeface="Wingdings" panose="05000000000000000000" pitchFamily="2" charset="2"/>
              </a:rPr>
              <a:t> </a:t>
            </a:r>
            <a:endParaRPr lang="es-MX" sz="32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21" name="20 CuadroTexto"/>
          <p:cNvSpPr txBox="1"/>
          <p:nvPr/>
        </p:nvSpPr>
        <p:spPr>
          <a:xfrm>
            <a:off x="1082709" y="65196"/>
            <a:ext cx="698477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500" dirty="0">
                <a:solidFill>
                  <a:schemeClr val="bg1"/>
                </a:solidFill>
                <a:latin typeface="Cooper Black" panose="0208090404030B020404" pitchFamily="18" charset="0"/>
              </a:rPr>
              <a:t>Ruleta de lectura </a:t>
            </a:r>
            <a:endParaRPr lang="es-MX" sz="4500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pic>
        <p:nvPicPr>
          <p:cNvPr id="22" name="Música Bosque Mágico InstrumentalMúsica instrumental relajant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283227" y="4857356"/>
            <a:ext cx="609600" cy="609600"/>
          </a:xfrm>
          <a:prstGeom prst="rect">
            <a:avLst/>
          </a:prstGeom>
        </p:spPr>
      </p:pic>
      <p:pic>
        <p:nvPicPr>
          <p:cNvPr id="24" name="Picture 32" descr="▷ Gifs Animados de Estrellas - Gifs Animados"/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97396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696862">
            <a:off x="7795984" y="1638099"/>
            <a:ext cx="1010835" cy="98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30" descr="Nube Blanca. De Dibujos Animados Con La Cara Feliz Expresión. Ilustración  Vectorial Ilustraciones Vectoriales, Clip Art Vectorizado Libre De  Derechos. Image 62901988.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5521" b="85366" l="0" r="100000">
                        <a14:foregroundMark x1="53077" y1="44923" x2="53077" y2="44923"/>
                        <a14:foregroundMark x1="43692" y1="49846" x2="43692" y2="49846"/>
                        <a14:foregroundMark x1="39923" y1="53923" x2="39923" y2="53923"/>
                        <a14:foregroundMark x1="47077" y1="58462" x2="47077" y2="58462"/>
                        <a14:foregroundMark x1="30154" y1="52077" x2="30154" y2="52077"/>
                        <a14:foregroundMark x1="62462" y1="53615" x2="62462" y2="53615"/>
                        <a14:foregroundMark x1="70385" y1="64462" x2="70385" y2="64462"/>
                        <a14:foregroundMark x1="74538" y1="47538" x2="74538" y2="47538"/>
                        <a14:foregroundMark x1="69615" y1="34385" x2="69615" y2="34385"/>
                        <a14:foregroundMark x1="60615" y1="33615" x2="60615" y2="33615"/>
                        <a14:foregroundMark x1="50077" y1="39308" x2="50077" y2="39308"/>
                        <a14:foregroundMark x1="49308" y1="52846" x2="49308" y2="52846"/>
                        <a14:foregroundMark x1="48231" y1="59615" x2="48231" y2="59615"/>
                        <a14:foregroundMark x1="46308" y1="54308" x2="46308" y2="54308"/>
                        <a14:foregroundMark x1="45923" y1="54308" x2="45923" y2="54308"/>
                        <a14:foregroundMark x1="45154" y1="43769" x2="45154" y2="43769"/>
                        <a14:foregroundMark x1="44077" y1="40769" x2="44077" y2="40769"/>
                        <a14:foregroundMark x1="44846" y1="36231" x2="44846" y2="36231"/>
                        <a14:foregroundMark x1="50077" y1="32538" x2="50077" y2="32538"/>
                        <a14:foregroundMark x1="50077" y1="32538" x2="50077" y2="32538"/>
                        <a14:foregroundMark x1="54615" y1="31769" x2="54615" y2="31769"/>
                        <a14:foregroundMark x1="54231" y1="31385" x2="54231" y2="31385"/>
                        <a14:foregroundMark x1="47077" y1="31000" x2="47077" y2="31000"/>
                        <a14:foregroundMark x1="47077" y1="31000" x2="47077" y2="31000"/>
                        <a14:foregroundMark x1="47077" y1="31000" x2="47077" y2="31000"/>
                        <a14:foregroundMark x1="47462" y1="31000" x2="48538" y2="31000"/>
                        <a14:foregroundMark x1="48923" y1="31000" x2="50462" y2="31000"/>
                        <a14:foregroundMark x1="66231" y1="30231" x2="67769" y2="30231"/>
                        <a14:foregroundMark x1="67769" y1="30231" x2="67769" y2="30231"/>
                        <a14:foregroundMark x1="70769" y1="34000" x2="72308" y2="35538"/>
                        <a14:foregroundMark x1="72692" y1="35923" x2="74538" y2="37385"/>
                        <a14:foregroundMark x1="74923" y1="38154" x2="77538" y2="42308"/>
                        <a14:foregroundMark x1="79462" y1="49462" x2="80538" y2="51692"/>
                        <a14:foregroundMark x1="80538" y1="53615" x2="80923" y2="55462"/>
                        <a14:foregroundMark x1="80923" y1="55462" x2="80923" y2="55462"/>
                        <a14:foregroundMark x1="80923" y1="55462" x2="80923" y2="55462"/>
                        <a14:foregroundMark x1="78692" y1="58077" x2="77923" y2="60000"/>
                        <a14:foregroundMark x1="75308" y1="60692" x2="74538" y2="62231"/>
                        <a14:foregroundMark x1="72308" y1="64846" x2="71154" y2="70538"/>
                        <a14:foregroundMark x1="71154" y1="70923" x2="71154" y2="70923"/>
                        <a14:foregroundMark x1="59077" y1="66769" x2="59077" y2="66769"/>
                        <a14:foregroundMark x1="53846" y1="64846" x2="53846" y2="64846"/>
                        <a14:foregroundMark x1="50077" y1="64462" x2="50077" y2="64462"/>
                        <a14:foregroundMark x1="42923" y1="64077" x2="42923" y2="64077"/>
                        <a14:foregroundMark x1="40308" y1="60692" x2="40308" y2="60692"/>
                        <a14:foregroundMark x1="33154" y1="50154" x2="33154" y2="50154"/>
                        <a14:foregroundMark x1="38385" y1="41538" x2="38385" y2="41538"/>
                        <a14:foregroundMark x1="38385" y1="41538" x2="38385" y2="41538"/>
                        <a14:foregroundMark x1="33923" y1="41538" x2="33923" y2="41538"/>
                        <a14:foregroundMark x1="33923" y1="41538" x2="33923" y2="41538"/>
                        <a14:foregroundMark x1="33538" y1="41538" x2="35000" y2="44538"/>
                        <a14:foregroundMark x1="35000" y1="44538" x2="35000" y2="44538"/>
                        <a14:foregroundMark x1="35385" y1="44538" x2="39538" y2="47538"/>
                        <a14:foregroundMark x1="39538" y1="47538" x2="39538" y2="47538"/>
                        <a14:foregroundMark x1="39538" y1="47538" x2="39538" y2="47538"/>
                        <a14:foregroundMark x1="40308" y1="51308" x2="40308" y2="55077"/>
                        <a14:foregroundMark x1="40308" y1="55846" x2="40308" y2="55846"/>
                        <a14:foregroundMark x1="40308" y1="56231" x2="40692" y2="58462"/>
                        <a14:foregroundMark x1="41769" y1="60000" x2="42923" y2="61846"/>
                        <a14:foregroundMark x1="43692" y1="61846" x2="45923" y2="62615"/>
                        <a14:foregroundMark x1="45923" y1="62615" x2="45923" y2="62615"/>
                        <a14:foregroundMark x1="45923" y1="62615" x2="47077" y2="63000"/>
                        <a14:foregroundMark x1="52308" y1="63385" x2="55692" y2="64077"/>
                        <a14:foregroundMark x1="55692" y1="64077" x2="56846" y2="64077"/>
                        <a14:foregroundMark x1="56846" y1="64077" x2="56846" y2="64077"/>
                        <a14:foregroundMark x1="57615" y1="64077" x2="57615" y2="64077"/>
                        <a14:foregroundMark x1="58385" y1="64077" x2="58385" y2="64077"/>
                        <a14:foregroundMark x1="58385" y1="64077" x2="58385" y2="64077"/>
                        <a14:foregroundMark x1="67769" y1="53923" x2="67769" y2="53923"/>
                        <a14:foregroundMark x1="67769" y1="53923" x2="67769" y2="53923"/>
                        <a14:foregroundMark x1="69615" y1="49462" x2="69615" y2="49462"/>
                        <a14:foregroundMark x1="92615" y1="55077" x2="91077" y2="55077"/>
                        <a14:foregroundMark x1="85462" y1="54308" x2="85462" y2="54308"/>
                        <a14:foregroundMark x1="85462" y1="54308" x2="85462" y2="54308"/>
                        <a14:foregroundMark x1="85077" y1="52462" x2="85077" y2="52462"/>
                        <a14:foregroundMark x1="85077" y1="51692" x2="85077" y2="51692"/>
                        <a14:foregroundMark x1="85077" y1="51692" x2="85077" y2="51692"/>
                        <a14:foregroundMark x1="85077" y1="51308" x2="85077" y2="51308"/>
                        <a14:foregroundMark x1="60532" y1="44568" x2="60532" y2="44568"/>
                        <a14:foregroundMark x1="66962" y1="41020" x2="66962" y2="41020"/>
                        <a14:foregroundMark x1="67849" y1="68958" x2="67849" y2="68958"/>
                        <a14:foregroundMark x1="74279" y1="33703" x2="74279" y2="33703"/>
                        <a14:foregroundMark x1="58537" y1="35920" x2="58537" y2="35920"/>
                        <a14:foregroundMark x1="55654" y1="52328" x2="55654" y2="52328"/>
                        <a14:foregroundMark x1="55654" y1="52328" x2="55654" y2="52328"/>
                        <a14:foregroundMark x1="55654" y1="52328" x2="55654" y2="52328"/>
                        <a14:foregroundMark x1="55654" y1="52328" x2="55654" y2="52328"/>
                        <a14:foregroundMark x1="55654" y1="52328" x2="55654" y2="52328"/>
                        <a14:foregroundMark x1="65632" y1="60310" x2="65632" y2="603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365" y="5162156"/>
            <a:ext cx="1875086" cy="187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Verano 2017 ¡¡ MINIONS !! | Gifmaniacos.es | Cosas de minion, Frases  graciosas de amistad, Minions"/>
          <p:cNvPicPr>
            <a:picLocks noChangeAspect="1" noChangeArrowheads="1" noCrop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6632" y="4055863"/>
            <a:ext cx="304800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0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ondo Jardin De Nin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8" y="96637"/>
            <a:ext cx="12115312" cy="6761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upo 15"/>
          <p:cNvGrpSpPr/>
          <p:nvPr/>
        </p:nvGrpSpPr>
        <p:grpSpPr>
          <a:xfrm>
            <a:off x="2225043" y="708181"/>
            <a:ext cx="9065296" cy="6272770"/>
            <a:chOff x="2128946" y="141499"/>
            <a:chExt cx="9065296" cy="6272770"/>
          </a:xfrm>
        </p:grpSpPr>
        <p:graphicFrame>
          <p:nvGraphicFramePr>
            <p:cNvPr id="7" name="Gráfico 6"/>
            <p:cNvGraphicFramePr/>
            <p:nvPr>
              <p:extLst>
                <p:ext uri="{D42A27DB-BD31-4B8C-83A1-F6EECF244321}">
                  <p14:modId xmlns:p14="http://schemas.microsoft.com/office/powerpoint/2010/main" val="3965286969"/>
                </p:ext>
              </p:extLst>
            </p:nvPr>
          </p:nvGraphicFramePr>
          <p:xfrm>
            <a:off x="2128946" y="141499"/>
            <a:ext cx="9065296" cy="627277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9" name="CuadroTexto 8"/>
            <p:cNvSpPr txBox="1"/>
            <p:nvPr/>
          </p:nvSpPr>
          <p:spPr>
            <a:xfrm>
              <a:off x="7090117" y="1597426"/>
              <a:ext cx="27890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dirty="0" smtClean="0">
                  <a:latin typeface="Arial Black" panose="020B0A04020102020204" pitchFamily="34" charset="0"/>
                </a:rPr>
                <a:t>ANFIBIOS</a:t>
              </a:r>
              <a:endParaRPr lang="es-ES" sz="2400" dirty="0">
                <a:latin typeface="Arial Black" panose="020B0A04020102020204" pitchFamily="34" charset="0"/>
              </a:endParaRPr>
            </a:p>
          </p:txBody>
        </p:sp>
        <p:sp>
          <p:nvSpPr>
            <p:cNvPr id="10" name="CuadroTexto 9"/>
            <p:cNvSpPr txBox="1"/>
            <p:nvPr/>
          </p:nvSpPr>
          <p:spPr>
            <a:xfrm>
              <a:off x="6021684" y="4464601"/>
              <a:ext cx="14671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dirty="0" smtClean="0">
                  <a:latin typeface="Arial Black" panose="020B0A04020102020204" pitchFamily="34" charset="0"/>
                </a:rPr>
                <a:t>PECES</a:t>
              </a:r>
              <a:endParaRPr lang="es-ES" sz="2400" dirty="0">
                <a:latin typeface="Arial Black" panose="020B0A04020102020204" pitchFamily="34" charset="0"/>
              </a:endParaRPr>
            </a:p>
          </p:txBody>
        </p:sp>
        <p:sp>
          <p:nvSpPr>
            <p:cNvPr id="11" name="CuadroTexto 10"/>
            <p:cNvSpPr txBox="1"/>
            <p:nvPr/>
          </p:nvSpPr>
          <p:spPr>
            <a:xfrm>
              <a:off x="7439207" y="3440265"/>
              <a:ext cx="18890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dirty="0" smtClean="0">
                  <a:latin typeface="Arial Black" panose="020B0A04020102020204" pitchFamily="34" charset="0"/>
                </a:rPr>
                <a:t>REPTILES</a:t>
              </a:r>
              <a:endParaRPr lang="es-ES" sz="2400" dirty="0">
                <a:latin typeface="Arial Black" panose="020B0A04020102020204" pitchFamily="34" charset="0"/>
              </a:endParaRPr>
            </a:p>
          </p:txBody>
        </p:sp>
        <p:sp>
          <p:nvSpPr>
            <p:cNvPr id="12" name="CuadroTexto 11"/>
            <p:cNvSpPr txBox="1"/>
            <p:nvPr/>
          </p:nvSpPr>
          <p:spPr>
            <a:xfrm>
              <a:off x="4391263" y="1597427"/>
              <a:ext cx="23640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dirty="0" smtClean="0">
                  <a:latin typeface="Arial Black" panose="020B0A04020102020204" pitchFamily="34" charset="0"/>
                </a:rPr>
                <a:t>MAMÍFEROS</a:t>
              </a:r>
              <a:endParaRPr lang="es-ES" sz="2400" dirty="0">
                <a:latin typeface="Arial Black" panose="020B0A04020102020204" pitchFamily="34" charset="0"/>
              </a:endParaRPr>
            </a:p>
          </p:txBody>
        </p:sp>
        <p:sp>
          <p:nvSpPr>
            <p:cNvPr id="13" name="CuadroTexto 12"/>
            <p:cNvSpPr txBox="1"/>
            <p:nvPr/>
          </p:nvSpPr>
          <p:spPr>
            <a:xfrm>
              <a:off x="4400252" y="3440266"/>
              <a:ext cx="11730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dirty="0" smtClean="0">
                  <a:latin typeface="Arial Black" panose="020B0A04020102020204" pitchFamily="34" charset="0"/>
                </a:rPr>
                <a:t>AVES</a:t>
              </a:r>
              <a:endParaRPr lang="es-ES" sz="2400" dirty="0">
                <a:latin typeface="Arial Black" panose="020B0A04020102020204" pitchFamily="34" charset="0"/>
              </a:endParaRPr>
            </a:p>
          </p:txBody>
        </p:sp>
      </p:grpSp>
      <p:sp>
        <p:nvSpPr>
          <p:cNvPr id="14" name="Flecha derecha 13"/>
          <p:cNvSpPr/>
          <p:nvPr/>
        </p:nvSpPr>
        <p:spPr>
          <a:xfrm>
            <a:off x="1758462" y="3147388"/>
            <a:ext cx="1772529" cy="859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Elipse 14"/>
          <p:cNvSpPr/>
          <p:nvPr/>
        </p:nvSpPr>
        <p:spPr>
          <a:xfrm>
            <a:off x="2423703" y="4145854"/>
            <a:ext cx="1226237" cy="1116261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GIRAR</a:t>
            </a:r>
          </a:p>
          <a:p>
            <a:pPr algn="ctr"/>
            <a:r>
              <a:rPr lang="es-E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PARAR</a:t>
            </a:r>
            <a:endParaRPr lang="es-E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08097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Gifs colección | Best background images, Anime pixel art, Animation  background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52" y="35528"/>
            <a:ext cx="11910315" cy="6822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Trapecio"/>
          <p:cNvSpPr/>
          <p:nvPr/>
        </p:nvSpPr>
        <p:spPr>
          <a:xfrm>
            <a:off x="7410764" y="3861048"/>
            <a:ext cx="1944216" cy="2448303"/>
          </a:xfrm>
          <a:prstGeom prst="trapezoi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rgbClr val="FFFFCC"/>
              </a:solidFill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6499971" y="6247539"/>
            <a:ext cx="3744416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2" name="Boton"/>
          <p:cNvGrpSpPr/>
          <p:nvPr/>
        </p:nvGrpSpPr>
        <p:grpSpPr>
          <a:xfrm>
            <a:off x="1402388" y="3428969"/>
            <a:ext cx="3850138" cy="3850138"/>
            <a:chOff x="-121612" y="3428969"/>
            <a:chExt cx="3850138" cy="3850138"/>
          </a:xfrm>
        </p:grpSpPr>
        <p:pic>
          <p:nvPicPr>
            <p:cNvPr id="1032" name="Picture 8" descr="Computación En La Nube Kawaii Carácter Ilustración Vectorial Diseño  Ilustraciones Vectoriales, Clip Art Vectorizado Libre De Derechos. Image  82984599.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21612" y="3428969"/>
              <a:ext cx="3850138" cy="38501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10 CuadroTexto"/>
            <p:cNvSpPr txBox="1"/>
            <p:nvPr/>
          </p:nvSpPr>
          <p:spPr>
            <a:xfrm>
              <a:off x="1003729" y="4493316"/>
              <a:ext cx="159945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400" dirty="0">
                  <a:solidFill>
                    <a:srgbClr val="FF0000"/>
                  </a:solidFill>
                  <a:latin typeface="Arial Black" panose="020B0A04020102020204" pitchFamily="34" charset="0"/>
                </a:rPr>
                <a:t>Girar </a:t>
              </a:r>
            </a:p>
            <a:p>
              <a:pPr algn="ctr"/>
              <a:r>
                <a:rPr lang="es-MX" sz="2400" dirty="0">
                  <a:solidFill>
                    <a:srgbClr val="FF0000"/>
                  </a:solidFill>
                  <a:latin typeface="Arial Black" panose="020B0A04020102020204" pitchFamily="34" charset="0"/>
                </a:rPr>
                <a:t>Y</a:t>
              </a:r>
            </a:p>
            <a:p>
              <a:pPr algn="ctr"/>
              <a:r>
                <a:rPr lang="es-MX" sz="2400" dirty="0">
                  <a:solidFill>
                    <a:srgbClr val="FF0000"/>
                  </a:solidFill>
                  <a:latin typeface="Arial Black" panose="020B0A04020102020204" pitchFamily="34" charset="0"/>
                </a:rPr>
                <a:t>Parar</a:t>
              </a:r>
              <a:endParaRPr lang="es-MX" sz="2400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15" name="14 CuadroTexto"/>
          <p:cNvSpPr txBox="1"/>
          <p:nvPr/>
        </p:nvSpPr>
        <p:spPr>
          <a:xfrm>
            <a:off x="2788581" y="1223159"/>
            <a:ext cx="3528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latin typeface="Arial Black" panose="020B0A04020102020204" pitchFamily="34" charset="0"/>
              </a:rPr>
              <a:t>RULETA DE RETOS MATEMÁTICOS </a:t>
            </a:r>
            <a:endParaRPr lang="es-MX" sz="2000" dirty="0">
              <a:latin typeface="Arial Black" panose="020B0A04020102020204" pitchFamily="34" charset="0"/>
            </a:endParaRPr>
          </a:p>
        </p:txBody>
      </p:sp>
      <p:sp>
        <p:nvSpPr>
          <p:cNvPr id="16" name="15 CuadroTexto"/>
          <p:cNvSpPr txBox="1"/>
          <p:nvPr/>
        </p:nvSpPr>
        <p:spPr>
          <a:xfrm>
            <a:off x="853992" y="2529172"/>
            <a:ext cx="42137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latin typeface="Arial Black" panose="020B0A04020102020204" pitchFamily="34" charset="0"/>
              </a:rPr>
              <a:t>Gira y  para la ruleta , da clic en cada reto y responde </a:t>
            </a:r>
            <a:r>
              <a:rPr lang="es-MX" sz="2400" dirty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</a:p>
        </p:txBody>
      </p:sp>
      <p:grpSp>
        <p:nvGrpSpPr>
          <p:cNvPr id="18" name="17 Grupo"/>
          <p:cNvGrpSpPr/>
          <p:nvPr/>
        </p:nvGrpSpPr>
        <p:grpSpPr>
          <a:xfrm>
            <a:off x="5335667" y="35528"/>
            <a:ext cx="6094413" cy="4060825"/>
            <a:chOff x="3811666" y="35527"/>
            <a:chExt cx="6094413" cy="4060825"/>
          </a:xfrm>
        </p:grpSpPr>
        <p:grpSp>
          <p:nvGrpSpPr>
            <p:cNvPr id="14" name="13 Grupo"/>
            <p:cNvGrpSpPr/>
            <p:nvPr/>
          </p:nvGrpSpPr>
          <p:grpSpPr>
            <a:xfrm>
              <a:off x="3811666" y="35527"/>
              <a:ext cx="6094413" cy="4060825"/>
              <a:chOff x="3811666" y="35527"/>
              <a:chExt cx="6094413" cy="4060825"/>
            </a:xfrm>
          </p:grpSpPr>
          <p:pic>
            <p:nvPicPr>
              <p:cNvPr id="1028" name="Picture 4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11666" y="35527"/>
                <a:ext cx="6094413" cy="40608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3" name="12 CuadroTexto">
                <a:hlinkClick r:id="rId6" action="ppaction://hlinksldjump"/>
              </p:cNvPr>
              <p:cNvSpPr txBox="1"/>
              <p:nvPr/>
            </p:nvSpPr>
            <p:spPr>
              <a:xfrm rot="4520574">
                <a:off x="5148064" y="1820109"/>
                <a:ext cx="975873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2000" dirty="0">
                    <a:latin typeface="Arial Black" panose="020B0A04020102020204" pitchFamily="34" charset="0"/>
                  </a:rPr>
                  <a:t>RETO 1</a:t>
                </a:r>
              </a:p>
              <a:p>
                <a:endParaRPr lang="es-MX" dirty="0"/>
              </a:p>
            </p:txBody>
          </p:sp>
          <p:sp>
            <p:nvSpPr>
              <p:cNvPr id="19" name="18 CuadroTexto">
                <a:hlinkClick r:id="rId7" action="ppaction://hlinksldjump"/>
              </p:cNvPr>
              <p:cNvSpPr txBox="1"/>
              <p:nvPr/>
            </p:nvSpPr>
            <p:spPr>
              <a:xfrm rot="21413228">
                <a:off x="6347827" y="2666181"/>
                <a:ext cx="975873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2000" dirty="0">
                    <a:latin typeface="Arial Black" panose="020B0A04020102020204" pitchFamily="34" charset="0"/>
                  </a:rPr>
                  <a:t>RETO 2</a:t>
                </a:r>
              </a:p>
              <a:p>
                <a:endParaRPr lang="es-MX" dirty="0"/>
              </a:p>
            </p:txBody>
          </p:sp>
          <p:sp>
            <p:nvSpPr>
              <p:cNvPr id="20" name="19 CuadroTexto">
                <a:hlinkClick r:id="rId8" action="ppaction://hlinksldjump"/>
              </p:cNvPr>
              <p:cNvSpPr txBox="1"/>
              <p:nvPr/>
            </p:nvSpPr>
            <p:spPr>
              <a:xfrm rot="18685664">
                <a:off x="7487251" y="1885799"/>
                <a:ext cx="975873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2000" dirty="0">
                    <a:latin typeface="Arial Black" panose="020B0A04020102020204" pitchFamily="34" charset="0"/>
                  </a:rPr>
                  <a:t>RETO 3</a:t>
                </a:r>
              </a:p>
              <a:p>
                <a:endParaRPr lang="es-MX" dirty="0"/>
              </a:p>
            </p:txBody>
          </p:sp>
          <p:sp>
            <p:nvSpPr>
              <p:cNvPr id="21" name="20 CuadroTexto">
                <a:hlinkClick r:id="rId9" action="ppaction://hlinksldjump"/>
              </p:cNvPr>
              <p:cNvSpPr txBox="1"/>
              <p:nvPr/>
            </p:nvSpPr>
            <p:spPr>
              <a:xfrm rot="13157093">
                <a:off x="6970817" y="626784"/>
                <a:ext cx="975873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2000" dirty="0">
                    <a:latin typeface="Arial Black" panose="020B0A04020102020204" pitchFamily="34" charset="0"/>
                  </a:rPr>
                  <a:t>RETO </a:t>
                </a:r>
                <a:r>
                  <a:rPr lang="es-MX" sz="2000" dirty="0">
                    <a:latin typeface="Arial Black" panose="020B0A04020102020204" pitchFamily="34" charset="0"/>
                  </a:rPr>
                  <a:t>4</a:t>
                </a:r>
                <a:endParaRPr lang="es-MX" sz="2000" dirty="0">
                  <a:latin typeface="Arial Black" panose="020B0A04020102020204" pitchFamily="34" charset="0"/>
                </a:endParaRPr>
              </a:p>
              <a:p>
                <a:endParaRPr lang="es-MX" dirty="0"/>
              </a:p>
            </p:txBody>
          </p:sp>
          <p:sp>
            <p:nvSpPr>
              <p:cNvPr id="22" name="21 CuadroTexto">
                <a:hlinkClick r:id="rId10" action="ppaction://hlinksldjump"/>
              </p:cNvPr>
              <p:cNvSpPr txBox="1"/>
              <p:nvPr/>
            </p:nvSpPr>
            <p:spPr>
              <a:xfrm rot="8854682">
                <a:off x="5430395" y="439883"/>
                <a:ext cx="1262881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2000" dirty="0">
                    <a:latin typeface="Arial Black" panose="020B0A04020102020204" pitchFamily="34" charset="0"/>
                  </a:rPr>
                  <a:t>RETO</a:t>
                </a:r>
              </a:p>
              <a:p>
                <a:pPr algn="ctr"/>
                <a:r>
                  <a:rPr lang="es-MX" sz="2000" dirty="0">
                    <a:latin typeface="Arial Black" panose="020B0A04020102020204" pitchFamily="34" charset="0"/>
                  </a:rPr>
                  <a:t>5</a:t>
                </a:r>
                <a:endParaRPr lang="es-MX" sz="2000" dirty="0">
                  <a:latin typeface="Arial Black" panose="020B0A04020102020204" pitchFamily="34" charset="0"/>
                </a:endParaRPr>
              </a:p>
              <a:p>
                <a:endParaRPr lang="es-MX" dirty="0"/>
              </a:p>
            </p:txBody>
          </p:sp>
        </p:grpSp>
        <p:pic>
          <p:nvPicPr>
            <p:cNvPr id="1030" name="Picture 6" descr="Estrella | Nintendo Wiki | Fandom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1835" y="1330894"/>
              <a:ext cx="1506358" cy="15063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4" name="Picture 10" descr="Historieta Del Dibujo A Pulso Que Señala La Flecha Stock de ilustración -  Ilustración de pulso, dibujo: 109253271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504" b="90000" l="0" r="9992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577941">
            <a:off x="5364721" y="2092161"/>
            <a:ext cx="1053321" cy="2265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LENGUAJE CORPORAL DEL ANIMADOR - RECREACIÓN Y ANIMACIÓN 2018"/>
          <p:cNvPicPr>
            <a:picLocks noChangeAspect="1" noChangeArrowheads="1" noCrop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499" y="3426224"/>
            <a:ext cx="2975647" cy="3124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3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150 ideas de Gif en 2021 | gif, caras sonrientes animadas, gracias 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16" y="128788"/>
            <a:ext cx="12062183" cy="6729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2465146" y="1383996"/>
            <a:ext cx="79208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latin typeface="Arial Black" panose="020B0A04020102020204" pitchFamily="34" charset="0"/>
              </a:rPr>
              <a:t>OBSERVA LAS OPERACIONES Y AVERIGUA EL VALOR DE LOS OBJETOS </a:t>
            </a:r>
            <a:endParaRPr lang="es-MX" sz="2000" dirty="0">
              <a:latin typeface="Arial Black" panose="020B0A04020102020204" pitchFamily="34" charset="0"/>
            </a:endParaRPr>
          </a:p>
        </p:txBody>
      </p:sp>
      <p:pic>
        <p:nvPicPr>
          <p:cNvPr id="6148" name="Picture 4" descr="RETOS MATEMATICOS SENCILLOS PARA LOS MAS PEQUES (1) - Orientación Andújar -  Recursos Educativ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546" y="2317488"/>
            <a:ext cx="5448079" cy="377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trella de 5 puntas 2">
            <a:hlinkClick r:id="rId4" action="ppaction://hlinksldjump"/>
          </p:cNvPr>
          <p:cNvSpPr/>
          <p:nvPr/>
        </p:nvSpPr>
        <p:spPr>
          <a:xfrm>
            <a:off x="223267" y="4365938"/>
            <a:ext cx="1657048" cy="1300766"/>
          </a:xfrm>
          <a:prstGeom prst="star5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 smtClean="0"/>
              <a:t>Regresar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19686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laudia Villanueva (claudiav3775) - Perfil | Pinterest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68" y="141668"/>
            <a:ext cx="11667231" cy="7083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2585752" y="1066753"/>
            <a:ext cx="7416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dirty="0">
                <a:latin typeface="Arial Black" panose="020B0A04020102020204" pitchFamily="34" charset="0"/>
              </a:rPr>
              <a:t>OBSERVA LAS OPERACIONES Y AVERIGUA EL VALOR DE LOS OBJETOS </a:t>
            </a:r>
            <a:endParaRPr lang="es-MX" dirty="0">
              <a:latin typeface="Arial Black" panose="020B0A04020102020204" pitchFamily="34" charset="0"/>
            </a:endParaRPr>
          </a:p>
        </p:txBody>
      </p:sp>
      <p:pic>
        <p:nvPicPr>
          <p:cNvPr id="5122" name="Picture 2" descr="RETOS MATEMÁTICOS SENCILLOS PARA LOS MAS PEQUES -Orientacion Anduja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369" y="2358200"/>
            <a:ext cx="5441590" cy="376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trella de 5 puntas 6">
            <a:hlinkClick r:id="rId4" action="ppaction://hlinksldjump"/>
          </p:cNvPr>
          <p:cNvSpPr/>
          <p:nvPr/>
        </p:nvSpPr>
        <p:spPr>
          <a:xfrm>
            <a:off x="1317972" y="4240990"/>
            <a:ext cx="1657048" cy="1300766"/>
          </a:xfrm>
          <a:prstGeom prst="star5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 smtClean="0"/>
              <a:t>Regresar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23349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Dibujos con Castillos animados.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68" y="148720"/>
            <a:ext cx="11972031" cy="6548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2593525" y="693015"/>
            <a:ext cx="72728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dirty="0">
                <a:latin typeface="Arial Black" panose="020B0A04020102020204" pitchFamily="34" charset="0"/>
              </a:rPr>
              <a:t>OBSERVA LAS OPERACIONES Y AVERIGUA EL VALOR DE LOS OBJETOS </a:t>
            </a:r>
            <a:endParaRPr lang="es-MX" dirty="0">
              <a:latin typeface="Arial Black" panose="020B0A04020102020204" pitchFamily="34" charset="0"/>
            </a:endParaRPr>
          </a:p>
        </p:txBody>
      </p:sp>
      <p:pic>
        <p:nvPicPr>
          <p:cNvPr id="4098" name="Picture 2" descr="RETOS MATEMÁTICOS SENCILLOS PARA LOS MAS PEQUES -Orientacion Anduja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125" y="1617448"/>
            <a:ext cx="5235608" cy="3623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trella de 5 puntas 6">
            <a:hlinkClick r:id="rId4" action="ppaction://hlinksldjump"/>
          </p:cNvPr>
          <p:cNvSpPr/>
          <p:nvPr/>
        </p:nvSpPr>
        <p:spPr>
          <a:xfrm>
            <a:off x="1765001" y="4378817"/>
            <a:ext cx="1657048" cy="1300766"/>
          </a:xfrm>
          <a:prstGeom prst="star5">
            <a:avLst/>
          </a:prstGeom>
          <a:solidFill>
            <a:srgbClr val="E33DD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 smtClean="0"/>
              <a:t>Regresar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14364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Kawaii Background Milk - Novocom.top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96" y="89438"/>
            <a:ext cx="12049304" cy="6768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RETOS MATEMATICOS SENCILLOS PARA LOS MAS PEQUES (3) - Orientación Andújar -  Recursos Educativ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9267" y="1548141"/>
            <a:ext cx="5433504" cy="3761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768405" y="718773"/>
            <a:ext cx="72728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dirty="0">
                <a:latin typeface="Arial Black" panose="020B0A04020102020204" pitchFamily="34" charset="0"/>
              </a:rPr>
              <a:t>OBSERVA LAS OPERACIONES Y AVERIGUA EL VALOR DE LOS OBJETOS </a:t>
            </a:r>
            <a:endParaRPr lang="es-MX" dirty="0">
              <a:latin typeface="Arial Black" panose="020B0A04020102020204" pitchFamily="34" charset="0"/>
            </a:endParaRPr>
          </a:p>
        </p:txBody>
      </p:sp>
      <p:sp>
        <p:nvSpPr>
          <p:cNvPr id="7" name="Estrella de 5 puntas 6">
            <a:hlinkClick r:id="rId4" action="ppaction://hlinksldjump"/>
          </p:cNvPr>
          <p:cNvSpPr/>
          <p:nvPr/>
        </p:nvSpPr>
        <p:spPr>
          <a:xfrm>
            <a:off x="1472518" y="4752304"/>
            <a:ext cx="1657048" cy="130076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 smtClean="0"/>
              <a:t>Regresar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4218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ack 003 : paysages - ...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32" y="50800"/>
            <a:ext cx="12010667" cy="680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2639615" y="680136"/>
            <a:ext cx="72728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dirty="0">
                <a:latin typeface="Arial Black" panose="020B0A04020102020204" pitchFamily="34" charset="0"/>
              </a:rPr>
              <a:t>OBSERVA LAS OPERACIONES Y AVERIGUA EL VALOR DE LOS OBJETOS </a:t>
            </a:r>
            <a:endParaRPr lang="es-MX" dirty="0">
              <a:latin typeface="Arial Black" panose="020B0A04020102020204" pitchFamily="34" charset="0"/>
            </a:endParaRPr>
          </a:p>
        </p:txBody>
      </p:sp>
      <p:pic>
        <p:nvPicPr>
          <p:cNvPr id="2050" name="Picture 2" descr="RETOS MATEMATICOS SENCILLOS PARA LOS MAS PEQUES - Orientación Andújar -  Recursos Educativ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3977" y="1700809"/>
            <a:ext cx="5504085" cy="381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trella de 5 puntas 6">
            <a:hlinkClick r:id="rId4" action="ppaction://hlinksldjump"/>
          </p:cNvPr>
          <p:cNvSpPr/>
          <p:nvPr/>
        </p:nvSpPr>
        <p:spPr>
          <a:xfrm>
            <a:off x="1446760" y="4675031"/>
            <a:ext cx="1657048" cy="1300766"/>
          </a:xfrm>
          <a:prstGeom prst="star5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 smtClean="0"/>
              <a:t>Regresar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34115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158</Words>
  <Application>Microsoft Office PowerPoint</Application>
  <PresentationFormat>Panorámica</PresentationFormat>
  <Paragraphs>40</Paragraphs>
  <Slides>8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Comic Sans MS</vt:lpstr>
      <vt:lpstr>Cooper Black</vt:lpstr>
      <vt:lpstr>Copperplate Gothic Bold</vt:lpstr>
      <vt:lpstr>Rockwell Extra Bold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Alexandrita ferrin</dc:creator>
  <cp:lastModifiedBy>Alexandrita ferrin</cp:lastModifiedBy>
  <cp:revision>11</cp:revision>
  <dcterms:created xsi:type="dcterms:W3CDTF">2020-07-12T22:09:51Z</dcterms:created>
  <dcterms:modified xsi:type="dcterms:W3CDTF">2021-04-15T16:03:35Z</dcterms:modified>
</cp:coreProperties>
</file>